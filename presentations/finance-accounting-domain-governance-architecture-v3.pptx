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98" r:id="rId2"/>
    <p:sldId id="266" r:id="rId3"/>
    <p:sldId id="268" r:id="rId4"/>
    <p:sldId id="271" r:id="rId5"/>
    <p:sldId id="262" r:id="rId6"/>
    <p:sldId id="275" r:id="rId7"/>
    <p:sldId id="276" r:id="rId8"/>
    <p:sldId id="277" r:id="rId9"/>
    <p:sldId id="279" r:id="rId10"/>
    <p:sldId id="281" r:id="rId11"/>
    <p:sldId id="283" r:id="rId12"/>
    <p:sldId id="288" r:id="rId13"/>
    <p:sldId id="289" r:id="rId14"/>
    <p:sldId id="290" r:id="rId15"/>
    <p:sldId id="291" r:id="rId16"/>
    <p:sldId id="293" r:id="rId17"/>
    <p:sldId id="295" r:id="rId18"/>
    <p:sldId id="299" r:id="rId19"/>
  </p:sldIdLst>
  <p:sldSz cx="10693400" cy="7556500"/>
  <p:notesSz cx="6858000" cy="9144000"/>
  <p:embeddedFontLst>
    <p:embeddedFont>
      <p:font typeface="Helvetica World" panose="020B0604020202020204" charset="-128"/>
      <p:regular r:id="rId20"/>
    </p:embeddedFont>
    <p:embeddedFont>
      <p:font typeface="Helvetica World Bold" panose="020B0604020202020204" charset="-12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5" d="100"/>
          <a:sy n="95" d="100"/>
        </p:scale>
        <p:origin x="102" y="1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F469E6-91A2-45B8-98E3-14B33050DF30}"/>
              </a:ext>
            </a:extLst>
          </p:cNvPr>
          <p:cNvSpPr/>
          <p:nvPr/>
        </p:nvSpPr>
        <p:spPr>
          <a:xfrm>
            <a:off x="457200" y="457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0F8959-125B-4B65-8461-5E31B9170B0F}"/>
              </a:ext>
            </a:extLst>
          </p:cNvPr>
          <p:cNvSpPr txBox="1"/>
          <p:nvPr/>
        </p:nvSpPr>
        <p:spPr>
          <a:xfrm>
            <a:off x="457200" y="635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REFERENCE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5FD153-BA92-47E5-9AD8-608D9C997579}"/>
              </a:ext>
            </a:extLst>
          </p:cNvPr>
          <p:cNvSpPr txBox="1"/>
          <p:nvPr/>
        </p:nvSpPr>
        <p:spPr>
          <a:xfrm>
            <a:off x="457200" y="2286000"/>
            <a:ext cx="9779000" cy="825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lang="en-US" sz="5400" dirty="0">
                <a:solidFill>
                  <a:srgbClr val="FFFFFF"/>
                </a:solidFill>
                <a:latin typeface="Helvetica World"/>
              </a:rPr>
              <a:t>Finance &amp; Accounting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7F3757-4751-4A0F-86C8-29C5259C1986}"/>
              </a:ext>
            </a:extLst>
          </p:cNvPr>
          <p:cNvSpPr txBox="1"/>
          <p:nvPr/>
        </p:nvSpPr>
        <p:spPr>
          <a:xfrm>
            <a:off x="457200" y="3048000"/>
            <a:ext cx="9779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6000"/>
              </a:lnSpc>
            </a:pPr>
            <a:r>
              <a:rPr lang="en-US" sz="5400" dirty="0">
                <a:solidFill>
                  <a:srgbClr val="FFC700"/>
                </a:solidFill>
                <a:latin typeface="Helvetica World"/>
              </a:rPr>
              <a:t>Domain Governance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B7E26-8BE8-46E5-8C44-24870C69CA78}"/>
              </a:ext>
            </a:extLst>
          </p:cNvPr>
          <p:cNvSpPr txBox="1"/>
          <p:nvPr/>
        </p:nvSpPr>
        <p:spPr>
          <a:xfrm>
            <a:off x="457200" y="5080000"/>
            <a:ext cx="889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1800" dirty="0">
                <a:solidFill>
                  <a:srgbClr val="FFFFFF"/>
                </a:solidFill>
                <a:latin typeface="Helvetica World"/>
              </a:rPr>
              <a:t>A reusable governance model for operations, analytics, AI augmentation, and bounded agents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E48624-4951-4A06-B902-39DFCDD73484}"/>
              </a:ext>
            </a:extLst>
          </p:cNvPr>
          <p:cNvSpPr txBox="1"/>
          <p:nvPr/>
        </p:nvSpPr>
        <p:spPr>
          <a:xfrm>
            <a:off x="457200" y="6858000"/>
            <a:ext cx="635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dirty="0">
                <a:solidFill>
                  <a:srgbClr val="FFC700"/>
                </a:solidFill>
                <a:latin typeface="Helvetica World"/>
              </a:rPr>
              <a:t>Version 1.0 Draft  |  Finance &amp; Accounting Team</a:t>
            </a:r>
          </a:p>
        </p:txBody>
      </p:sp>
    </p:spTree>
    <p:extLst>
      <p:ext uri="{BB962C8B-B14F-4D97-AF65-F5344CB8AC3E}">
        <p14:creationId xmlns:p14="http://schemas.microsoft.com/office/powerpoint/2010/main" val="2013750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9EE30F-FECC-44BD-BBA4-30EE76839F10}"/>
              </a:ext>
            </a:extLst>
          </p:cNvPr>
          <p:cNvSpPr txBox="1"/>
          <p:nvPr/>
        </p:nvSpPr>
        <p:spPr>
          <a:xfrm>
            <a:off x="457200" y="762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THE CORE PRINCIPLE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CB433F-2B8D-4DD1-A188-8296D6C83777}"/>
              </a:ext>
            </a:extLst>
          </p:cNvPr>
          <p:cNvSpPr/>
          <p:nvPr/>
        </p:nvSpPr>
        <p:spPr>
          <a:xfrm>
            <a:off x="457200" y="11430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ED852E-74B9-49C5-AD3C-4A3DE9521179}"/>
              </a:ext>
            </a:extLst>
          </p:cNvPr>
          <p:cNvSpPr txBox="1"/>
          <p:nvPr/>
        </p:nvSpPr>
        <p:spPr>
          <a:xfrm>
            <a:off x="457200" y="1905000"/>
            <a:ext cx="9779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4400"/>
              </a:lnSpc>
            </a:pPr>
            <a:r>
              <a:rPr lang="en-US" sz="3600" dirty="0">
                <a:solidFill>
                  <a:srgbClr val="FFFFFF"/>
                </a:solidFill>
                <a:latin typeface="Helvetica World"/>
              </a:rPr>
              <a:t>AI and agents inherit constraints from </a:t>
            </a:r>
            <a:r>
              <a:rPr lang="en-US" sz="3600" dirty="0">
                <a:solidFill>
                  <a:srgbClr val="FFC700"/>
                </a:solidFill>
                <a:latin typeface="Helvetica World"/>
              </a:rPr>
              <a:t>governed operations</a:t>
            </a:r>
            <a:r>
              <a:rPr lang="en-US" sz="3600" dirty="0">
                <a:solidFill>
                  <a:srgbClr val="FFFFFF"/>
                </a:solidFill>
                <a:latin typeface="Helvetica World"/>
              </a:rPr>
              <a:t> and </a:t>
            </a:r>
            <a:r>
              <a:rPr lang="en-US" sz="3600" dirty="0">
                <a:solidFill>
                  <a:srgbClr val="FFC700"/>
                </a:solidFill>
                <a:latin typeface="Helvetica World"/>
              </a:rPr>
              <a:t>governed analytics</a:t>
            </a:r>
            <a:r>
              <a:rPr lang="en-US" sz="3600" dirty="0">
                <a:solidFill>
                  <a:srgbClr val="FFFFFF"/>
                </a:solidFill>
                <a:latin typeface="Helvetica World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EC9B60-A360-469D-B204-16B9E18DE169}"/>
              </a:ext>
            </a:extLst>
          </p:cNvPr>
          <p:cNvSpPr txBox="1"/>
          <p:nvPr/>
        </p:nvSpPr>
        <p:spPr>
          <a:xfrm>
            <a:off x="457200" y="4572000"/>
            <a:ext cx="977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200"/>
              </a:lnSpc>
            </a:pPr>
            <a:r>
              <a:rPr lang="en-US" sz="1600" dirty="0">
                <a:solidFill>
                  <a:srgbClr val="FFFFFF"/>
                </a:solidFill>
                <a:latin typeface="Helvetica World"/>
              </a:rPr>
              <a:t>Agents are assigned only to bounded tasks inside a governed domain architecture. They do not create their own process authority, data authority, or control evidence.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E8464D-9685-4E8D-9EE0-43DF84D3A58B}"/>
              </a:ext>
            </a:extLst>
          </p:cNvPr>
          <p:cNvSpPr/>
          <p:nvPr/>
        </p:nvSpPr>
        <p:spPr>
          <a:xfrm>
            <a:off x="457200" y="6223000"/>
            <a:ext cx="9779000" cy="762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AB93A1-FBDE-4D79-B642-142E6B24524D}"/>
              </a:ext>
            </a:extLst>
          </p:cNvPr>
          <p:cNvSpPr txBox="1"/>
          <p:nvPr/>
        </p:nvSpPr>
        <p:spPr>
          <a:xfrm>
            <a:off x="711200" y="6350000"/>
            <a:ext cx="9271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en-US" sz="1400" b="1" dirty="0">
                <a:solidFill>
                  <a:srgbClr val="003D60"/>
                </a:solidFill>
                <a:latin typeface="Helvetica World Bold"/>
              </a:rPr>
              <a:t>Strengthen process and analytics architecture first</a:t>
            </a:r>
            <a:r>
              <a:rPr lang="en-US" sz="1400" dirty="0">
                <a:solidFill>
                  <a:srgbClr val="003D60"/>
                </a:solidFill>
                <a:latin typeface="Helvetica World"/>
              </a:rPr>
              <a:t> — AI is not a substitute for undefined operations, weak lineage, or unresolved data ownership.</a:t>
            </a:r>
          </a:p>
        </p:txBody>
      </p:sp>
    </p:spTree>
    <p:extLst>
      <p:ext uri="{BB962C8B-B14F-4D97-AF65-F5344CB8AC3E}">
        <p14:creationId xmlns:p14="http://schemas.microsoft.com/office/powerpoint/2010/main" val="3527801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FCD85-ECEF-49E4-9926-B861A91E3E05}"/>
              </a:ext>
            </a:extLst>
          </p:cNvPr>
          <p:cNvSpPr txBox="1"/>
          <p:nvPr/>
        </p:nvSpPr>
        <p:spPr>
          <a:xfrm>
            <a:off x="457200" y="381000"/>
            <a:ext cx="635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THE ARCHITECTURE AT A GLANCE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A772D6-8B0D-41E1-961C-A9E202F5778E}"/>
              </a:ext>
            </a:extLst>
          </p:cNvPr>
          <p:cNvSpPr txBox="1"/>
          <p:nvPr/>
        </p:nvSpPr>
        <p:spPr>
          <a:xfrm>
            <a:off x="457200" y="736600"/>
            <a:ext cx="977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800" dirty="0">
                <a:solidFill>
                  <a:srgbClr val="FFFFFF"/>
                </a:solidFill>
                <a:latin typeface="Helvetica World"/>
              </a:rPr>
              <a:t>Five layers, one </a:t>
            </a:r>
            <a:r>
              <a:rPr lang="en-US" sz="2800" dirty="0">
                <a:solidFill>
                  <a:srgbClr val="FFC700"/>
                </a:solidFill>
                <a:latin typeface="Helvetica World"/>
              </a:rPr>
              <a:t>common control backbone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972F67D-ACAC-4605-8F0E-C8596F513FB2}"/>
              </a:ext>
            </a:extLst>
          </p:cNvPr>
          <p:cNvSpPr/>
          <p:nvPr/>
        </p:nvSpPr>
        <p:spPr>
          <a:xfrm>
            <a:off x="457200" y="12954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FB3A2A-6AFD-49E6-A0AE-B28DA4D1F095}"/>
              </a:ext>
            </a:extLst>
          </p:cNvPr>
          <p:cNvSpPr/>
          <p:nvPr/>
        </p:nvSpPr>
        <p:spPr>
          <a:xfrm>
            <a:off x="457200" y="1587500"/>
            <a:ext cx="9779000" cy="558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4B548F-E62A-B83A-8010-806DF6465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1841500"/>
            <a:ext cx="9423400" cy="530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789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C29B49-8F11-41DA-A552-FC9C36529BFD}"/>
              </a:ext>
            </a:extLst>
          </p:cNvPr>
          <p:cNvSpPr txBox="1"/>
          <p:nvPr/>
        </p:nvSpPr>
        <p:spPr>
          <a:xfrm>
            <a:off x="457200" y="381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LAYER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745741-CC72-490B-ACF0-7C746FC843A9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THE FINANCE &amp; ACCOUNTING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DOMAIN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6FE7DA-33DB-484A-B3A1-705C67253AC8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2F4A4AC-226C-4961-8033-1FF6D18EC585}"/>
              </a:ext>
            </a:extLst>
          </p:cNvPr>
          <p:cNvSpPr/>
          <p:nvPr/>
        </p:nvSpPr>
        <p:spPr>
          <a:xfrm>
            <a:off x="4203700" y="3429000"/>
            <a:ext cx="2286000" cy="2286000"/>
          </a:xfrm>
          <a:prstGeom prst="ellipse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059DD07-C5F6-460F-A693-A600A3745CA0}"/>
              </a:ext>
            </a:extLst>
          </p:cNvPr>
          <p:cNvSpPr txBox="1"/>
          <p:nvPr/>
        </p:nvSpPr>
        <p:spPr>
          <a:xfrm>
            <a:off x="4203700" y="4191000"/>
            <a:ext cx="22860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Each domain</a:t>
            </a:r>
          </a:p>
          <a:p>
            <a:pPr algn="ctr">
              <a:lnSpc>
                <a:spcPts val="22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must define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9667FF-DE62-4B82-9622-FBFC22A9E47F}"/>
              </a:ext>
            </a:extLst>
          </p:cNvPr>
          <p:cNvSpPr/>
          <p:nvPr/>
        </p:nvSpPr>
        <p:spPr>
          <a:xfrm>
            <a:off x="457200" y="20955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0EED9-E046-4F72-B6DB-2E8B43544295}"/>
              </a:ext>
            </a:extLst>
          </p:cNvPr>
          <p:cNvSpPr txBox="1"/>
          <p:nvPr/>
        </p:nvSpPr>
        <p:spPr>
          <a:xfrm>
            <a:off x="635000" y="22479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PURPOSE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3A6B8F-9AA5-44A8-8D6B-CDC2D547AA33}"/>
              </a:ext>
            </a:extLst>
          </p:cNvPr>
          <p:cNvSpPr txBox="1"/>
          <p:nvPr/>
        </p:nvSpPr>
        <p:spPr>
          <a:xfrm>
            <a:off x="635000" y="25019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Business purpose and process scope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5FE023-91A6-4815-841C-4368A91152AE}"/>
              </a:ext>
            </a:extLst>
          </p:cNvPr>
          <p:cNvSpPr/>
          <p:nvPr/>
        </p:nvSpPr>
        <p:spPr>
          <a:xfrm>
            <a:off x="457200" y="33147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04E319-3084-4B15-A3D8-4EC8096DE5CB}"/>
              </a:ext>
            </a:extLst>
          </p:cNvPr>
          <p:cNvSpPr txBox="1"/>
          <p:nvPr/>
        </p:nvSpPr>
        <p:spPr>
          <a:xfrm>
            <a:off x="635000" y="34671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OWNERSHIP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3D8294-D9E8-44B2-BC60-A2C88A72FE9C}"/>
              </a:ext>
            </a:extLst>
          </p:cNvPr>
          <p:cNvSpPr txBox="1"/>
          <p:nvPr/>
        </p:nvSpPr>
        <p:spPr>
          <a:xfrm>
            <a:off x="635000" y="37211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Accountable owner and governance sponsor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9E4358-2323-47D1-B04B-44F2AF5C1EEF}"/>
              </a:ext>
            </a:extLst>
          </p:cNvPr>
          <p:cNvSpPr/>
          <p:nvPr/>
        </p:nvSpPr>
        <p:spPr>
          <a:xfrm>
            <a:off x="457200" y="45339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EE269-A932-4083-8102-3B1D613122D5}"/>
              </a:ext>
            </a:extLst>
          </p:cNvPr>
          <p:cNvSpPr txBox="1"/>
          <p:nvPr/>
        </p:nvSpPr>
        <p:spPr>
          <a:xfrm>
            <a:off x="635000" y="46863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DATA 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5F1CFF-9F22-468E-80B7-31454421C460}"/>
              </a:ext>
            </a:extLst>
          </p:cNvPr>
          <p:cNvSpPr txBox="1"/>
          <p:nvPr/>
        </p:nvSpPr>
        <p:spPr>
          <a:xfrm>
            <a:off x="635000" y="49403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Systems of record and authoritative data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0F8E58-7048-4A71-A5C6-D7155750EB61}"/>
              </a:ext>
            </a:extLst>
          </p:cNvPr>
          <p:cNvSpPr/>
          <p:nvPr/>
        </p:nvSpPr>
        <p:spPr>
          <a:xfrm>
            <a:off x="7188200" y="20955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5DD830-AF0F-44E6-8178-0907DBABDDFB}"/>
              </a:ext>
            </a:extLst>
          </p:cNvPr>
          <p:cNvSpPr txBox="1"/>
          <p:nvPr/>
        </p:nvSpPr>
        <p:spPr>
          <a:xfrm>
            <a:off x="7366000" y="22479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DECISIONS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6D96B6-557C-4175-8D85-D375064FECD0}"/>
              </a:ext>
            </a:extLst>
          </p:cNvPr>
          <p:cNvSpPr txBox="1"/>
          <p:nvPr/>
        </p:nvSpPr>
        <p:spPr>
          <a:xfrm>
            <a:off x="7366000" y="25019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Key decisions, controls, reports, metrics, compliance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EBEDA9A-57A4-4445-8A22-762BD82CFA6B}"/>
              </a:ext>
            </a:extLst>
          </p:cNvPr>
          <p:cNvSpPr/>
          <p:nvPr/>
        </p:nvSpPr>
        <p:spPr>
          <a:xfrm>
            <a:off x="7188200" y="33147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1C5250-52B6-4365-9C89-7BD0B838AF56}"/>
              </a:ext>
            </a:extLst>
          </p:cNvPr>
          <p:cNvSpPr txBox="1"/>
          <p:nvPr/>
        </p:nvSpPr>
        <p:spPr>
          <a:xfrm>
            <a:off x="7366000" y="34671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SENSITIVITY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E93D14-EC9E-4483-A358-6D7E5405DB60}"/>
              </a:ext>
            </a:extLst>
          </p:cNvPr>
          <p:cNvSpPr txBox="1"/>
          <p:nvPr/>
        </p:nvSpPr>
        <p:spPr>
          <a:xfrm>
            <a:off x="7366000" y="37211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Sensitive data and restricted activities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DAA81-95C7-4CD9-A9D0-638DD319BBE0}"/>
              </a:ext>
            </a:extLst>
          </p:cNvPr>
          <p:cNvSpPr/>
          <p:nvPr/>
        </p:nvSpPr>
        <p:spPr>
          <a:xfrm>
            <a:off x="7188200" y="4533900"/>
            <a:ext cx="3048000" cy="9906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16420F0-1C3C-4829-A029-C08C2C3B7850}"/>
              </a:ext>
            </a:extLst>
          </p:cNvPr>
          <p:cNvSpPr txBox="1"/>
          <p:nvPr/>
        </p:nvSpPr>
        <p:spPr>
          <a:xfrm>
            <a:off x="7366000" y="4686300"/>
            <a:ext cx="269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 dirty="0">
                <a:solidFill>
                  <a:srgbClr val="003D60"/>
                </a:solidFill>
                <a:latin typeface="Helvetica World Bold"/>
              </a:rPr>
              <a:t>EVIDENCE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E3C38DE-4C2B-41F2-813F-6D53969DAAE9}"/>
              </a:ext>
            </a:extLst>
          </p:cNvPr>
          <p:cNvSpPr txBox="1"/>
          <p:nvPr/>
        </p:nvSpPr>
        <p:spPr>
          <a:xfrm>
            <a:off x="7366000" y="4940300"/>
            <a:ext cx="2692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Documentation, evidence, and review expectations</a:t>
            </a:r>
          </a:p>
        </p:txBody>
      </p:sp>
    </p:spTree>
    <p:extLst>
      <p:ext uri="{BB962C8B-B14F-4D97-AF65-F5344CB8AC3E}">
        <p14:creationId xmlns:p14="http://schemas.microsoft.com/office/powerpoint/2010/main" val="4089789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75689B-F72E-4F90-8575-1D3690CD7816}"/>
              </a:ext>
            </a:extLst>
          </p:cNvPr>
          <p:cNvSpPr txBox="1"/>
          <p:nvPr/>
        </p:nvSpPr>
        <p:spPr>
          <a:xfrm>
            <a:off x="457200" y="3810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sz="3200" dirty="0">
                <a:solidFill>
                  <a:srgbClr val="FFFFFF"/>
                </a:solidFill>
                <a:latin typeface="Helvetica World"/>
              </a:rPr>
              <a:t>OPERATIONS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BA3A08-4F22-4F4E-9E00-1A7B5ADCCB26}"/>
              </a:ext>
            </a:extLst>
          </p:cNvPr>
          <p:cNvSpPr txBox="1"/>
          <p:nvPr/>
        </p:nvSpPr>
        <p:spPr>
          <a:xfrm>
            <a:off x="457200" y="1117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LAYER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00605-2B50-470D-AC1B-7A8CBE06CCE1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69E7459-0593-455A-BA00-58F6F7323826}"/>
              </a:ext>
            </a:extLst>
          </p:cNvPr>
          <p:cNvSpPr/>
          <p:nvPr/>
        </p:nvSpPr>
        <p:spPr>
          <a:xfrm>
            <a:off x="457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840A8-E32D-4B6D-9FDA-C163A599DF65}"/>
              </a:ext>
            </a:extLst>
          </p:cNvPr>
          <p:cNvSpPr txBox="1"/>
          <p:nvPr/>
        </p:nvSpPr>
        <p:spPr>
          <a:xfrm>
            <a:off x="711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WHAT IT ANSWERS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BA534-A221-4698-81DE-92CC4A97B8F9}"/>
              </a:ext>
            </a:extLst>
          </p:cNvPr>
          <p:cNvSpPr txBox="1"/>
          <p:nvPr/>
        </p:nvSpPr>
        <p:spPr>
          <a:xfrm>
            <a:off x="711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process is being governed?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Who owns the process?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are the stages, handoffs, and control gates?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evidence proves execution?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exceptions and escalations exist?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authority cannot be delegated?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86BBD3-383F-4B11-BC52-EF1B8A0C0EA9}"/>
              </a:ext>
            </a:extLst>
          </p:cNvPr>
          <p:cNvSpPr/>
          <p:nvPr/>
        </p:nvSpPr>
        <p:spPr>
          <a:xfrm>
            <a:off x="5410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C983B-7E96-4F3A-A3FB-B856FCBD1355}"/>
              </a:ext>
            </a:extLst>
          </p:cNvPr>
          <p:cNvSpPr txBox="1"/>
          <p:nvPr/>
        </p:nvSpPr>
        <p:spPr>
          <a:xfrm>
            <a:off x="5664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REQUIRED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6A042F-BC16-40DE-B39F-BA87CD6C0C04}"/>
              </a:ext>
            </a:extLst>
          </p:cNvPr>
          <p:cNvSpPr txBox="1"/>
          <p:nvPr/>
        </p:nvSpPr>
        <p:spPr>
          <a:xfrm>
            <a:off x="5664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Process scope and out-of-scope boundaries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Process stages and trigger-to-endpoint flow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Roles, RACI, and decision rights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Control points, owners, performers, and reviewers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Exception handling, issue routing, and escalation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Evidence artifacts, retention, and review cadence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Operating metrics and governance review rhythm</a:t>
            </a:r>
          </a:p>
        </p:txBody>
      </p:sp>
    </p:spTree>
    <p:extLst>
      <p:ext uri="{BB962C8B-B14F-4D97-AF65-F5344CB8AC3E}">
        <p14:creationId xmlns:p14="http://schemas.microsoft.com/office/powerpoint/2010/main" val="3085444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47FA11-D4A7-4111-AAE4-A64F804BBC5C}"/>
              </a:ext>
            </a:extLst>
          </p:cNvPr>
          <p:cNvSpPr txBox="1"/>
          <p:nvPr/>
        </p:nvSpPr>
        <p:spPr>
          <a:xfrm>
            <a:off x="457200" y="3810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sz="3200" dirty="0">
                <a:solidFill>
                  <a:srgbClr val="FFFFFF"/>
                </a:solidFill>
                <a:latin typeface="Helvetica World"/>
              </a:rPr>
              <a:t>ANALYTICS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5F1432-FBD5-410A-8169-9393B27AA2EA}"/>
              </a:ext>
            </a:extLst>
          </p:cNvPr>
          <p:cNvSpPr txBox="1"/>
          <p:nvPr/>
        </p:nvSpPr>
        <p:spPr>
          <a:xfrm>
            <a:off x="457200" y="1117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LAYER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06038F-9277-405E-9F7F-F12EB6A38DF0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254D5-7C95-4E0F-ADCC-B0BDD0C3322D}"/>
              </a:ext>
            </a:extLst>
          </p:cNvPr>
          <p:cNvSpPr/>
          <p:nvPr/>
        </p:nvSpPr>
        <p:spPr>
          <a:xfrm>
            <a:off x="457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DD7923-77E7-49A0-95B0-43F16EA11826}"/>
              </a:ext>
            </a:extLst>
          </p:cNvPr>
          <p:cNvSpPr txBox="1"/>
          <p:nvPr/>
        </p:nvSpPr>
        <p:spPr>
          <a:xfrm>
            <a:off x="711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WHAT IT ANSWERS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731F5-4BE5-42FD-BDBD-15596590800C}"/>
              </a:ext>
            </a:extLst>
          </p:cNvPr>
          <p:cNvSpPr txBox="1"/>
          <p:nvPr/>
        </p:nvSpPr>
        <p:spPr>
          <a:xfrm>
            <a:off x="711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native reporting exists first?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Which sources are authoritative?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metrics, definitions, grain, and thresholds are approved?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lineage and data quality controls are required?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analytics extensions are allowed?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data use boundaries apply?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50426D-EC7E-420F-9620-83043701D060}"/>
              </a:ext>
            </a:extLst>
          </p:cNvPr>
          <p:cNvSpPr/>
          <p:nvPr/>
        </p:nvSpPr>
        <p:spPr>
          <a:xfrm>
            <a:off x="5410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33EEE-179C-4CB5-9963-61E67C6EF545}"/>
              </a:ext>
            </a:extLst>
          </p:cNvPr>
          <p:cNvSpPr txBox="1"/>
          <p:nvPr/>
        </p:nvSpPr>
        <p:spPr>
          <a:xfrm>
            <a:off x="5664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REQUIRED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3F1E1-7912-412B-BEA3-1C238DCAD595}"/>
              </a:ext>
            </a:extLst>
          </p:cNvPr>
          <p:cNvSpPr txBox="1"/>
          <p:nvPr/>
        </p:nvSpPr>
        <p:spPr>
          <a:xfrm>
            <a:off x="5664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System-of-record and native-reporting assessment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Approved metrics and business definitions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Source-to-output lineage and transformation logic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Data quality rules, thresholds, and remediation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Access, extract, sharing, and retention controls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Analytics extension intake and approval path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Change control for reports, metrics, models, dashboards</a:t>
            </a:r>
          </a:p>
        </p:txBody>
      </p:sp>
    </p:spTree>
    <p:extLst>
      <p:ext uri="{BB962C8B-B14F-4D97-AF65-F5344CB8AC3E}">
        <p14:creationId xmlns:p14="http://schemas.microsoft.com/office/powerpoint/2010/main" val="3905256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824085-0F49-4ED2-8813-C665F5B6A871}"/>
              </a:ext>
            </a:extLst>
          </p:cNvPr>
          <p:cNvSpPr txBox="1"/>
          <p:nvPr/>
        </p:nvSpPr>
        <p:spPr>
          <a:xfrm>
            <a:off x="457200" y="3810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sz="3200" dirty="0">
                <a:solidFill>
                  <a:srgbClr val="FFFFFF"/>
                </a:solidFill>
                <a:latin typeface="Helvetica World"/>
              </a:rPr>
              <a:t>AI AUGMENTATION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GOVERNANCE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6B740-DF04-4CF6-B797-C9EF472D2398}"/>
              </a:ext>
            </a:extLst>
          </p:cNvPr>
          <p:cNvSpPr txBox="1"/>
          <p:nvPr/>
        </p:nvSpPr>
        <p:spPr>
          <a:xfrm>
            <a:off x="457200" y="1117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LAYER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25C670-97CE-41AD-8065-9C2C8D14E661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70AE12-6263-4B99-B0BD-42EA1E89FCF7}"/>
              </a:ext>
            </a:extLst>
          </p:cNvPr>
          <p:cNvSpPr/>
          <p:nvPr/>
        </p:nvSpPr>
        <p:spPr>
          <a:xfrm>
            <a:off x="457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156C61-28D2-4E89-898C-D6567665A922}"/>
              </a:ext>
            </a:extLst>
          </p:cNvPr>
          <p:cNvSpPr txBox="1"/>
          <p:nvPr/>
        </p:nvSpPr>
        <p:spPr>
          <a:xfrm>
            <a:off x="711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WHAT IT ANSWERS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DBFD9-22FE-435C-BB43-70B340C8A254}"/>
              </a:ext>
            </a:extLst>
          </p:cNvPr>
          <p:cNvSpPr txBox="1"/>
          <p:nvPr/>
        </p:nvSpPr>
        <p:spPr>
          <a:xfrm>
            <a:off x="711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Where may AI assist?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use is permitted, restricted, high-risk, agentic, or prohibited?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data may AI access or use?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human review is required?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evidence must be retained?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What monitoring and recertification are required?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B92850-5EE7-4FA2-89D2-23061E6DED18}"/>
              </a:ext>
            </a:extLst>
          </p:cNvPr>
          <p:cNvSpPr/>
          <p:nvPr/>
        </p:nvSpPr>
        <p:spPr>
          <a:xfrm>
            <a:off x="5410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D8E6E1-62A9-431B-9676-1FE0C0AD22B6}"/>
              </a:ext>
            </a:extLst>
          </p:cNvPr>
          <p:cNvSpPr txBox="1"/>
          <p:nvPr/>
        </p:nvSpPr>
        <p:spPr>
          <a:xfrm>
            <a:off x="5664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REQUIRED COMPONENTS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0F84AB-CD6C-4211-A01A-52F3A5ACD641}"/>
              </a:ext>
            </a:extLst>
          </p:cNvPr>
          <p:cNvSpPr txBox="1"/>
          <p:nvPr/>
        </p:nvSpPr>
        <p:spPr>
          <a:xfrm>
            <a:off x="5664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AI safe-use categories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AI use-case intake and risk tiering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Data handling and disclosure rules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Human review and accountability requirements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AI risk and control mapping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Exception and incident handling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Monitoring, recertification, and change triggers</a:t>
            </a:r>
          </a:p>
        </p:txBody>
      </p:sp>
    </p:spTree>
    <p:extLst>
      <p:ext uri="{BB962C8B-B14F-4D97-AF65-F5344CB8AC3E}">
        <p14:creationId xmlns:p14="http://schemas.microsoft.com/office/powerpoint/2010/main" val="32180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5A81C5-FF64-4CBF-B6D6-6CDD60EBA29A}"/>
              </a:ext>
            </a:extLst>
          </p:cNvPr>
          <p:cNvSpPr txBox="1"/>
          <p:nvPr/>
        </p:nvSpPr>
        <p:spPr>
          <a:xfrm>
            <a:off x="457200" y="3810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>
              <a:lnSpc>
                <a:spcPts val="3600"/>
              </a:lnSpc>
            </a:pPr>
            <a:r>
              <a:rPr lang="en-US" sz="3200" dirty="0">
                <a:solidFill>
                  <a:srgbClr val="FFFFFF"/>
                </a:solidFill>
                <a:latin typeface="Helvetica World"/>
              </a:rPr>
              <a:t>BOUNDED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AGENTS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7F13ED-3B1D-438B-BE9D-4879C3111480}"/>
              </a:ext>
            </a:extLst>
          </p:cNvPr>
          <p:cNvSpPr txBox="1"/>
          <p:nvPr/>
        </p:nvSpPr>
        <p:spPr>
          <a:xfrm>
            <a:off x="457200" y="1117600"/>
            <a:ext cx="762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LAYER 5  |  OPTIONAL WHEN READINESS IS MET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7B9D28-D8DD-42DB-A501-6E5859B09B6B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894950-85A0-4095-9328-77F60F87BABE}"/>
              </a:ext>
            </a:extLst>
          </p:cNvPr>
          <p:cNvSpPr/>
          <p:nvPr/>
        </p:nvSpPr>
        <p:spPr>
          <a:xfrm>
            <a:off x="457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9AF26-FF98-43F6-B503-55A463C29381}"/>
              </a:ext>
            </a:extLst>
          </p:cNvPr>
          <p:cNvSpPr txBox="1"/>
          <p:nvPr/>
        </p:nvSpPr>
        <p:spPr>
          <a:xfrm>
            <a:off x="711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READINESS REQUIRES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F00615-93FB-4828-BF89-58D5C8E9C46D}"/>
              </a:ext>
            </a:extLst>
          </p:cNvPr>
          <p:cNvSpPr txBox="1"/>
          <p:nvPr/>
        </p:nvSpPr>
        <p:spPr>
          <a:xfrm>
            <a:off x="711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Repeatable tasks defined for delegation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Allowed inputs and outputs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Approved tools and access scope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Blocked actions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Required human review gate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Logs and evidence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Recertification triggers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7AB68-161E-4BD2-8D7B-CF3444416050}"/>
              </a:ext>
            </a:extLst>
          </p:cNvPr>
          <p:cNvSpPr/>
          <p:nvPr/>
        </p:nvSpPr>
        <p:spPr>
          <a:xfrm>
            <a:off x="5410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45A99E-E0ED-4EB3-A431-4C41FB945184}"/>
              </a:ext>
            </a:extLst>
          </p:cNvPr>
          <p:cNvSpPr txBox="1"/>
          <p:nvPr/>
        </p:nvSpPr>
        <p:spPr>
          <a:xfrm>
            <a:off x="5664200" y="2095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WHAT AGENTS MAY NOT DO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704C12-B40D-48E2-AD2E-50EC12E0FA96}"/>
              </a:ext>
            </a:extLst>
          </p:cNvPr>
          <p:cNvSpPr txBox="1"/>
          <p:nvPr/>
        </p:nvSpPr>
        <p:spPr>
          <a:xfrm>
            <a:off x="5664200" y="2540000"/>
            <a:ext cx="4318000" cy="431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Approve, post, pay, or certify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File or externalize records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Override or delete controlled records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Change controlled records without explicit authorization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Act outside the bounded task definition</a:t>
            </a:r>
          </a:p>
          <a:p>
            <a:pPr marL="228600" indent="-228600" algn="l">
              <a:lnSpc>
                <a:spcPts val="17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Substitute for required human review</a:t>
            </a:r>
          </a:p>
        </p:txBody>
      </p:sp>
    </p:spTree>
    <p:extLst>
      <p:ext uri="{BB962C8B-B14F-4D97-AF65-F5344CB8AC3E}">
        <p14:creationId xmlns:p14="http://schemas.microsoft.com/office/powerpoint/2010/main" val="7097124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C80CB6-2167-4843-92D3-732FFF5B98D4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THE COMMON CONTROL BACKBONE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DFA793-DBF6-4C2F-BBC2-D680D32C5549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SHARED GOVERNANCE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CONTROLS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C20760-A8A6-44A8-975A-2316E4718D1F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A201CA-1D51-4DCF-9A79-9C02D84173D7}"/>
              </a:ext>
            </a:extLst>
          </p:cNvPr>
          <p:cNvSpPr/>
          <p:nvPr/>
        </p:nvSpPr>
        <p:spPr>
          <a:xfrm>
            <a:off x="457200" y="18415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6587A-C3D8-4C7E-9DE4-21B24B4D8696}"/>
              </a:ext>
            </a:extLst>
          </p:cNvPr>
          <p:cNvSpPr/>
          <p:nvPr/>
        </p:nvSpPr>
        <p:spPr>
          <a:xfrm>
            <a:off x="457200" y="18415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F1E9A-8547-46CC-8C73-86BCCAECE013}"/>
              </a:ext>
            </a:extLst>
          </p:cNvPr>
          <p:cNvSpPr txBox="1"/>
          <p:nvPr/>
        </p:nvSpPr>
        <p:spPr>
          <a:xfrm>
            <a:off x="660400" y="20701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Ownership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E309F4-6374-4651-AC7F-49DF641D5B1F}"/>
              </a:ext>
            </a:extLst>
          </p:cNvPr>
          <p:cNvSpPr txBox="1"/>
          <p:nvPr/>
        </p:nvSpPr>
        <p:spPr>
          <a:xfrm>
            <a:off x="660400" y="24257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Names accountable owners, stewards, reviewers, approvers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76DCF40-829D-4C81-B665-04C544D4FD71}"/>
              </a:ext>
            </a:extLst>
          </p:cNvPr>
          <p:cNvSpPr/>
          <p:nvPr/>
        </p:nvSpPr>
        <p:spPr>
          <a:xfrm>
            <a:off x="3784600" y="18415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4A005-1152-49AE-B819-051045DBF4B4}"/>
              </a:ext>
            </a:extLst>
          </p:cNvPr>
          <p:cNvSpPr/>
          <p:nvPr/>
        </p:nvSpPr>
        <p:spPr>
          <a:xfrm>
            <a:off x="3784600" y="18415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6E8FBB-EFE0-44A7-953E-1FA3E90066C3}"/>
              </a:ext>
            </a:extLst>
          </p:cNvPr>
          <p:cNvSpPr txBox="1"/>
          <p:nvPr/>
        </p:nvSpPr>
        <p:spPr>
          <a:xfrm>
            <a:off x="3987800" y="20701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Intake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0CEB10-99E7-45C6-96BF-65053C9A81A9}"/>
              </a:ext>
            </a:extLst>
          </p:cNvPr>
          <p:cNvSpPr txBox="1"/>
          <p:nvPr/>
        </p:nvSpPr>
        <p:spPr>
          <a:xfrm>
            <a:off x="3987800" y="24257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Captures business purpose, scope, risk, data, routing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D7EDD-7633-4216-85A3-651B3F6EC31B}"/>
              </a:ext>
            </a:extLst>
          </p:cNvPr>
          <p:cNvSpPr/>
          <p:nvPr/>
        </p:nvSpPr>
        <p:spPr>
          <a:xfrm>
            <a:off x="7112000" y="18415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5AC572-75D5-46E5-8D49-A149168174B1}"/>
              </a:ext>
            </a:extLst>
          </p:cNvPr>
          <p:cNvSpPr/>
          <p:nvPr/>
        </p:nvSpPr>
        <p:spPr>
          <a:xfrm>
            <a:off x="7112000" y="18415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367EBB-67EF-41DE-8176-9B5FF6EF5F0A}"/>
              </a:ext>
            </a:extLst>
          </p:cNvPr>
          <p:cNvSpPr txBox="1"/>
          <p:nvPr/>
        </p:nvSpPr>
        <p:spPr>
          <a:xfrm>
            <a:off x="7315200" y="20701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Approval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B6EC35-DECE-4131-9315-1C2B367FC573}"/>
              </a:ext>
            </a:extLst>
          </p:cNvPr>
          <p:cNvSpPr txBox="1"/>
          <p:nvPr/>
        </p:nvSpPr>
        <p:spPr>
          <a:xfrm>
            <a:off x="7315200" y="24257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Records authorized decisions, conditions, exception authority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F35703-629E-40D3-B7C9-039E3A0D5FA9}"/>
              </a:ext>
            </a:extLst>
          </p:cNvPr>
          <p:cNvSpPr/>
          <p:nvPr/>
        </p:nvSpPr>
        <p:spPr>
          <a:xfrm>
            <a:off x="457200" y="36957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03F877-5881-4507-994D-023036DE1877}"/>
              </a:ext>
            </a:extLst>
          </p:cNvPr>
          <p:cNvSpPr/>
          <p:nvPr/>
        </p:nvSpPr>
        <p:spPr>
          <a:xfrm>
            <a:off x="457200" y="36957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776C2C-6CCA-4F62-A50D-CCCAC7EBBF02}"/>
              </a:ext>
            </a:extLst>
          </p:cNvPr>
          <p:cNvSpPr txBox="1"/>
          <p:nvPr/>
        </p:nvSpPr>
        <p:spPr>
          <a:xfrm>
            <a:off x="660400" y="39243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Evidence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42925B5-0538-45C4-BD6D-B9FAD3A756EA}"/>
              </a:ext>
            </a:extLst>
          </p:cNvPr>
          <p:cNvSpPr txBox="1"/>
          <p:nvPr/>
        </p:nvSpPr>
        <p:spPr>
          <a:xfrm>
            <a:off x="660400" y="42799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Defines what proof must be retained and where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D36F19-98F9-4745-B721-B2B439D7ACAC}"/>
              </a:ext>
            </a:extLst>
          </p:cNvPr>
          <p:cNvSpPr/>
          <p:nvPr/>
        </p:nvSpPr>
        <p:spPr>
          <a:xfrm>
            <a:off x="3784600" y="36957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E0BFFC-8F10-4940-AEDD-87D6EB97FDE7}"/>
              </a:ext>
            </a:extLst>
          </p:cNvPr>
          <p:cNvSpPr/>
          <p:nvPr/>
        </p:nvSpPr>
        <p:spPr>
          <a:xfrm>
            <a:off x="3784600" y="36957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2F7D9AD-AFE3-4581-A221-418673535362}"/>
              </a:ext>
            </a:extLst>
          </p:cNvPr>
          <p:cNvSpPr txBox="1"/>
          <p:nvPr/>
        </p:nvSpPr>
        <p:spPr>
          <a:xfrm>
            <a:off x="3987800" y="39243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Access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AFB80-65F7-464F-8346-5DB8937D571C}"/>
              </a:ext>
            </a:extLst>
          </p:cNvPr>
          <p:cNvSpPr txBox="1"/>
          <p:nvPr/>
        </p:nvSpPr>
        <p:spPr>
          <a:xfrm>
            <a:off x="3987800" y="42799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Enforces least privilege, segregation of duties, review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48C2E59-58CB-4445-89F5-DEE9672BE794}"/>
              </a:ext>
            </a:extLst>
          </p:cNvPr>
          <p:cNvSpPr/>
          <p:nvPr/>
        </p:nvSpPr>
        <p:spPr>
          <a:xfrm>
            <a:off x="7112000" y="36957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EBE7123-6DF3-4557-95C6-B6DF1FE11E45}"/>
              </a:ext>
            </a:extLst>
          </p:cNvPr>
          <p:cNvSpPr/>
          <p:nvPr/>
        </p:nvSpPr>
        <p:spPr>
          <a:xfrm>
            <a:off x="7112000" y="36957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0E4B9D-FCEE-497C-9908-D8079BACA0AF}"/>
              </a:ext>
            </a:extLst>
          </p:cNvPr>
          <p:cNvSpPr txBox="1"/>
          <p:nvPr/>
        </p:nvSpPr>
        <p:spPr>
          <a:xfrm>
            <a:off x="7315200" y="39243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Data Classification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A774F2-87D3-4FE0-8718-F77ACDDB3DBE}"/>
              </a:ext>
            </a:extLst>
          </p:cNvPr>
          <p:cNvSpPr txBox="1"/>
          <p:nvPr/>
        </p:nvSpPr>
        <p:spPr>
          <a:xfrm>
            <a:off x="7315200" y="42799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Defines sensitivity, handling, sharing, masking, retention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C18F67-CCAC-4D4D-AF95-550F2F3CCABD}"/>
              </a:ext>
            </a:extLst>
          </p:cNvPr>
          <p:cNvSpPr/>
          <p:nvPr/>
        </p:nvSpPr>
        <p:spPr>
          <a:xfrm>
            <a:off x="457200" y="55499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25FC643-6030-4900-AD07-751E57BE8610}"/>
              </a:ext>
            </a:extLst>
          </p:cNvPr>
          <p:cNvSpPr/>
          <p:nvPr/>
        </p:nvSpPr>
        <p:spPr>
          <a:xfrm>
            <a:off x="457200" y="55499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D59FFD-DA19-49D8-A3F9-5D92D05A3D3C}"/>
              </a:ext>
            </a:extLst>
          </p:cNvPr>
          <p:cNvSpPr txBox="1"/>
          <p:nvPr/>
        </p:nvSpPr>
        <p:spPr>
          <a:xfrm>
            <a:off x="660400" y="57785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Exceptions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EDA054B-A275-47EB-BA5D-B7C2F0B114B5}"/>
              </a:ext>
            </a:extLst>
          </p:cNvPr>
          <p:cNvSpPr txBox="1"/>
          <p:nvPr/>
        </p:nvSpPr>
        <p:spPr>
          <a:xfrm>
            <a:off x="660400" y="6134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Records rationale, risk acceptance, compensating controls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2CC827-5231-4780-A27B-D79B5FF9B0A3}"/>
              </a:ext>
            </a:extLst>
          </p:cNvPr>
          <p:cNvSpPr/>
          <p:nvPr/>
        </p:nvSpPr>
        <p:spPr>
          <a:xfrm>
            <a:off x="3784600" y="55499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C09392F-DE54-4BCF-9142-1CF26FB1BD61}"/>
              </a:ext>
            </a:extLst>
          </p:cNvPr>
          <p:cNvSpPr/>
          <p:nvPr/>
        </p:nvSpPr>
        <p:spPr>
          <a:xfrm>
            <a:off x="3784600" y="55499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702858-42F7-4DFD-A433-3C6F2B36728F}"/>
              </a:ext>
            </a:extLst>
          </p:cNvPr>
          <p:cNvSpPr txBox="1"/>
          <p:nvPr/>
        </p:nvSpPr>
        <p:spPr>
          <a:xfrm>
            <a:off x="3987800" y="57785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Monitoring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6960FBC-4CE5-40DB-A2BE-686393991887}"/>
              </a:ext>
            </a:extLst>
          </p:cNvPr>
          <p:cNvSpPr txBox="1"/>
          <p:nvPr/>
        </p:nvSpPr>
        <p:spPr>
          <a:xfrm>
            <a:off x="3987800" y="6134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Tracks operation, adoption, control performance, incidents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57F718-594B-44A6-8541-3C400E534092}"/>
              </a:ext>
            </a:extLst>
          </p:cNvPr>
          <p:cNvSpPr/>
          <p:nvPr/>
        </p:nvSpPr>
        <p:spPr>
          <a:xfrm>
            <a:off x="7112000" y="5549900"/>
            <a:ext cx="3098800" cy="1651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718C2AE-1615-416C-A3DC-A3DD8A6CD8AB}"/>
              </a:ext>
            </a:extLst>
          </p:cNvPr>
          <p:cNvSpPr/>
          <p:nvPr/>
        </p:nvSpPr>
        <p:spPr>
          <a:xfrm>
            <a:off x="7112000" y="5549900"/>
            <a:ext cx="381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8E958C-7913-4A69-A576-23A3259E90CD}"/>
              </a:ext>
            </a:extLst>
          </p:cNvPr>
          <p:cNvSpPr txBox="1"/>
          <p:nvPr/>
        </p:nvSpPr>
        <p:spPr>
          <a:xfrm>
            <a:off x="7315200" y="5778500"/>
            <a:ext cx="2692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Lifecycle Review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CA2A21-ADEB-4EB8-916C-966539BED83E}"/>
              </a:ext>
            </a:extLst>
          </p:cNvPr>
          <p:cNvSpPr txBox="1"/>
          <p:nvPr/>
        </p:nvSpPr>
        <p:spPr>
          <a:xfrm>
            <a:off x="7315200" y="6134100"/>
            <a:ext cx="2692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100" dirty="0">
                <a:solidFill>
                  <a:srgbClr val="1E1A1B"/>
                </a:solidFill>
                <a:latin typeface="Helvetica World"/>
              </a:rPr>
              <a:t>Revises, recertifies, retires, refreshes when risks change</a:t>
            </a:r>
          </a:p>
        </p:txBody>
      </p:sp>
    </p:spTree>
    <p:extLst>
      <p:ext uri="{BB962C8B-B14F-4D97-AF65-F5344CB8AC3E}">
        <p14:creationId xmlns:p14="http://schemas.microsoft.com/office/powerpoint/2010/main" val="2953350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82FF33-02CC-4DF8-B673-AE155C22ABCB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DOMAIN APPLICATION SEQUENCE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7BD52-180B-4862-9AB3-E3077D8B1E06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How to apply the architecture,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in order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660770-18F8-4333-B966-9DBC5EE60389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9C1CE4FD-5773-4137-AC3E-0527924FFAF7}"/>
              </a:ext>
            </a:extLst>
          </p:cNvPr>
          <p:cNvSpPr/>
          <p:nvPr/>
        </p:nvSpPr>
        <p:spPr>
          <a:xfrm>
            <a:off x="457200" y="2222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0563DB-8E05-4745-902E-F27D7D40C252}"/>
              </a:ext>
            </a:extLst>
          </p:cNvPr>
          <p:cNvSpPr txBox="1"/>
          <p:nvPr/>
        </p:nvSpPr>
        <p:spPr>
          <a:xfrm>
            <a:off x="635000" y="2374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BB724-9961-48A8-A4E6-15D158E4DE29}"/>
              </a:ext>
            </a:extLst>
          </p:cNvPr>
          <p:cNvSpPr txBox="1"/>
          <p:nvPr/>
        </p:nvSpPr>
        <p:spPr>
          <a:xfrm>
            <a:off x="635000" y="2705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Define the domain and business objective</a:t>
            </a:r>
          </a:p>
        </p:txBody>
      </p:sp>
      <p:sp>
        <p:nvSpPr>
          <p:cNvPr id="8" name="Arrow: Pentagon 7">
            <a:extLst>
              <a:ext uri="{FF2B5EF4-FFF2-40B4-BE49-F238E27FC236}">
                <a16:creationId xmlns:a16="http://schemas.microsoft.com/office/drawing/2014/main" id="{C77BE421-4DA1-4E49-9BF1-FFE05015C39D}"/>
              </a:ext>
            </a:extLst>
          </p:cNvPr>
          <p:cNvSpPr/>
          <p:nvPr/>
        </p:nvSpPr>
        <p:spPr>
          <a:xfrm>
            <a:off x="2946400" y="2222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DBCEC7-3457-446C-AE51-5556182916A2}"/>
              </a:ext>
            </a:extLst>
          </p:cNvPr>
          <p:cNvSpPr txBox="1"/>
          <p:nvPr/>
        </p:nvSpPr>
        <p:spPr>
          <a:xfrm>
            <a:off x="3124200" y="2374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0484D2-EC72-48A0-A109-A25B9BC9C74E}"/>
              </a:ext>
            </a:extLst>
          </p:cNvPr>
          <p:cNvSpPr txBox="1"/>
          <p:nvPr/>
        </p:nvSpPr>
        <p:spPr>
          <a:xfrm>
            <a:off x="3124200" y="2705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Establish or confirm Operations Architecture</a:t>
            </a:r>
          </a:p>
        </p:txBody>
      </p:sp>
      <p:sp>
        <p:nvSpPr>
          <p:cNvPr id="11" name="Arrow: Pentagon 10">
            <a:extLst>
              <a:ext uri="{FF2B5EF4-FFF2-40B4-BE49-F238E27FC236}">
                <a16:creationId xmlns:a16="http://schemas.microsoft.com/office/drawing/2014/main" id="{52A9019F-799B-4516-902F-B9981F9F277A}"/>
              </a:ext>
            </a:extLst>
          </p:cNvPr>
          <p:cNvSpPr/>
          <p:nvPr/>
        </p:nvSpPr>
        <p:spPr>
          <a:xfrm>
            <a:off x="5435600" y="2222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655210-A075-4ED7-A19E-A6AC624CD0E7}"/>
              </a:ext>
            </a:extLst>
          </p:cNvPr>
          <p:cNvSpPr txBox="1"/>
          <p:nvPr/>
        </p:nvSpPr>
        <p:spPr>
          <a:xfrm>
            <a:off x="5613400" y="2374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6BCE54-E546-4AA6-94AE-B3E4405D5933}"/>
              </a:ext>
            </a:extLst>
          </p:cNvPr>
          <p:cNvSpPr txBox="1"/>
          <p:nvPr/>
        </p:nvSpPr>
        <p:spPr>
          <a:xfrm>
            <a:off x="5613400" y="2705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Establish or confirm Analytics Architecture</a:t>
            </a:r>
          </a:p>
        </p:txBody>
      </p:sp>
      <p:sp>
        <p:nvSpPr>
          <p:cNvPr id="14" name="Arrow: Pentagon 13">
            <a:extLst>
              <a:ext uri="{FF2B5EF4-FFF2-40B4-BE49-F238E27FC236}">
                <a16:creationId xmlns:a16="http://schemas.microsoft.com/office/drawing/2014/main" id="{84C60521-F40D-42A6-8D9A-94EDD2482500}"/>
              </a:ext>
            </a:extLst>
          </p:cNvPr>
          <p:cNvSpPr/>
          <p:nvPr/>
        </p:nvSpPr>
        <p:spPr>
          <a:xfrm>
            <a:off x="7924800" y="2222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65C9E7-B225-4006-A0F2-E345D719F4A5}"/>
              </a:ext>
            </a:extLst>
          </p:cNvPr>
          <p:cNvSpPr txBox="1"/>
          <p:nvPr/>
        </p:nvSpPr>
        <p:spPr>
          <a:xfrm>
            <a:off x="8102600" y="2374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C5BC79-D531-43E2-AAC8-17CC4B767A18}"/>
              </a:ext>
            </a:extLst>
          </p:cNvPr>
          <p:cNvSpPr txBox="1"/>
          <p:nvPr/>
        </p:nvSpPr>
        <p:spPr>
          <a:xfrm>
            <a:off x="8102600" y="2705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Identify AI augmentation opportunities within boundaries</a:t>
            </a:r>
          </a:p>
        </p:txBody>
      </p:sp>
      <p:sp>
        <p:nvSpPr>
          <p:cNvPr id="17" name="Arrow: Pentagon 16">
            <a:extLst>
              <a:ext uri="{FF2B5EF4-FFF2-40B4-BE49-F238E27FC236}">
                <a16:creationId xmlns:a16="http://schemas.microsoft.com/office/drawing/2014/main" id="{45A67844-85FB-4B26-A682-0B8D37C295D4}"/>
              </a:ext>
            </a:extLst>
          </p:cNvPr>
          <p:cNvSpPr/>
          <p:nvPr/>
        </p:nvSpPr>
        <p:spPr>
          <a:xfrm>
            <a:off x="457200" y="3873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9DD2C4-DE42-45AB-9F64-BA2FF0643E30}"/>
              </a:ext>
            </a:extLst>
          </p:cNvPr>
          <p:cNvSpPr txBox="1"/>
          <p:nvPr/>
        </p:nvSpPr>
        <p:spPr>
          <a:xfrm>
            <a:off x="635000" y="4025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AEDD7-2A12-496A-99A8-2C36418806C0}"/>
              </a:ext>
            </a:extLst>
          </p:cNvPr>
          <p:cNvSpPr txBox="1"/>
          <p:nvPr/>
        </p:nvSpPr>
        <p:spPr>
          <a:xfrm>
            <a:off x="635000" y="4356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Classify AI use by risk tier and data sensitivity</a:t>
            </a:r>
          </a:p>
        </p:txBody>
      </p:sp>
      <p:sp>
        <p:nvSpPr>
          <p:cNvPr id="20" name="Arrow: Pentagon 19">
            <a:extLst>
              <a:ext uri="{FF2B5EF4-FFF2-40B4-BE49-F238E27FC236}">
                <a16:creationId xmlns:a16="http://schemas.microsoft.com/office/drawing/2014/main" id="{450C9F6B-A95D-4A26-8152-29269E784230}"/>
              </a:ext>
            </a:extLst>
          </p:cNvPr>
          <p:cNvSpPr/>
          <p:nvPr/>
        </p:nvSpPr>
        <p:spPr>
          <a:xfrm>
            <a:off x="2946400" y="3873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EE59C4-005F-4B11-B2EE-FB392C1DC873}"/>
              </a:ext>
            </a:extLst>
          </p:cNvPr>
          <p:cNvSpPr txBox="1"/>
          <p:nvPr/>
        </p:nvSpPr>
        <p:spPr>
          <a:xfrm>
            <a:off x="3124200" y="4025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BF9742-5C36-4C49-9F4D-572B5B47A9BE}"/>
              </a:ext>
            </a:extLst>
          </p:cNvPr>
          <p:cNvSpPr txBox="1"/>
          <p:nvPr/>
        </p:nvSpPr>
        <p:spPr>
          <a:xfrm>
            <a:off x="3124200" y="4356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Map AI risks to controls, evidence, ownership, monitoring</a:t>
            </a:r>
          </a:p>
        </p:txBody>
      </p:sp>
      <p:sp>
        <p:nvSpPr>
          <p:cNvPr id="23" name="Arrow: Pentagon 22">
            <a:extLst>
              <a:ext uri="{FF2B5EF4-FFF2-40B4-BE49-F238E27FC236}">
                <a16:creationId xmlns:a16="http://schemas.microsoft.com/office/drawing/2014/main" id="{3D1222FF-E2D8-4741-A9A7-B072DF553445}"/>
              </a:ext>
            </a:extLst>
          </p:cNvPr>
          <p:cNvSpPr/>
          <p:nvPr/>
        </p:nvSpPr>
        <p:spPr>
          <a:xfrm>
            <a:off x="5435600" y="3873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062354-F165-42F1-B965-A9EED5826EB2}"/>
              </a:ext>
            </a:extLst>
          </p:cNvPr>
          <p:cNvSpPr txBox="1"/>
          <p:nvPr/>
        </p:nvSpPr>
        <p:spPr>
          <a:xfrm>
            <a:off x="5613400" y="4025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9502A0-DC27-491B-9E1E-DCFF77A2D020}"/>
              </a:ext>
            </a:extLst>
          </p:cNvPr>
          <p:cNvSpPr txBox="1"/>
          <p:nvPr/>
        </p:nvSpPr>
        <p:spPr>
          <a:xfrm>
            <a:off x="5613400" y="4356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Approve bounded agents only when readiness is met</a:t>
            </a:r>
          </a:p>
        </p:txBody>
      </p:sp>
      <p:sp>
        <p:nvSpPr>
          <p:cNvPr id="26" name="Arrow: Pentagon 25">
            <a:extLst>
              <a:ext uri="{FF2B5EF4-FFF2-40B4-BE49-F238E27FC236}">
                <a16:creationId xmlns:a16="http://schemas.microsoft.com/office/drawing/2014/main" id="{67750BE4-C71A-4E1D-A84A-F27B4683EFED}"/>
              </a:ext>
            </a:extLst>
          </p:cNvPr>
          <p:cNvSpPr/>
          <p:nvPr/>
        </p:nvSpPr>
        <p:spPr>
          <a:xfrm>
            <a:off x="7924800" y="3873500"/>
            <a:ext cx="2387600" cy="1270000"/>
          </a:xfrm>
          <a:prstGeom prst="homePlate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189317-1660-4150-B328-927BACBA3511}"/>
              </a:ext>
            </a:extLst>
          </p:cNvPr>
          <p:cNvSpPr txBox="1"/>
          <p:nvPr/>
        </p:nvSpPr>
        <p:spPr>
          <a:xfrm>
            <a:off x="8102600" y="4025900"/>
            <a:ext cx="50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FFC700"/>
                </a:solidFill>
                <a:latin typeface="Helvetica World Bold"/>
              </a:rPr>
              <a:t>08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3613F1-0E3F-4D3F-A9E9-A8AC2F656841}"/>
              </a:ext>
            </a:extLst>
          </p:cNvPr>
          <p:cNvSpPr txBox="1"/>
          <p:nvPr/>
        </p:nvSpPr>
        <p:spPr>
          <a:xfrm>
            <a:off x="8102600" y="4356100"/>
            <a:ext cx="203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500"/>
              </a:lnSpc>
            </a:pPr>
            <a:r>
              <a:rPr lang="en-US" sz="1200" dirty="0">
                <a:solidFill>
                  <a:srgbClr val="003D60"/>
                </a:solidFill>
                <a:latin typeface="Helvetica World"/>
              </a:rPr>
              <a:t>Control documentation lifecycle and recertification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FE629D-D17B-44AB-8BDC-2F9149572D55}"/>
              </a:ext>
            </a:extLst>
          </p:cNvPr>
          <p:cNvSpPr txBox="1"/>
          <p:nvPr/>
        </p:nvSpPr>
        <p:spPr>
          <a:xfrm>
            <a:off x="457200" y="6731000"/>
            <a:ext cx="977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 dirty="0">
                <a:solidFill>
                  <a:srgbClr val="FFFFFF"/>
                </a:solidFill>
                <a:latin typeface="Helvetica World"/>
              </a:rPr>
              <a:t>Each step has readiness gates that must be met before advancing.</a:t>
            </a:r>
          </a:p>
        </p:txBody>
      </p:sp>
    </p:spTree>
    <p:extLst>
      <p:ext uri="{BB962C8B-B14F-4D97-AF65-F5344CB8AC3E}">
        <p14:creationId xmlns:p14="http://schemas.microsoft.com/office/powerpoint/2010/main" val="32354302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7724981-0281-4D14-BDFD-31BD54E8FCB2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READINESS GATES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7FAE4-8BC3-4933-9E15-35538DBDFEFC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Four gates separate the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phases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2DF281-BAEB-402E-87E4-59BA11A6380D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F0C69B-D8FE-4D01-9268-212069223EA4}"/>
              </a:ext>
            </a:extLst>
          </p:cNvPr>
          <p:cNvSpPr txBox="1"/>
          <p:nvPr/>
        </p:nvSpPr>
        <p:spPr>
          <a:xfrm>
            <a:off x="457200" y="1778000"/>
            <a:ext cx="977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dirty="0">
                <a:solidFill>
                  <a:srgbClr val="FFFFFF"/>
                </a:solidFill>
                <a:latin typeface="Helvetica World"/>
              </a:rPr>
              <a:t>Each gate must be cleared before advancing to the next phase of the architecture.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F3DFF7-C846-485F-9335-06786F4A23E4}"/>
              </a:ext>
            </a:extLst>
          </p:cNvPr>
          <p:cNvSpPr/>
          <p:nvPr/>
        </p:nvSpPr>
        <p:spPr>
          <a:xfrm>
            <a:off x="457200" y="2540000"/>
            <a:ext cx="2336800" cy="4064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11DE85-3F75-4650-BBCE-423BF6B1EA5F}"/>
              </a:ext>
            </a:extLst>
          </p:cNvPr>
          <p:cNvSpPr txBox="1"/>
          <p:nvPr/>
        </p:nvSpPr>
        <p:spPr>
          <a:xfrm>
            <a:off x="660400" y="2743200"/>
            <a:ext cx="1930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C700"/>
                </a:solidFill>
                <a:latin typeface="Helvetica World Bold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9B8D3-7213-44C3-96C6-A4AE65EC98E8}"/>
              </a:ext>
            </a:extLst>
          </p:cNvPr>
          <p:cNvSpPr txBox="1"/>
          <p:nvPr/>
        </p:nvSpPr>
        <p:spPr>
          <a:xfrm>
            <a:off x="660400" y="35560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Operations Readiness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FBB0E3-28F5-4E37-A079-3EA0A857E173}"/>
              </a:ext>
            </a:extLst>
          </p:cNvPr>
          <p:cNvSpPr/>
          <p:nvPr/>
        </p:nvSpPr>
        <p:spPr>
          <a:xfrm>
            <a:off x="660400" y="4470400"/>
            <a:ext cx="381000" cy="254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886B01-C3B7-4A01-A269-04CD67462388}"/>
              </a:ext>
            </a:extLst>
          </p:cNvPr>
          <p:cNvSpPr txBox="1"/>
          <p:nvPr/>
        </p:nvSpPr>
        <p:spPr>
          <a:xfrm>
            <a:off x="660400" y="4699000"/>
            <a:ext cx="1930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Required before advancing to analytics or AI augmentation.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F50D58-22AC-4A24-AEAB-868B1A8B9363}"/>
              </a:ext>
            </a:extLst>
          </p:cNvPr>
          <p:cNvSpPr/>
          <p:nvPr/>
        </p:nvSpPr>
        <p:spPr>
          <a:xfrm>
            <a:off x="2971800" y="2540000"/>
            <a:ext cx="2336800" cy="4064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ADE6A-647B-4619-B4F9-70154E6C0935}"/>
              </a:ext>
            </a:extLst>
          </p:cNvPr>
          <p:cNvSpPr txBox="1"/>
          <p:nvPr/>
        </p:nvSpPr>
        <p:spPr>
          <a:xfrm>
            <a:off x="3175000" y="2743200"/>
            <a:ext cx="1930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C700"/>
                </a:solidFill>
                <a:latin typeface="Helvetica World Bold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5829F7-97BA-4B58-9B6C-6C83186CDA9E}"/>
              </a:ext>
            </a:extLst>
          </p:cNvPr>
          <p:cNvSpPr txBox="1"/>
          <p:nvPr/>
        </p:nvSpPr>
        <p:spPr>
          <a:xfrm>
            <a:off x="3175000" y="35560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Analytics Readiness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FCE559-5BFF-4F7C-BCA9-ADBDC304BDED}"/>
              </a:ext>
            </a:extLst>
          </p:cNvPr>
          <p:cNvSpPr/>
          <p:nvPr/>
        </p:nvSpPr>
        <p:spPr>
          <a:xfrm>
            <a:off x="3175000" y="4470400"/>
            <a:ext cx="381000" cy="254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971BD5-9DA5-4E94-A52D-CCB705C16EF4}"/>
              </a:ext>
            </a:extLst>
          </p:cNvPr>
          <p:cNvSpPr txBox="1"/>
          <p:nvPr/>
        </p:nvSpPr>
        <p:spPr>
          <a:xfrm>
            <a:off x="3175000" y="4699000"/>
            <a:ext cx="1930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Required before custom or AI-assisted analytics, or AI agents using domain data.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4BC1AB-B480-46CD-98E0-3EE3E9A105B8}"/>
              </a:ext>
            </a:extLst>
          </p:cNvPr>
          <p:cNvSpPr/>
          <p:nvPr/>
        </p:nvSpPr>
        <p:spPr>
          <a:xfrm>
            <a:off x="5486400" y="2540000"/>
            <a:ext cx="2336800" cy="4064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16E513-02A9-48AE-95D5-72143B08C465}"/>
              </a:ext>
            </a:extLst>
          </p:cNvPr>
          <p:cNvSpPr txBox="1"/>
          <p:nvPr/>
        </p:nvSpPr>
        <p:spPr>
          <a:xfrm>
            <a:off x="5689600" y="2743200"/>
            <a:ext cx="1930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C700"/>
                </a:solidFill>
                <a:latin typeface="Helvetica World Bold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244A2E-8C4C-47E5-8876-872932EC37EE}"/>
              </a:ext>
            </a:extLst>
          </p:cNvPr>
          <p:cNvSpPr txBox="1"/>
          <p:nvPr/>
        </p:nvSpPr>
        <p:spPr>
          <a:xfrm>
            <a:off x="5689600" y="35560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AI Augmentation Readiness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B58A86-7E08-4D63-905A-EB5F13AF61B5}"/>
              </a:ext>
            </a:extLst>
          </p:cNvPr>
          <p:cNvSpPr/>
          <p:nvPr/>
        </p:nvSpPr>
        <p:spPr>
          <a:xfrm>
            <a:off x="5689600" y="4470400"/>
            <a:ext cx="381000" cy="254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04D902-BA77-4849-A6E5-D1BBE46E9332}"/>
              </a:ext>
            </a:extLst>
          </p:cNvPr>
          <p:cNvSpPr txBox="1"/>
          <p:nvPr/>
        </p:nvSpPr>
        <p:spPr>
          <a:xfrm>
            <a:off x="5689600" y="4699000"/>
            <a:ext cx="1930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Required before AI use beyond low-risk productivity support.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FA2375-8C7B-4A5B-910A-3F4FC5D7D401}"/>
              </a:ext>
            </a:extLst>
          </p:cNvPr>
          <p:cNvSpPr/>
          <p:nvPr/>
        </p:nvSpPr>
        <p:spPr>
          <a:xfrm>
            <a:off x="8001000" y="2540000"/>
            <a:ext cx="2336800" cy="4064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CD85EF-D867-40EA-B239-AA70C0FF8E4C}"/>
              </a:ext>
            </a:extLst>
          </p:cNvPr>
          <p:cNvSpPr txBox="1"/>
          <p:nvPr/>
        </p:nvSpPr>
        <p:spPr>
          <a:xfrm>
            <a:off x="8204200" y="2743200"/>
            <a:ext cx="1930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b="1" dirty="0">
                <a:solidFill>
                  <a:srgbClr val="FFC700"/>
                </a:solidFill>
                <a:latin typeface="Helvetica World Bold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DFFD20-36AA-4745-90D5-DC4F3BAF8749}"/>
              </a:ext>
            </a:extLst>
          </p:cNvPr>
          <p:cNvSpPr txBox="1"/>
          <p:nvPr/>
        </p:nvSpPr>
        <p:spPr>
          <a:xfrm>
            <a:off x="8204200" y="35560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2400"/>
              </a:lnSpc>
            </a:pPr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Agent Readiness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834D803-78DB-4F07-930E-6B0BDBB6A5CD}"/>
              </a:ext>
            </a:extLst>
          </p:cNvPr>
          <p:cNvSpPr/>
          <p:nvPr/>
        </p:nvSpPr>
        <p:spPr>
          <a:xfrm>
            <a:off x="8204200" y="4470400"/>
            <a:ext cx="381000" cy="254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35FCD5-58CF-42A0-9D39-9044AD0A0C8C}"/>
              </a:ext>
            </a:extLst>
          </p:cNvPr>
          <p:cNvSpPr txBox="1"/>
          <p:nvPr/>
        </p:nvSpPr>
        <p:spPr>
          <a:xfrm>
            <a:off x="8204200" y="4699000"/>
            <a:ext cx="19304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Required before any bounded agent is approved.</a:t>
            </a:r>
          </a:p>
        </p:txBody>
      </p:sp>
    </p:spTree>
    <p:extLst>
      <p:ext uri="{BB962C8B-B14F-4D97-AF65-F5344CB8AC3E}">
        <p14:creationId xmlns:p14="http://schemas.microsoft.com/office/powerpoint/2010/main" val="489820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51CA8-8410-4F8E-8220-9DDC2AD89F14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READINESS GATE 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2EA966-900B-459E-A8B1-ACF030136E73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OPERATIONS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65B54E-DA64-4468-B341-AA94E0A822F3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9985CD-68B8-453C-B2CE-27BDE004932C}"/>
              </a:ext>
            </a:extLst>
          </p:cNvPr>
          <p:cNvSpPr/>
          <p:nvPr/>
        </p:nvSpPr>
        <p:spPr>
          <a:xfrm>
            <a:off x="457200" y="1841500"/>
            <a:ext cx="9779000" cy="635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E3208-F437-4D37-8E12-22109D7C95F9}"/>
              </a:ext>
            </a:extLst>
          </p:cNvPr>
          <p:cNvSpPr txBox="1"/>
          <p:nvPr/>
        </p:nvSpPr>
        <p:spPr>
          <a:xfrm>
            <a:off x="711200" y="19685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DO NOT ADVANCE TO ANALYTICS OR AI AUGMENTATION UNTIL...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EF05C4-0B1D-4053-9159-8C1F5BFE6D5A}"/>
              </a:ext>
            </a:extLst>
          </p:cNvPr>
          <p:cNvSpPr/>
          <p:nvPr/>
        </p:nvSpPr>
        <p:spPr>
          <a:xfrm>
            <a:off x="457200" y="2730500"/>
            <a:ext cx="9779000" cy="431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D63E9E-A4E9-4840-BA98-AE1A2C0329C5}"/>
              </a:ext>
            </a:extLst>
          </p:cNvPr>
          <p:cNvSpPr txBox="1"/>
          <p:nvPr/>
        </p:nvSpPr>
        <p:spPr>
          <a:xfrm>
            <a:off x="711200" y="29845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ALL OF THE FOLLOWING ARE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A47201-B3B8-42DB-AD51-0165AA00AA63}"/>
              </a:ext>
            </a:extLst>
          </p:cNvPr>
          <p:cNvSpPr txBox="1"/>
          <p:nvPr/>
        </p:nvSpPr>
        <p:spPr>
          <a:xfrm>
            <a:off x="711200" y="3492500"/>
            <a:ext cx="9271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Process stages and ownership are defined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Control gates and decision rights are explicit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Evidence requirements are known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Exceptions and escalation paths exist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Authority that cannot be delegated is documented</a:t>
            </a:r>
          </a:p>
        </p:txBody>
      </p:sp>
    </p:spTree>
    <p:extLst>
      <p:ext uri="{BB962C8B-B14F-4D97-AF65-F5344CB8AC3E}">
        <p14:creationId xmlns:p14="http://schemas.microsoft.com/office/powerpoint/2010/main" val="643808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754753-4334-4079-B994-84672A58E8D1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READINESS GATE 02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B2DB23-3E18-4DA6-BDC2-89E7FBE164A0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ANALYTICS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572B1A-DC13-4E3C-9180-29E4C5954D25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969B4-651B-44EA-B7F6-5BC9C5AB5E4B}"/>
              </a:ext>
            </a:extLst>
          </p:cNvPr>
          <p:cNvSpPr/>
          <p:nvPr/>
        </p:nvSpPr>
        <p:spPr>
          <a:xfrm>
            <a:off x="457200" y="1841500"/>
            <a:ext cx="9779000" cy="635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87D8F4-CFF5-4690-9B7A-6D3B80F1C5E0}"/>
              </a:ext>
            </a:extLst>
          </p:cNvPr>
          <p:cNvSpPr txBox="1"/>
          <p:nvPr/>
        </p:nvSpPr>
        <p:spPr>
          <a:xfrm>
            <a:off x="711200" y="19685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DO NOT APPROVE CUSTOM, AI-ASSISTED, OR AGENT ANALYTICS UNTIL...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CBEDD8-0907-45C4-BBC2-3E48C415796B}"/>
              </a:ext>
            </a:extLst>
          </p:cNvPr>
          <p:cNvSpPr/>
          <p:nvPr/>
        </p:nvSpPr>
        <p:spPr>
          <a:xfrm>
            <a:off x="457200" y="2730500"/>
            <a:ext cx="9779000" cy="431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13B5E7-FACD-45E0-8312-58B0722E9B2A}"/>
              </a:ext>
            </a:extLst>
          </p:cNvPr>
          <p:cNvSpPr txBox="1"/>
          <p:nvPr/>
        </p:nvSpPr>
        <p:spPr>
          <a:xfrm>
            <a:off x="711200" y="29845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ALL OF THE FOLLOWING ARE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7DA5D5-34DE-46A0-B071-A3E449467E93}"/>
              </a:ext>
            </a:extLst>
          </p:cNvPr>
          <p:cNvSpPr txBox="1"/>
          <p:nvPr/>
        </p:nvSpPr>
        <p:spPr>
          <a:xfrm>
            <a:off x="711200" y="3492500"/>
            <a:ext cx="9271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Native reporting has been assessed first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Source systems and authoritative data are identified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Metrics, grain, filters, and definitions are approved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Lineage and data quality controls are defined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Access, extract, sharing, and retention controls are in place</a:t>
            </a:r>
          </a:p>
        </p:txBody>
      </p:sp>
    </p:spTree>
    <p:extLst>
      <p:ext uri="{BB962C8B-B14F-4D97-AF65-F5344CB8AC3E}">
        <p14:creationId xmlns:p14="http://schemas.microsoft.com/office/powerpoint/2010/main" val="34927899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4AC9D3-3B00-47FB-8208-8241EA83FBD0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READINESS GATE 03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D608B-FAC6-48FC-9D60-42D9327F03B6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AI AUGMENTATION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8EEA21-C531-41F3-8DF1-A7B8BDA080CC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2C183B-0C04-48B5-9578-F84BE08EFC06}"/>
              </a:ext>
            </a:extLst>
          </p:cNvPr>
          <p:cNvSpPr/>
          <p:nvPr/>
        </p:nvSpPr>
        <p:spPr>
          <a:xfrm>
            <a:off x="457200" y="1841500"/>
            <a:ext cx="9779000" cy="635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1A08A6-68ED-4A91-9C65-EDE7E335AA58}"/>
              </a:ext>
            </a:extLst>
          </p:cNvPr>
          <p:cNvSpPr txBox="1"/>
          <p:nvPr/>
        </p:nvSpPr>
        <p:spPr>
          <a:xfrm>
            <a:off x="711200" y="19685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DO NOT APPROVE AI USE BEYOND LOW-RISK PRODUCTIVITY UNTIL...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90BA06-9528-4329-BBA2-910E524E7897}"/>
              </a:ext>
            </a:extLst>
          </p:cNvPr>
          <p:cNvSpPr/>
          <p:nvPr/>
        </p:nvSpPr>
        <p:spPr>
          <a:xfrm>
            <a:off x="457200" y="2730500"/>
            <a:ext cx="9779000" cy="431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28D3B2-EF07-4582-A9B7-DFE98FC78408}"/>
              </a:ext>
            </a:extLst>
          </p:cNvPr>
          <p:cNvSpPr txBox="1"/>
          <p:nvPr/>
        </p:nvSpPr>
        <p:spPr>
          <a:xfrm>
            <a:off x="711200" y="29845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ALL OF THE FOLLOWING ARE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1B3D6-D5DD-4A1A-A0C2-E281087B10F3}"/>
              </a:ext>
            </a:extLst>
          </p:cNvPr>
          <p:cNvSpPr txBox="1"/>
          <p:nvPr/>
        </p:nvSpPr>
        <p:spPr>
          <a:xfrm>
            <a:off x="711200" y="3492500"/>
            <a:ext cx="9271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Safe-use category is assigned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Data access and use are approved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Human review is defined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Control impact is assessed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Evidence retention is defined</a:t>
            </a:r>
          </a:p>
          <a:p>
            <a:pPr marL="228600" indent="-228600" algn="l">
              <a:lnSpc>
                <a:spcPts val="2000"/>
              </a:lnSpc>
              <a:spcBef>
                <a:spcPts val="600"/>
              </a:spcBef>
              <a:buFont typeface="Arial"/>
              <a:buChar char="•"/>
            </a:pPr>
            <a:r>
              <a:rPr lang="en-US" sz="1500" dirty="0">
                <a:solidFill>
                  <a:srgbClr val="1E1A1B"/>
                </a:solidFill>
                <a:latin typeface="Helvetica World"/>
              </a:rPr>
              <a:t>Monitoring and recertification expectations are set</a:t>
            </a:r>
          </a:p>
        </p:txBody>
      </p:sp>
    </p:spTree>
    <p:extLst>
      <p:ext uri="{BB962C8B-B14F-4D97-AF65-F5344CB8AC3E}">
        <p14:creationId xmlns:p14="http://schemas.microsoft.com/office/powerpoint/2010/main" val="2265825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8B515C-991A-4AB1-B7CC-1955F21414FB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READINESS GATE 04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44F8E6-FC2D-4F3E-B30E-DF0385C0CEFE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AGENT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READINESS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CF76E-0EDD-4353-95E9-392A25E24D64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28E956-D946-4390-A5F0-27F99AE2965E}"/>
              </a:ext>
            </a:extLst>
          </p:cNvPr>
          <p:cNvSpPr/>
          <p:nvPr/>
        </p:nvSpPr>
        <p:spPr>
          <a:xfrm>
            <a:off x="457200" y="1841500"/>
            <a:ext cx="9779000" cy="635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D57DFD-B0F4-4130-9136-7C9E65FFF7BF}"/>
              </a:ext>
            </a:extLst>
          </p:cNvPr>
          <p:cNvSpPr txBox="1"/>
          <p:nvPr/>
        </p:nvSpPr>
        <p:spPr>
          <a:xfrm>
            <a:off x="711200" y="1968500"/>
            <a:ext cx="9398000" cy="381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DO NOT APPROVE A BOUNDED AGENT UNTIL...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60FB21-9452-4E1F-BD82-D6111880639F}"/>
              </a:ext>
            </a:extLst>
          </p:cNvPr>
          <p:cNvSpPr/>
          <p:nvPr/>
        </p:nvSpPr>
        <p:spPr>
          <a:xfrm>
            <a:off x="457200" y="2730500"/>
            <a:ext cx="9779000" cy="4318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68000-B463-47CF-BBF5-E7B2DFD94AA6}"/>
              </a:ext>
            </a:extLst>
          </p:cNvPr>
          <p:cNvSpPr txBox="1"/>
          <p:nvPr/>
        </p:nvSpPr>
        <p:spPr>
          <a:xfrm>
            <a:off x="711200" y="29845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ALL OF THE FOLLOWING ARE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75BBF0-E3B0-40B2-9A73-CC36C704D6BD}"/>
              </a:ext>
            </a:extLst>
          </p:cNvPr>
          <p:cNvSpPr txBox="1"/>
          <p:nvPr/>
        </p:nvSpPr>
        <p:spPr>
          <a:xfrm>
            <a:off x="711200" y="3492500"/>
            <a:ext cx="9271000" cy="342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Agent purpose and scope are bounded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Inputs, outputs, tools, permissions, and blocked actions are defined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Human approval gates exist before material finance, accounting, compliance, external, or system-changing actions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Testing covers expected use, edge cases, misuse, permission limits, and recovery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Logs, monitoring, incident handling, and recertification are defined</a:t>
            </a:r>
          </a:p>
        </p:txBody>
      </p:sp>
    </p:spTree>
    <p:extLst>
      <p:ext uri="{BB962C8B-B14F-4D97-AF65-F5344CB8AC3E}">
        <p14:creationId xmlns:p14="http://schemas.microsoft.com/office/powerpoint/2010/main" val="580065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EC406E-7513-40B8-BACC-195DB82EE9F9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FIRST WORKED EXAMPLE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E7DE2-02C4-48F1-B398-C24C2DB39713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Why AP is the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proving ground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057478-7C10-4223-8A51-B2F0628E1B97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6D2B7D-3CD6-4AFC-BDEF-6342F3572535}"/>
              </a:ext>
            </a:extLst>
          </p:cNvPr>
          <p:cNvSpPr/>
          <p:nvPr/>
        </p:nvSpPr>
        <p:spPr>
          <a:xfrm>
            <a:off x="457200" y="1841500"/>
            <a:ext cx="2336800" cy="1397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C618D7-971E-46FD-B173-A69E02236335}"/>
              </a:ext>
            </a:extLst>
          </p:cNvPr>
          <p:cNvSpPr txBox="1"/>
          <p:nvPr/>
        </p:nvSpPr>
        <p:spPr>
          <a:xfrm>
            <a:off x="660400" y="20193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7E8670-C3F9-4D0C-803D-CF5BF5411364}"/>
              </a:ext>
            </a:extLst>
          </p:cNvPr>
          <p:cNvSpPr txBox="1"/>
          <p:nvPr/>
        </p:nvSpPr>
        <p:spPr>
          <a:xfrm>
            <a:off x="660400" y="23749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Control-heavy and evidence-rich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8BBFA7-BD51-4464-880D-570889E7B18E}"/>
              </a:ext>
            </a:extLst>
          </p:cNvPr>
          <p:cNvSpPr/>
          <p:nvPr/>
        </p:nvSpPr>
        <p:spPr>
          <a:xfrm>
            <a:off x="2971800" y="1841500"/>
            <a:ext cx="2336800" cy="1397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FF3999-1F6A-4923-AF3B-725DB5B14F27}"/>
              </a:ext>
            </a:extLst>
          </p:cNvPr>
          <p:cNvSpPr txBox="1"/>
          <p:nvPr/>
        </p:nvSpPr>
        <p:spPr>
          <a:xfrm>
            <a:off x="3175000" y="20193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02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5DCC5C-F953-4A6B-8D52-AAA2E432F6F2}"/>
              </a:ext>
            </a:extLst>
          </p:cNvPr>
          <p:cNvSpPr txBox="1"/>
          <p:nvPr/>
        </p:nvSpPr>
        <p:spPr>
          <a:xfrm>
            <a:off x="3175000" y="23749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Exception-prone and data-sensitive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765928-D460-4E72-90B2-69202492C8AD}"/>
              </a:ext>
            </a:extLst>
          </p:cNvPr>
          <p:cNvSpPr/>
          <p:nvPr/>
        </p:nvSpPr>
        <p:spPr>
          <a:xfrm>
            <a:off x="5486400" y="1841500"/>
            <a:ext cx="2336800" cy="1397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ECF3D9-9AE1-419E-8693-0676AFFB8E7B}"/>
              </a:ext>
            </a:extLst>
          </p:cNvPr>
          <p:cNvSpPr txBox="1"/>
          <p:nvPr/>
        </p:nvSpPr>
        <p:spPr>
          <a:xfrm>
            <a:off x="5689600" y="20193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03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613DED-0ACA-4425-91A8-95B3B0B63A98}"/>
              </a:ext>
            </a:extLst>
          </p:cNvPr>
          <p:cNvSpPr txBox="1"/>
          <p:nvPr/>
        </p:nvSpPr>
        <p:spPr>
          <a:xfrm>
            <a:off x="5689600" y="23749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Clear operating gates from intake to post-payment review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112E17-3113-4638-B7C5-A0F9FBA327E6}"/>
              </a:ext>
            </a:extLst>
          </p:cNvPr>
          <p:cNvSpPr/>
          <p:nvPr/>
        </p:nvSpPr>
        <p:spPr>
          <a:xfrm>
            <a:off x="8001000" y="1841500"/>
            <a:ext cx="2336800" cy="13970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28582A-01F2-4693-A171-D1BC5D87A233}"/>
              </a:ext>
            </a:extLst>
          </p:cNvPr>
          <p:cNvSpPr txBox="1"/>
          <p:nvPr/>
        </p:nvSpPr>
        <p:spPr>
          <a:xfrm>
            <a:off x="8204200" y="2019300"/>
            <a:ext cx="50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800" b="1" dirty="0">
                <a:solidFill>
                  <a:srgbClr val="003D60"/>
                </a:solidFill>
                <a:latin typeface="Helvetica World Bold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61D6571-99F8-4EBA-BC7B-444C11C24EFC}"/>
              </a:ext>
            </a:extLst>
          </p:cNvPr>
          <p:cNvSpPr txBox="1"/>
          <p:nvPr/>
        </p:nvSpPr>
        <p:spPr>
          <a:xfrm>
            <a:off x="8204200" y="2374900"/>
            <a:ext cx="1930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Strong native reporting, lineage, and metric dependencies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C60B04-9CEA-445F-90FD-015E8010C0E1}"/>
              </a:ext>
            </a:extLst>
          </p:cNvPr>
          <p:cNvSpPr/>
          <p:nvPr/>
        </p:nvSpPr>
        <p:spPr>
          <a:xfrm>
            <a:off x="457200" y="3619500"/>
            <a:ext cx="9779000" cy="3429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D93380-D64A-4441-A68D-98DEE42E04E6}"/>
              </a:ext>
            </a:extLst>
          </p:cNvPr>
          <p:cNvSpPr txBox="1"/>
          <p:nvPr/>
        </p:nvSpPr>
        <p:spPr>
          <a:xfrm>
            <a:off x="711200" y="38735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AP EXPOSES AI RISK CLEARLY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F27065D-4DCB-49FE-8C6B-306CE91E62B6}"/>
              </a:ext>
            </a:extLst>
          </p:cNvPr>
          <p:cNvSpPr txBox="1"/>
          <p:nvPr/>
        </p:nvSpPr>
        <p:spPr>
          <a:xfrm>
            <a:off x="711200" y="4381500"/>
            <a:ext cx="9271000" cy="254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Supplier, bank, and tax data sensitivity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Payment decisions and duplicate-pay risk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Approval evidence and segregation of duties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Agentic action boundaries on payment execution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Arial"/>
              <a:buChar char="•"/>
            </a:pPr>
            <a:r>
              <a:rPr lang="en-US" sz="1400" dirty="0">
                <a:solidFill>
                  <a:srgbClr val="1E1A1B"/>
                </a:solidFill>
                <a:latin typeface="Helvetica World"/>
              </a:rPr>
              <a:t>Native Oracle reporting, metric definitions, and governed extensions</a:t>
            </a:r>
          </a:p>
        </p:txBody>
      </p:sp>
    </p:spTree>
    <p:extLst>
      <p:ext uri="{BB962C8B-B14F-4D97-AF65-F5344CB8AC3E}">
        <p14:creationId xmlns:p14="http://schemas.microsoft.com/office/powerpoint/2010/main" val="1645963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062432-6AF2-420A-B16A-3E7D7086C764}"/>
              </a:ext>
            </a:extLst>
          </p:cNvPr>
          <p:cNvSpPr txBox="1"/>
          <p:nvPr/>
        </p:nvSpPr>
        <p:spPr>
          <a:xfrm>
            <a:off x="457200" y="381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REUSABLE DOMAIN CHECKLIST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AD452-6D84-4BC0-982C-2B06B890585F}"/>
              </a:ext>
            </a:extLst>
          </p:cNvPr>
          <p:cNvSpPr txBox="1"/>
          <p:nvPr/>
        </p:nvSpPr>
        <p:spPr>
          <a:xfrm>
            <a:off x="457200" y="736600"/>
            <a:ext cx="977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  <a:latin typeface="Helvetica World"/>
              </a:rPr>
              <a:t>Apply to any new </a:t>
            </a:r>
            <a:r>
              <a:rPr lang="en-US" sz="3200" dirty="0">
                <a:solidFill>
                  <a:srgbClr val="FFC700"/>
                </a:solidFill>
                <a:latin typeface="Helvetica World"/>
              </a:rPr>
              <a:t>Finance &amp; Accounting domain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38824D-D64D-4C87-8C94-ECAED65D398D}"/>
              </a:ext>
            </a:extLst>
          </p:cNvPr>
          <p:cNvSpPr/>
          <p:nvPr/>
        </p:nvSpPr>
        <p:spPr>
          <a:xfrm>
            <a:off x="457200" y="1473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D7561A-93E4-4449-9AE5-63A2A6C2B1B2}"/>
              </a:ext>
            </a:extLst>
          </p:cNvPr>
          <p:cNvSpPr/>
          <p:nvPr/>
        </p:nvSpPr>
        <p:spPr>
          <a:xfrm>
            <a:off x="457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3C327E-08EE-412B-B2F0-58A885584B31}"/>
              </a:ext>
            </a:extLst>
          </p:cNvPr>
          <p:cNvSpPr txBox="1"/>
          <p:nvPr/>
        </p:nvSpPr>
        <p:spPr>
          <a:xfrm>
            <a:off x="711200" y="2095500"/>
            <a:ext cx="4318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Domain scope and objective are defined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Accountable owner, sponsor, reviewers, approvers are named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Operations Architecture is documented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Analytics Architecture is documented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Shared Governance Controls are applied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Sensitive and restricted data categories are classified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DDFB6C-9BAB-41E8-94D7-875DCF417DA1}"/>
              </a:ext>
            </a:extLst>
          </p:cNvPr>
          <p:cNvSpPr/>
          <p:nvPr/>
        </p:nvSpPr>
        <p:spPr>
          <a:xfrm>
            <a:off x="5410200" y="1841500"/>
            <a:ext cx="4826000" cy="5207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25CD31-8702-4365-A2AC-1589245EDE9F}"/>
              </a:ext>
            </a:extLst>
          </p:cNvPr>
          <p:cNvSpPr txBox="1"/>
          <p:nvPr/>
        </p:nvSpPr>
        <p:spPr>
          <a:xfrm>
            <a:off x="5664200" y="2095500"/>
            <a:ext cx="4318000" cy="469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Native system and reporting capability is assessed first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Approved metrics, definitions, lineage, and quality rules are documented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AI safe-use categories and intake routing are defined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AI risk and control mapping is completed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Agent readiness is completed before any pilot</a:t>
            </a:r>
          </a:p>
          <a:p>
            <a:pPr marL="228600" indent="-228600" algn="l">
              <a:lnSpc>
                <a:spcPts val="1900"/>
              </a:lnSpc>
              <a:spcBef>
                <a:spcPts val="500"/>
              </a:spcBef>
              <a:buFont typeface="Wingdings"/>
              <a:buChar char="¨"/>
            </a:pPr>
            <a:r>
              <a:rPr lang="en-US" sz="1300" dirty="0">
                <a:solidFill>
                  <a:srgbClr val="1E1A1B"/>
                </a:solidFill>
                <a:latin typeface="Helvetica World"/>
              </a:rPr>
              <a:t>Monitoring, exceptions, incidents, and lifecycle review are defined</a:t>
            </a:r>
          </a:p>
        </p:txBody>
      </p:sp>
    </p:spTree>
    <p:extLst>
      <p:ext uri="{BB962C8B-B14F-4D97-AF65-F5344CB8AC3E}">
        <p14:creationId xmlns:p14="http://schemas.microsoft.com/office/powerpoint/2010/main" val="28920636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D6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1D0D0B-6FD4-4354-9B3A-B6E418753B39}"/>
              </a:ext>
            </a:extLst>
          </p:cNvPr>
          <p:cNvSpPr/>
          <p:nvPr/>
        </p:nvSpPr>
        <p:spPr>
          <a:xfrm>
            <a:off x="457200" y="457200"/>
            <a:ext cx="762000" cy="50800"/>
          </a:xfrm>
          <a:prstGeom prst="rect">
            <a:avLst/>
          </a:prstGeom>
          <a:solidFill>
            <a:srgbClr val="FFC700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F67709-F43D-4B6C-AABD-76A7F56EF982}"/>
              </a:ext>
            </a:extLst>
          </p:cNvPr>
          <p:cNvSpPr txBox="1"/>
          <p:nvPr/>
        </p:nvSpPr>
        <p:spPr>
          <a:xfrm>
            <a:off x="457200" y="6350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 dirty="0">
                <a:solidFill>
                  <a:srgbClr val="FFC700"/>
                </a:solidFill>
                <a:latin typeface="Helvetica World Bold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FC1A3-2339-4B94-9B1F-2B7C11A23170}"/>
              </a:ext>
            </a:extLst>
          </p:cNvPr>
          <p:cNvSpPr txBox="1"/>
          <p:nvPr/>
        </p:nvSpPr>
        <p:spPr>
          <a:xfrm>
            <a:off x="457200" y="2032000"/>
            <a:ext cx="977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Helvetica World"/>
              </a:rPr>
              <a:t>Prove the architecture with </a:t>
            </a:r>
            <a:r>
              <a:rPr lang="en-US" sz="3600" dirty="0">
                <a:solidFill>
                  <a:srgbClr val="FFC700"/>
                </a:solidFill>
                <a:latin typeface="Helvetica World"/>
              </a:rPr>
              <a:t>AP.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E8EE76-7B83-4DA2-A120-9D63A6D33205}"/>
              </a:ext>
            </a:extLst>
          </p:cNvPr>
          <p:cNvSpPr txBox="1"/>
          <p:nvPr/>
        </p:nvSpPr>
        <p:spPr>
          <a:xfrm>
            <a:off x="457200" y="2794000"/>
            <a:ext cx="977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3600" dirty="0">
                <a:solidFill>
                  <a:srgbClr val="FFFFFF"/>
                </a:solidFill>
                <a:latin typeface="Helvetica World"/>
              </a:rPr>
              <a:t>Then </a:t>
            </a:r>
            <a:r>
              <a:rPr lang="en-US" sz="3600" dirty="0">
                <a:solidFill>
                  <a:srgbClr val="FFC700"/>
                </a:solidFill>
                <a:latin typeface="Helvetica World"/>
              </a:rPr>
              <a:t>extend</a:t>
            </a:r>
            <a:r>
              <a:rPr lang="en-US" sz="3600" dirty="0">
                <a:solidFill>
                  <a:srgbClr val="FFFFFF"/>
                </a:solidFill>
                <a:latin typeface="Helvetica World"/>
              </a:rPr>
              <a:t> to other domains.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E9742-2222-4F38-ACBA-7FC7415CE4D1}"/>
              </a:ext>
            </a:extLst>
          </p:cNvPr>
          <p:cNvSpPr/>
          <p:nvPr/>
        </p:nvSpPr>
        <p:spPr>
          <a:xfrm>
            <a:off x="457200" y="4318000"/>
            <a:ext cx="9779000" cy="2540000"/>
          </a:xfrm>
          <a:prstGeom prst="rect">
            <a:avLst/>
          </a:prstGeom>
          <a:solidFill>
            <a:srgbClr val="FFFFFF"/>
          </a:solidFill>
          <a:ln w="25400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140A02-4AB0-4F2D-9BD3-BF5A9B0AB7EA}"/>
              </a:ext>
            </a:extLst>
          </p:cNvPr>
          <p:cNvSpPr txBox="1"/>
          <p:nvPr/>
        </p:nvSpPr>
        <p:spPr>
          <a:xfrm>
            <a:off x="711200" y="4546600"/>
            <a:ext cx="9271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 dirty="0">
                <a:solidFill>
                  <a:srgbClr val="003D60"/>
                </a:solidFill>
                <a:latin typeface="Helvetica World Bold"/>
              </a:rPr>
              <a:t>DOCUMENT CONTROL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5F18ED-749A-4D8D-BD47-11E058ED0026}"/>
              </a:ext>
            </a:extLst>
          </p:cNvPr>
          <p:cNvSpPr txBox="1"/>
          <p:nvPr/>
        </p:nvSpPr>
        <p:spPr>
          <a:xfrm>
            <a:off x="711200" y="5080000"/>
            <a:ext cx="4572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Document title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Finance &amp; Accounting Domain Governance Architecture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Version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1.0 Draft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Status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Draft reference architecture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Owner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Finance Governance owner — TBA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E209E0-39C1-486E-B4C4-8F43B255E2FC}"/>
              </a:ext>
            </a:extLst>
          </p:cNvPr>
          <p:cNvSpPr txBox="1"/>
          <p:nvPr/>
        </p:nvSpPr>
        <p:spPr>
          <a:xfrm>
            <a:off x="5537200" y="5080000"/>
            <a:ext cx="4445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Approval authority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Finance Data Governance Council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Effective date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Assigned at approval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Review cadence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Annual or upon material change</a:t>
            </a:r>
          </a:p>
          <a:p>
            <a:pPr algn="l">
              <a:lnSpc>
                <a:spcPts val="1700"/>
              </a:lnSpc>
              <a:spcBef>
                <a:spcPts val="300"/>
              </a:spcBef>
            </a:pPr>
            <a:r>
              <a:rPr lang="en-US" sz="1300" b="1" dirty="0">
                <a:solidFill>
                  <a:srgbClr val="003D60"/>
                </a:solidFill>
                <a:latin typeface="Helvetica World Bold"/>
              </a:rPr>
              <a:t>Worked example  </a:t>
            </a:r>
            <a:r>
              <a:rPr lang="en-US" sz="1300" dirty="0">
                <a:solidFill>
                  <a:srgbClr val="1E1A1B"/>
                </a:solidFill>
                <a:latin typeface="Helvetica World"/>
              </a:rPr>
              <a:t>AP Finance AI Governance Bundle</a:t>
            </a:r>
          </a:p>
        </p:txBody>
      </p:sp>
    </p:spTree>
    <p:extLst>
      <p:ext uri="{BB962C8B-B14F-4D97-AF65-F5344CB8AC3E}">
        <p14:creationId xmlns:p14="http://schemas.microsoft.com/office/powerpoint/2010/main" val="3644631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93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0888FCD-7EF2-4F21-9EB4-63E3CC1437B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8feb0e-8435-4fb3-81fc-333aaffaa07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1275</Words>
  <Application>Microsoft Office PowerPoint</Application>
  <PresentationFormat>Custom</PresentationFormat>
  <Paragraphs>228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Wingdings</vt:lpstr>
      <vt:lpstr>Calibri</vt:lpstr>
      <vt:lpstr>Helvetica World</vt:lpstr>
      <vt:lpstr>Arial</vt:lpstr>
      <vt:lpstr>Helvetica World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Data Governance Framework Slides</dc:title>
  <dc:creator>Brian John</dc:creator>
  <cp:lastModifiedBy>Brian John</cp:lastModifiedBy>
  <cp:revision>2</cp:revision>
  <dcterms:created xsi:type="dcterms:W3CDTF">2006-08-16T00:00:00Z</dcterms:created>
  <dcterms:modified xsi:type="dcterms:W3CDTF">2026-05-09T21:42:47Z</dcterms:modified>
  <dc:identifier>DAHJNKye2Yw</dc:identifier>
</cp:coreProperties>
</file>