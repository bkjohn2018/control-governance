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3"/>
  </p:notesMasterIdLst>
  <p:sldIdLst>
    <p:sldId id="268" r:id="rId2"/>
    <p:sldId id="269" r:id="rId3"/>
    <p:sldId id="258" r:id="rId4"/>
    <p:sldId id="259" r:id="rId5"/>
    <p:sldId id="260" r:id="rId6"/>
    <p:sldId id="270" r:id="rId7"/>
    <p:sldId id="274" r:id="rId8"/>
    <p:sldId id="272" r:id="rId9"/>
    <p:sldId id="264" r:id="rId10"/>
    <p:sldId id="275" r:id="rId11"/>
    <p:sldId id="27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576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Footer Rule"/>
          <p:cNvSpPr/>
          <p:nvPr/>
        </p:nvSpPr>
        <p:spPr>
          <a:xfrm>
            <a:off x="457200" y="4876800"/>
            <a:ext cx="8229600" cy="9525"/>
          </a:xfrm>
          <a:prstGeom prst="rect">
            <a:avLst/>
          </a:prstGeom>
          <a:solidFill>
            <a:srgbClr val="C2D2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Footer Label"/>
          <p:cNvSpPr/>
          <p:nvPr/>
        </p:nvSpPr>
        <p:spPr>
          <a:xfrm>
            <a:off x="457200" y="4902200"/>
            <a:ext cx="5334000" cy="203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100">
                <a:solidFill>
                  <a:srgbClr val="6B7C93"/>
                </a:solidFill>
              </a:rPr>
              <a:t>CapEx Master Data Governance  ·  Council Kickoff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B3A5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12800"/>
            <a:ext cx="7772400" cy="1092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</a:rPr>
              <a:t>CapEx Master Data Governance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955800"/>
            <a:ext cx="7772400" cy="4318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6B7C93"/>
                </a:solidFill>
              </a:rPr>
              <a:t>Council Kickoff</a:t>
            </a:r>
          </a:p>
        </p:txBody>
      </p:sp>
      <p:sp>
        <p:nvSpPr>
          <p:cNvPr id="5" name="Text 3"/>
          <p:cNvSpPr/>
          <p:nvPr/>
        </p:nvSpPr>
        <p:spPr>
          <a:xfrm>
            <a:off x="609600" y="3556000"/>
            <a:ext cx="7772400" cy="2794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B3A55"/>
                </a:solidFill>
              </a:rPr>
              <a:t>Meeting date: [TBD]  |  Audience: CapEx committee, domain owners, data stewards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4191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</a:rPr>
              <a:t>Source: control-governance / architecture / capex-master-data-management-framework.md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D05B86-8139-4088-938D-31DCBCF7CFCA}"/>
              </a:ext>
            </a:extLst>
          </p:cNvPr>
          <p:cNvSpPr/>
          <p:nvPr/>
        </p:nvSpPr>
        <p:spPr>
          <a:xfrm>
            <a:off x="0" y="0"/>
            <a:ext cx="127000" cy="51435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E786D7-8806-4DFC-A2C0-6FB29010E52F}"/>
              </a:ext>
            </a:extLst>
          </p:cNvPr>
          <p:cNvSpPr/>
          <p:nvPr/>
        </p:nvSpPr>
        <p:spPr>
          <a:xfrm>
            <a:off x="609600" y="508000"/>
            <a:ext cx="7874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2F6FB0"/>
                </a:solidFill>
              </a:rPr>
              <a:t>CAPEX COMMITTEE BRIEFING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E5915F-4725-4F99-BFF7-A9A0734CAC07}"/>
              </a:ext>
            </a:extLst>
          </p:cNvPr>
          <p:cNvSpPr/>
          <p:nvPr/>
        </p:nvSpPr>
        <p:spPr>
          <a:xfrm>
            <a:off x="609600" y="2514600"/>
            <a:ext cx="3810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EA97E-A4C4-4C68-B7CF-1123362182D5}"/>
              </a:ext>
            </a:extLst>
          </p:cNvPr>
          <p:cNvSpPr/>
          <p:nvPr/>
        </p:nvSpPr>
        <p:spPr>
          <a:xfrm>
            <a:off x="609600" y="2692400"/>
            <a:ext cx="7772400" cy="685800"/>
          </a:xfrm>
          <a:prstGeom prst="rect">
            <a:avLst/>
          </a:prstGeom>
          <a:solidFill>
            <a:srgbClr val="EAF0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B2A4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5BB9BA-C8A8-448D-BEE1-6ACAB736455A}"/>
              </a:ext>
            </a:extLst>
          </p:cNvPr>
          <p:cNvSpPr/>
          <p:nvPr/>
        </p:nvSpPr>
        <p:spPr>
          <a:xfrm>
            <a:off x="609600" y="2692400"/>
            <a:ext cx="63500" cy="6858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8200" y="2692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</a:rPr>
              <a:t>Purpose: Ratify CapEx MDM framework, confirm ownership, approve Phase 0–1 mobilization</a:t>
            </a:r>
          </a:p>
        </p:txBody>
      </p:sp>
    </p:spTree>
    <p:extLst>
      <p:ext uri="{BB962C8B-B14F-4D97-AF65-F5344CB8AC3E}">
        <p14:creationId xmlns:p14="http://schemas.microsoft.com/office/powerpoint/2010/main" val="340773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Cross-domain master data breaks at handoffs — not inside Oracle modules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EXECUTIVE TAKEAWAY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954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Bef>
                <a:spcPts val="9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Segoe UI Semibold"/>
              </a:rPr>
              <a:t>Controls exist, continuity doesn't — </a:t>
            </a:r>
            <a:r>
              <a:rPr lang="en-US" sz="1600" dirty="0">
                <a:solidFill>
                  <a:srgbClr val="2B3445"/>
                </a:solidFill>
                <a:latin typeface="Segoe UI"/>
              </a:rPr>
              <a:t>Domain CapEx controls already operate in Procurement, Projects, AP, and Fixed Assets; the gap is identifier continuity across boundaries.</a:t>
            </a:r>
          </a:p>
          <a:p>
            <a:pPr marL="285750" indent="-285750">
              <a:spcBef>
                <a:spcPts val="9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Segoe UI Semibold"/>
              </a:rPr>
              <a:t>Fix the chain before new tooling — </a:t>
            </a:r>
            <a:r>
              <a:rPr lang="en-US" sz="1600" dirty="0">
                <a:solidFill>
                  <a:srgbClr val="2B3445"/>
                </a:solidFill>
                <a:latin typeface="Segoe UI"/>
              </a:rPr>
              <a:t>Five global identifiers (CapExInvestmentID, ProjectNumber, GlobalAssetTag, SupplierPartyNumber, LocationCode) and ten enterprise DQ rules (MDQ-01–10).</a:t>
            </a:r>
          </a:p>
          <a:p>
            <a:pPr marL="285750" indent="-285750">
              <a:spcBef>
                <a:spcPts val="9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Segoe UI Semibold"/>
              </a:rPr>
              <a:t>Highest near-term value — </a:t>
            </a:r>
            <a:r>
              <a:rPr lang="en-US" sz="1600" dirty="0">
                <a:solidFill>
                  <a:srgbClr val="2B3445"/>
                </a:solidFill>
                <a:latin typeface="Segoe UI"/>
              </a:rPr>
              <a:t>L4→L5 investment-to-project linkage and MDQ-01/02 enforcement at requisition.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FD92E-0C57-485C-8B46-552FD33BFBDA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6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Approve framework, name the chair, and fund Phase 0–1 only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DECISION REQUESTS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142674"/>
              </p:ext>
            </p:extLst>
          </p:nvPr>
        </p:nvGraphicFramePr>
        <p:xfrm>
          <a:off x="457200" y="1270000"/>
          <a:ext cx="8216900" cy="309880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#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Decision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Options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Recommended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Adopt CapEx MDM framework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Approve / Revise / Defer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Approve MDM-1–10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Name MDM Council chair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Finance / PMO nominee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CapEx process owner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Ratify identifier policy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Approve / Workshop formats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Approve; workshop in Phase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Upstream pattern L1–L4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A: EPM · B: PPM · C: Intake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Time-box to Phase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Fund mobilization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Yes / No / Partial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Yes — weeks 1–10 only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988ABE3-2C5B-49F9-B08F-BDAE9C15E7F9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Metrics are defined — baseline and enforce are the gaps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KPI AND CONTROL HEALTH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501413"/>
              </p:ext>
            </p:extLst>
          </p:nvPr>
        </p:nvGraphicFramePr>
        <p:xfrm>
          <a:off x="457200" y="1270000"/>
          <a:ext cx="8229600" cy="3073400"/>
        </p:xfrm>
        <a:graphic>
          <a:graphicData uri="http://schemas.openxmlformats.org/drawingml/2006/table">
            <a:tbl>
              <a:tblPr/>
              <a:tblGrid>
                <a:gridCol w="386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KPI / control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Target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Current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CXM-01 Reqs w/ valid project + category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≥ 95%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baselined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Phase 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CXM-03 CIP aging &gt; 90 days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&lt; 10%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baselined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Phase 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CXM-05 FA–GL recon exceptions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0 material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baselined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Per close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MDQ-01 Valid ProjectNumber + task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enforced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Phase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MDQ-10 Investment ID traceable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enforced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Phase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Handoff SLA H-01–H-06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≥ 90%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measured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CXM-07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5EC6A98-94CD-4458-A613-6E53C18D047E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Seven open risks — three are high severity at capitalization and authorization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TOP RISKS AND ISSUE STATUS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83244"/>
              </p:ext>
            </p:extLst>
          </p:nvPr>
        </p:nvGraphicFramePr>
        <p:xfrm>
          <a:off x="457200" y="1270000"/>
          <a:ext cx="8229600" cy="3048000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Risk / issue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Sev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Owner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ETA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Investment ID not on project (L4→L5)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Segoe UI"/>
                          <a:cs typeface="Segoe UI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CapEx owner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Open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Duplicate asset cap (MDQ-09)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Segoe UI"/>
                          <a:cs typeface="Segoe UI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Asset Acct Mgr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Manual only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Opex on CapEx req (MDQ-02)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Segoe UI"/>
                          <a:cs typeface="Segoe UI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Controllership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Not blocked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Duplicate / unqualified supplier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7860B"/>
                          </a:solidFill>
                          <a:latin typeface="Segoe UI"/>
                          <a:cs typeface="Segoe UI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Supplier MDM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Partial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CIP not cleared after PIS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7860B"/>
                          </a:solidFill>
                          <a:latin typeface="Segoe UI"/>
                          <a:cs typeface="Segoe UI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Asset Accountant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Open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Upstream pattern undecided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7860B"/>
                          </a:solidFill>
                          <a:latin typeface="Segoe UI"/>
                          <a:cs typeface="Segoe UI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CFO delegate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Open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CapEx funnel distrusted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7860B"/>
                          </a:solidFill>
                          <a:latin typeface="Segoe UI"/>
                          <a:cs typeface="Segoe UI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Controllership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No lineage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Wk 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15ED216-1501-46ED-84E7-5B28AD532B27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Boundary master data fails — not in-domain quality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ROOT-CAUSE THEMES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954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Bef>
                <a:spcPts val="7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Segoe UI Semibold"/>
              </a:rPr>
              <a:t>No golden keys — </a:t>
            </a:r>
            <a:r>
              <a:rPr lang="en-US" sz="1500" dirty="0">
                <a:solidFill>
                  <a:srgbClr val="2B3445"/>
                </a:solidFill>
                <a:latin typeface="Segoe UI"/>
              </a:rPr>
              <a:t>H-01–H-06 fail when CapExInvestmentID, ProjectNumber, or GlobalAssetTag break.</a:t>
            </a:r>
          </a:p>
          <a:p>
            <a:pPr marL="285750" indent="-285750">
              <a:spcBef>
                <a:spcPts val="7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Segoe UI Semibold"/>
              </a:rPr>
              <a:t>Strong domain MD, weak boundary MD — </a:t>
            </a:r>
            <a:r>
              <a:rPr lang="en-US" sz="1500" dirty="0">
                <a:solidFill>
                  <a:srgbClr val="2B3445"/>
                </a:solidFill>
                <a:latin typeface="Segoe UI"/>
              </a:rPr>
              <a:t>enterprise MDQ-01–10 not operational across handoffs.</a:t>
            </a:r>
          </a:p>
          <a:p>
            <a:pPr marL="285750" indent="-285750">
              <a:spcBef>
                <a:spcPts val="7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Segoe UI Semibold"/>
              </a:rPr>
              <a:t>Process gates without data contracts — </a:t>
            </a:r>
            <a:r>
              <a:rPr lang="en-US" sz="1500" dirty="0">
                <a:solidFill>
                  <a:srgbClr val="2B3445"/>
                </a:solidFill>
                <a:latin typeface="Segoe UI"/>
              </a:rPr>
              <a:t>overlay SLAs exist; required fields and MDQ enforcement do not.</a:t>
            </a:r>
          </a:p>
          <a:p>
            <a:pPr marL="285750" indent="-285750">
              <a:spcBef>
                <a:spcPts val="7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Segoe UI Semibold"/>
              </a:rPr>
              <a:t>Upstream portfolio disconnected — </a:t>
            </a:r>
            <a:r>
              <a:rPr lang="en-US" sz="1500" dirty="0">
                <a:solidFill>
                  <a:srgbClr val="2B3445"/>
                </a:solidFill>
                <a:latin typeface="Segoe UI"/>
              </a:rPr>
              <a:t>L1–L4 in EPM/PPM/spreadsheet without L4→L5 cross-reference.</a:t>
            </a:r>
          </a:p>
          <a:p>
            <a:pPr marL="285750" indent="-285750">
              <a:spcBef>
                <a:spcPts val="7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Segoe UI Semibold"/>
              </a:rPr>
              <a:t>Detection after the fact — </a:t>
            </a:r>
            <a:r>
              <a:rPr lang="en-US" sz="1500" dirty="0">
                <a:solidFill>
                  <a:srgbClr val="2B3445"/>
                </a:solidFill>
                <a:latin typeface="Segoe UI"/>
              </a:rPr>
              <a:t>post-hoc audit instead of a system block at requisition (MDQ-01/02).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085A6-FA9E-4F48-B041-A29DCEA562A8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6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Segoe UI Semibold"/>
                <a:cs typeface="Segoe UI Semibold"/>
              </a:rPr>
              <a:t>Stewards before automation — a 28-week remediation plan</a:t>
            </a:r>
            <a:endParaRPr lang="en-US" sz="2200" b="1" dirty="0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REMEDIATION PLAN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270000"/>
          <a:ext cx="8229600" cy="3436112"/>
        </p:xfrm>
        <a:graphic>
          <a:graphicData uri="http://schemas.openxmlformats.org/drawingml/2006/table">
            <a:tbl>
              <a:tblPr/>
              <a:tblGrid>
                <a:gridCol w="303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/>
                        </a:rPr>
                        <a:t>Action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/>
                        </a:rPr>
                        <a:t>Start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/>
                        </a:rPr>
                        <a:t>End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/>
                        </a:rPr>
                        <a:t>Dependency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Ratify MDM + identifier policy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CapEx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D1, D3 approval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Charter MDM Council + Steward WG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Ent. data architect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2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Named chair (D2)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Baseline MDQ-01/02 (top 3 categories)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P2P + Control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Audit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Select upstream pattern A/B/C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Portfolio Forum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5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8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D4 selection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Publish Investment ID ↔ Project cross-ref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Portfolio steward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Pattern selected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Enforce MDQ-01/02 at requisition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IT ERP + Proc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11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16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Steward WG active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MDQ-09 at FA mass additions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Asset Accountant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FA queue SOP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CapEx funnel + MD quality dashboard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Control + BI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21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28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Lineage template</a:t>
                      </a:r>
                    </a:p>
                  </a:txBody>
                  <a:tcPr marL="73152" marR="73152" marT="36576" marB="36576"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Monthly MDM Council + MD health scorecard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CapEx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Wk 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Ongoing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2B3445"/>
                          </a:solidFill>
                          <a:latin typeface="Segoe UI"/>
                        </a:rPr>
                        <a:t>Council charter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E2B2459-2948-441F-8381-8C17FD17E69F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7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Name the chair today and fund weeks 1–10 mobilization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OPEN DECISIONS AND MILESTONES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01800"/>
            <a:ext cx="3962400" cy="289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dirty="0">
                <a:solidFill>
                  <a:srgbClr val="2B3445"/>
                </a:solidFill>
                <a:latin typeface="Segoe UI"/>
              </a:rPr>
              <a:t>Name the CapEx process owner / MDM Council chair.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dirty="0">
                <a:solidFill>
                  <a:srgbClr val="2B3445"/>
                </a:solidFill>
                <a:latin typeface="Segoe UI"/>
              </a:rPr>
              <a:t>Confirm stewards — portfolio, project, supplier MDM, asset, GL.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500" dirty="0">
                <a:solidFill>
                  <a:srgbClr val="2B3445"/>
                </a:solidFill>
                <a:latin typeface="Segoe UI"/>
              </a:rPr>
              <a:t>Limit Phase 0–1 to the top 3 asset categories.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696BF-1DFC-471E-85C5-C20111D08F07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H Left"/>
          <p:cNvSpPr/>
          <p:nvPr/>
        </p:nvSpPr>
        <p:spPr>
          <a:xfrm>
            <a:off x="457200" y="1295400"/>
            <a:ext cx="3962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 dirty="0">
                <a:solidFill>
                  <a:srgbClr val="2F6FB0"/>
                </a:solidFill>
                <a:latin typeface="Segoe UI"/>
              </a:rPr>
              <a:t>OPEN DECISIONS</a:t>
            </a:r>
          </a:p>
        </p:txBody>
      </p:sp>
      <p:sp>
        <p:nvSpPr>
          <p:cNvPr id="61" name="H Right"/>
          <p:cNvSpPr/>
          <p:nvPr/>
        </p:nvSpPr>
        <p:spPr>
          <a:xfrm>
            <a:off x="5029200" y="1295400"/>
            <a:ext cx="3657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 dirty="0">
                <a:solidFill>
                  <a:srgbClr val="2F6FB0"/>
                </a:solidFill>
                <a:latin typeface="Segoe UI"/>
              </a:rPr>
              <a:t>MILESTONES</a:t>
            </a:r>
          </a:p>
        </p:txBody>
      </p:sp>
      <p:sp>
        <p:nvSpPr>
          <p:cNvPr id="62" name="Divider"/>
          <p:cNvSpPr/>
          <p:nvPr/>
        </p:nvSpPr>
        <p:spPr>
          <a:xfrm>
            <a:off x="4648200" y="1320800"/>
            <a:ext cx="15875" cy="3175000"/>
          </a:xfrm>
          <a:prstGeom prst="rect">
            <a:avLst/>
          </a:prstGeom>
          <a:solidFill>
            <a:srgbClr val="C2D2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Milestones Body"/>
          <p:cNvSpPr/>
          <p:nvPr/>
        </p:nvSpPr>
        <p:spPr>
          <a:xfrm>
            <a:off x="5029200" y="1701800"/>
            <a:ext cx="3657600" cy="289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Wk 4 —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Baseline audit: MDQ-01/02 pass rate published.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Wk 8 —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Upstream pattern A/B/C selected.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Wk 10 —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L4→L5 cross-reference live; MDQ-10 pilot.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Wk 16 —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MDQ-01/02 system enforcement on pilot categories.</a:t>
            </a:r>
          </a:p>
          <a:p>
            <a:pPr marL="257175" indent="-257175">
              <a:spcBef>
                <a:spcPts val="8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Wk 28 —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Certified CapEx funnel dashboard with MD-quality overlay.</a:t>
            </a:r>
          </a:p>
        </p:txBody>
      </p:sp>
    </p:spTree>
    <p:extLst>
      <p:ext uri="{BB962C8B-B14F-4D97-AF65-F5344CB8AC3E}">
        <p14:creationId xmlns:p14="http://schemas.microsoft.com/office/powerpoint/2010/main" val="221742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Appendix — Governed terms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DEFINITIONS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14069"/>
              </p:ext>
            </p:extLst>
          </p:nvPr>
        </p:nvGraphicFramePr>
        <p:xfrm>
          <a:off x="457200" y="1270000"/>
          <a:ext cx="8229600" cy="30988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Term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Definition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CapExInvestmentID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Enterprise ID from intake through retirement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ProjectNumber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Oracle authoritative project 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GlobalAssetTag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Unique physical asset ID in FA register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CIP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Costs accumulated before place in service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PIS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Depreciation start trigger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MDQ-01–10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0" dirty="0">
                          <a:solidFill>
                            <a:srgbClr val="2B3445"/>
                          </a:solidFill>
                          <a:latin typeface="Segoe UI"/>
                          <a:cs typeface="Segoe UI"/>
                        </a:rPr>
                        <a:t>Enterprise cross-domain data-quality rules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3DAE62D-A8E2-4B59-BCDA-F840FD28C741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Appendix — Twelve-stage CapEx lifecycle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L1–L4 UPSTREAM · L5–L12 MAPS TO OVERLAY S1–S6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937000"/>
            <a:ext cx="8229600" cy="723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Segoe UI Semibold"/>
              </a:rPr>
              <a:t>Platform:  </a:t>
            </a:r>
            <a:r>
              <a:rPr lang="en-US" sz="1300" dirty="0">
                <a:solidFill>
                  <a:srgbClr val="2B3445"/>
                </a:solidFill>
                <a:latin typeface="Segoe UI"/>
              </a:rPr>
              <a:t>Oracle Fusion Cloud 26B · optional EPM / external PPM for L1–L4</a:t>
            </a:r>
          </a:p>
          <a:p>
            <a:pPr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Segoe UI Semibold"/>
              </a:rPr>
              <a:t>Maturity:  </a:t>
            </a:r>
            <a:r>
              <a:rPr lang="en-US" sz="1300" dirty="0">
                <a:solidFill>
                  <a:srgbClr val="2B3445"/>
                </a:solidFill>
                <a:latin typeface="Segoe UI"/>
              </a:rPr>
              <a:t>Foundational → Defined (12-month horizon)</a:t>
            </a:r>
          </a:p>
          <a:p>
            <a:pPr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Segoe UI Semibold"/>
              </a:rPr>
              <a:t>Framework status:  </a:t>
            </a:r>
            <a:r>
              <a:rPr lang="en-US" sz="1300" dirty="0">
                <a:solidFill>
                  <a:srgbClr val="2B3445"/>
                </a:solidFill>
                <a:latin typeface="Segoe UI"/>
              </a:rPr>
              <a:t>v1.0 Draft — tenant segment values TBD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E40A3-BA28-4050-AD9C-D9672A5F09F3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Tab0"/>
          <p:cNvSpPr/>
          <p:nvPr/>
        </p:nvSpPr>
        <p:spPr>
          <a:xfrm>
            <a:off x="457200" y="1320800"/>
            <a:ext cx="1574800" cy="508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/>
              </a:rPr>
              <a:t>PLAN · L1–L4</a:t>
            </a:r>
          </a:p>
        </p:txBody>
      </p:sp>
      <p:sp>
        <p:nvSpPr>
          <p:cNvPr id="61" name="Stages0"/>
          <p:cNvSpPr/>
          <p:nvPr/>
        </p:nvSpPr>
        <p:spPr>
          <a:xfrm>
            <a:off x="2133600" y="1320800"/>
            <a:ext cx="6096000" cy="508000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txBody>
          <a:bodyPr wrap="square" lIns="120000" tIns="0" rIns="12000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L1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Strategy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L2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Demand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L3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Feasibility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L4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Authorization</a:t>
            </a:r>
          </a:p>
        </p:txBody>
      </p:sp>
      <p:sp>
        <p:nvSpPr>
          <p:cNvPr id="62" name="Tab1"/>
          <p:cNvSpPr/>
          <p:nvPr/>
        </p:nvSpPr>
        <p:spPr>
          <a:xfrm>
            <a:off x="457200" y="1930400"/>
            <a:ext cx="1574800" cy="508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/>
              </a:rPr>
              <a:t>BUILD · L5–L8</a:t>
            </a:r>
          </a:p>
        </p:txBody>
      </p:sp>
      <p:sp>
        <p:nvSpPr>
          <p:cNvPr id="63" name="Stages1"/>
          <p:cNvSpPr/>
          <p:nvPr/>
        </p:nvSpPr>
        <p:spPr>
          <a:xfrm>
            <a:off x="2133600" y="1930400"/>
            <a:ext cx="6096000" cy="508000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txBody>
          <a:bodyPr wrap="square" lIns="120000" tIns="0" rIns="12000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L5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Budgeting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L6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Design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L7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Sourcing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L8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Construction</a:t>
            </a:r>
          </a:p>
        </p:txBody>
      </p:sp>
      <p:sp>
        <p:nvSpPr>
          <p:cNvPr id="64" name="Tab2"/>
          <p:cNvSpPr/>
          <p:nvPr/>
        </p:nvSpPr>
        <p:spPr>
          <a:xfrm>
            <a:off x="457200" y="2540000"/>
            <a:ext cx="1574800" cy="508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/>
              </a:rPr>
              <a:t>REALIZE · L9–L12</a:t>
            </a:r>
          </a:p>
        </p:txBody>
      </p:sp>
      <p:sp>
        <p:nvSpPr>
          <p:cNvPr id="65" name="Stages2"/>
          <p:cNvSpPr/>
          <p:nvPr/>
        </p:nvSpPr>
        <p:spPr>
          <a:xfrm>
            <a:off x="2133600" y="2540000"/>
            <a:ext cx="6096000" cy="508000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txBody>
          <a:bodyPr wrap="square" lIns="120000" tIns="0" rIns="12000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L9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Capitalization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L10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Commissioning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L11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Op. handoff</a:t>
            </a:r>
            <a:r>
              <a:rPr lang="en-US" sz="1400" dirty="0">
                <a:solidFill>
                  <a:srgbClr val="2F6FB0"/>
                </a:solidFill>
                <a:latin typeface="Segoe UI"/>
              </a:rPr>
              <a:t>    ›    </a:t>
            </a: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L12 </a:t>
            </a:r>
            <a:r>
              <a:rPr lang="en-US" sz="1400" dirty="0">
                <a:solidFill>
                  <a:srgbClr val="2B3445"/>
                </a:solidFill>
                <a:latin typeface="Segoe UI"/>
              </a:rPr>
              <a:t>Retirement</a:t>
            </a:r>
          </a:p>
        </p:txBody>
      </p:sp>
      <p:sp>
        <p:nvSpPr>
          <p:cNvPr id="66" name="Domains Label"/>
          <p:cNvSpPr/>
          <p:nvPr/>
        </p:nvSpPr>
        <p:spPr>
          <a:xfrm>
            <a:off x="457200" y="31242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 dirty="0">
                <a:solidFill>
                  <a:srgbClr val="2F6FB0"/>
                </a:solidFill>
                <a:latin typeface="Segoe UI"/>
              </a:rPr>
              <a:t>SIX DATA DOMAINS</a:t>
            </a:r>
          </a:p>
        </p:txBody>
      </p:sp>
      <p:sp>
        <p:nvSpPr>
          <p:cNvPr id="67" name="Domains Band"/>
          <p:cNvSpPr/>
          <p:nvPr/>
        </p:nvSpPr>
        <p:spPr>
          <a:xfrm>
            <a:off x="457200" y="3352800"/>
            <a:ext cx="8229600" cy="520700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txBody>
          <a:bodyPr wrap="square" lIns="80000" tIns="0" rIns="80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Investment &amp; Portfolio    ·    Project &amp; WBS    ·    Financial Coding    ·    Supplier &amp; Contract    ·    Location &amp; Site    ·    Asset Register</a:t>
            </a:r>
          </a:p>
        </p:txBody>
      </p:sp>
    </p:spTree>
    <p:extLst>
      <p:ext uri="{BB962C8B-B14F-4D97-AF65-F5344CB8AC3E}">
        <p14:creationId xmlns:p14="http://schemas.microsoft.com/office/powerpoint/2010/main" val="144323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62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  <a:cs typeface="Segoe UI Semibold"/>
              </a:rPr>
              <a:t>Appendix — Supporting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F6FB0"/>
                </a:solidFill>
                <a:latin typeface="Segoe UI"/>
                <a:cs typeface="Segoe UI"/>
              </a:rPr>
              <a:t>REPOSITORY REFERENCES</a:t>
            </a:r>
            <a:endParaRPr lang="en-US" sz="1300" b="1" dirty="0">
              <a:solidFill>
                <a:srgbClr val="2F6FB0"/>
              </a:solidFill>
              <a:latin typeface="Segoe UI"/>
              <a:cs typeface="Segoe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954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Architecture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architecture/capex-master-data-management-framework.md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architecture/capex-lifecycle-governance-overlay.md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1B2A4A"/>
                </a:solidFill>
                <a:latin typeface="Segoe UI Semibold"/>
              </a:rPr>
              <a:t>Oracle Fusion 26B — Governed Data &amp; Analytics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packages/oracle-fusion-procurement-26b/02-governed-data-and-analytics.md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packages/oracle-fusion-project-management-26b/02-governed-data-and-analytics.md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packages/oracle-fusion-ap-i2p-26b/02-governed-data-and-analytics.md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packages/oracle-fusion-fixed-assets-26b/02-governed-data-and-analytics.md</a:t>
            </a:r>
          </a:p>
          <a:p>
            <a:pPr marL="228600" indent="-228600" algn="l">
              <a:spcBef>
                <a:spcPts val="300"/>
              </a:spcBef>
              <a:buClr>
                <a:srgbClr val="2F6FB0"/>
              </a:buClr>
              <a:buFont typeface="Arial"/>
              <a:buChar char="•"/>
            </a:pPr>
            <a:r>
              <a:rPr lang="en-US" sz="1400" dirty="0">
                <a:solidFill>
                  <a:srgbClr val="2B3445"/>
                </a:solidFill>
                <a:latin typeface="Consolas"/>
              </a:rPr>
              <a:t>packages/oracle-fusion-general-ledger-26b/02-governed-data-and-analytics.md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58A05-F5D3-41F0-947E-8ACD50FB1030}"/>
              </a:ext>
            </a:extLst>
          </p:cNvPr>
          <p:cNvSpPr/>
          <p:nvPr/>
        </p:nvSpPr>
        <p:spPr>
          <a:xfrm>
            <a:off x="0" y="787400"/>
            <a:ext cx="9144000" cy="25400"/>
          </a:xfrm>
          <a:prstGeom prst="rect">
            <a:avLst/>
          </a:prstGeom>
          <a:solidFill>
            <a:srgbClr val="2F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1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992660182]">
  <a:themeElements>
    <a:clrScheme name="Office">
      <a:dk1>
        <a:srgbClr val="1B2A4A"/>
      </a:dk1>
      <a:lt1>
        <a:srgbClr val="FFFFFF"/>
      </a:lt1>
      <a:dk2>
        <a:srgbClr val="14213D"/>
      </a:dk2>
      <a:lt2>
        <a:srgbClr val="EAF0F7"/>
      </a:lt2>
      <a:accent1>
        <a:srgbClr val="2F6FB0"/>
      </a:accent1>
      <a:accent2>
        <a:srgbClr val="5B8DBE"/>
      </a:accent2>
      <a:accent3>
        <a:srgbClr val="8AA9C8"/>
      </a:accent3>
      <a:accent4>
        <a:srgbClr val="C9A227"/>
      </a:accent4>
      <a:accent5>
        <a:srgbClr val="14213D"/>
      </a:accent5>
      <a:accent6>
        <a:srgbClr val="6B7C93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4D1F45-DA21-4ADE-A660-E807386ABF7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a551599-0335-4452-ae6f-53649002875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1021</Words>
  <Application>Microsoft Office PowerPoint</Application>
  <PresentationFormat>On-screen Show (16:9)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Consolas</vt:lpstr>
      <vt:lpstr>Segoe UI</vt:lpstr>
      <vt:lpstr>Segoe UI Semibold</vt:lpstr>
      <vt:lpstr>Office Theme [1781992660182]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CapEx MDM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CapEx Master Data Governance — Council Kickoff</dc:title>
  <dc:subject>PptxGenJS Presentation</dc:subject>
  <dc:creator>Control Governance</dc:creator>
  <cp:lastModifiedBy>Brian John</cp:lastModifiedBy>
  <cp:revision>4</cp:revision>
  <dcterms:created xsi:type="dcterms:W3CDTF">2026-06-20T21:44:54Z</dcterms:created>
  <dcterms:modified xsi:type="dcterms:W3CDTF">2026-06-20T22:24:52Z</dcterms:modified>
</cp:coreProperties>
</file>