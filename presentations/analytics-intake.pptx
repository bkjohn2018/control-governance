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2" r:id="rId4"/>
    <p:sldId id="264" r:id="rId5"/>
    <p:sldId id="266" r:id="rId6"/>
    <p:sldId id="268" r:id="rId7"/>
    <p:sldId id="270" r:id="rId8"/>
    <p:sldId id="272" r:id="rId9"/>
    <p:sldId id="274" r:id="rId10"/>
    <p:sldId id="276" r:id="rId11"/>
    <p:sldId id="280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8221D-2221-69D4-6A77-FA6157082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0739C-5839-6C01-351C-A3F626366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853C6-13F0-8837-7AD3-6EA56D5E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7F0F8-7385-DA53-4AE7-63361628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6252D-C0D6-243F-2681-C9F1D1D0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4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8E05-C543-6689-C426-05419A2B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192F3-6C60-26C6-9981-998C7826D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3297A-1F20-7099-4E7E-67B61A87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85C13-BEE9-6299-EAD9-526C5E78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30602-80AB-5382-E102-E0441A5AF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43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7A82-F2FE-9169-AE96-85203BD6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34999-0C0B-2E3C-9B1D-F41459A49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340CD-85EB-E6E5-C6C4-ABEAC621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C486B-33BC-7C4D-5A8A-DC6B2AFC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A6AAA-34FC-6EF7-05B2-349B3AFB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7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E0A6-80E7-399C-A287-BEFB4A4D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184BB-4B67-0294-1E39-0F8DCA274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05AEB-DB54-0A17-1CA7-340B1577C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73F80-37C4-BC32-880B-612C0D61E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6797A-50D7-A995-E37F-7370A3FA1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ABCCF-C409-ED1E-1F38-C9CE5E6B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5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206E-3E2E-F3D5-9596-1A147195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9418B-6D72-0740-5AD5-78A361997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0B05C-E492-4BD9-D206-23C635E0B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D337D-AC17-67D3-A67D-3D15CA820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4C45D-CBFA-3542-FC09-5323BF4FA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671D27-CFCC-1C28-0277-B173C140F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AD4B8-46FB-D4E0-79D8-647D74D5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E6992-F647-EA7E-201C-DFC659CC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0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120E-0E3D-0174-95D6-07C56446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E04F7-9C5C-62F4-FB06-B96F72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D8D965-4B89-79B9-71BB-6664394B0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6C3B6-1F67-8505-E3F1-7D5353A3D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AC753-E781-7D68-ED62-14366794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2B5C42-539F-45AD-AE04-E296755E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7242A-7967-1D38-887D-DB2B8F8E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5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81956-E9F8-F23E-1918-9D15CD29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F7603-BE64-E866-C5D8-4A5CE13D5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2D529-C21B-BBAC-0E97-9F7424C5B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32E6A-C6A3-4452-18B9-01E258F0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01BEF-6AAA-D416-83E8-2F163EF2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4244B-7BB4-00D3-FB94-B1845E53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88BE-FCFA-795F-BAEA-6F07CF7CA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AA2B3-B1AD-8038-71CE-B51651B4A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57464-3331-EBE7-9E6F-52577F079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089F1-6624-E46E-15D4-2CD22BA8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997E7-16C6-064A-AABD-014A50E5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329E1-F23C-6885-9764-F4E4905A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B6A4-3646-57C3-D93A-FD06CD5D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0A05E-857C-04E9-7675-0ACB2FFA6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F663E-82E9-4091-E6C3-85B34BDB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2ECA3-6A40-FCF2-E8EA-B496717B6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1163D-E921-E837-FC76-A3314E00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2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FC3E2D-FE78-CDB0-A2B6-F7E9823FE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5E32F-537B-D964-35B5-C0CCE8B2B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21F7E-8ADC-F928-DDC1-D83CDE6BD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718C-0DA8-A651-C0EF-7DBDF9C5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8B3E3-E867-F14C-FC9F-8FA93B74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4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F59730-97EE-E135-0A05-8A44442F5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B7E67-890A-C25A-2E69-CBF9F3891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E4A8F-4EDF-322E-AB6E-8BE8B9A57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FD323-84BE-4B7F-A03F-DACED38ED9D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3A4C9-B90F-C13F-6158-4E1F9D587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938D-5B1E-02EB-56CC-E4282083A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75063-7474-4DB8-9042-B6EB1DC5FE12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 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 Hairline"/>
          <p:cNvSpPr/>
          <p:nvPr userDrawn="1"/>
        </p:nvSpPr>
        <p:spPr>
          <a:xfrm>
            <a:off x="457200" y="6629400"/>
            <a:ext cx="8229600" cy="9525"/>
          </a:xfrm>
          <a:prstGeom prst="rect">
            <a:avLst/>
          </a:prstGeom>
          <a:solidFill>
            <a:srgbClr val="D4CFC4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070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F396-F8A8-A752-AE7B-004A24FF26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4400" b="1" dirty="0">
                <a:solidFill>
                  <a:schemeClr val="dk1"/>
                </a:solidFill>
              </a:rPr>
              <a:t>Analytics Intake</a:t>
            </a:r>
          </a:p>
          <a:p>
            <a:pPr algn="l">
              <a:buNone/>
            </a:pPr>
            <a:r>
              <a:rPr lang="en-US" sz="4400" b="1" dirty="0">
                <a:solidFill>
                  <a:schemeClr val="accent1"/>
                </a:solidFill>
              </a:rPr>
              <a:t>&amp; Extension Policy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58A6C-5871-136B-182E-2C0C2B601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2000" dirty="0">
                <a:solidFill>
                  <a:schemeClr val="dk2"/>
                </a:solidFill>
              </a:rPr>
              <a:t>Governance framework for Oracle reporting and data extensions</a:t>
            </a:r>
          </a:p>
          <a:p>
            <a:pPr algn="l">
              <a:buNone/>
            </a:pPr>
            <a:r>
              <a:rPr lang="en-US" sz="1400" i="1" dirty="0">
                <a:solidFill>
                  <a:schemeClr val="accent3"/>
                </a:solidFill>
              </a:rPr>
              <a:t>Version 1.0 Draft   |   For governance review</a:t>
            </a:r>
          </a:p>
        </p:txBody>
      </p:sp>
    </p:spTree>
    <p:extLst>
      <p:ext uri="{BB962C8B-B14F-4D97-AF65-F5344CB8AC3E}">
        <p14:creationId xmlns:p14="http://schemas.microsoft.com/office/powerpoint/2010/main" val="145661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10A32-D50C-25B3-8638-43F705AB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Why we need this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190BD-289B-577C-B339-3849B606F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dk2"/>
                </a:solidFill>
              </a:rPr>
              <a:t>Without an Oracle-first standard, reporting drifts from the system of record. The result is duplication, sprawl, and weakened controls.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accent1"/>
                </a:solidFill>
              </a:rPr>
              <a:t>Risks we are addressing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1600" b="1" dirty="0">
                <a:solidFill>
                  <a:schemeClr val="dk1"/>
                </a:solidFill>
              </a:rPr>
              <a:t>Reporting sprawl</a:t>
            </a:r>
            <a:r>
              <a:rPr lang="en-US" sz="1600" dirty="0">
                <a:solidFill>
                  <a:schemeClr val="dk2"/>
                </a:solidFill>
              </a:rPr>
              <a:t> — uncontrolled custom reports, dashboards, and extracts that duplicate Oracle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1600" b="1" dirty="0">
                <a:solidFill>
                  <a:schemeClr val="dk1"/>
                </a:solidFill>
              </a:rPr>
              <a:t>Decoupled data</a:t>
            </a:r>
            <a:r>
              <a:rPr lang="en-US" sz="1600" dirty="0">
                <a:solidFill>
                  <a:schemeClr val="dk2"/>
                </a:solidFill>
              </a:rPr>
              <a:t> — spreadsheets and extracts becoming unofficial systems of record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1600" b="1" dirty="0">
                <a:solidFill>
                  <a:schemeClr val="dk1"/>
                </a:solidFill>
              </a:rPr>
              <a:t>Control gaps</a:t>
            </a:r>
            <a:r>
              <a:rPr lang="en-US" sz="1600" dirty="0">
                <a:solidFill>
                  <a:schemeClr val="dk2"/>
                </a:solidFill>
              </a:rPr>
              <a:t> — metrics and outputs without lineage, ownership, or audit traceability</a:t>
            </a:r>
          </a:p>
          <a:p>
            <a:pPr marL="285750" indent="-285750">
              <a:spcBef>
                <a:spcPts val="200"/>
              </a:spcBef>
              <a:buFont typeface="Arial"/>
              <a:buChar char="•"/>
            </a:pPr>
            <a:r>
              <a:rPr lang="en-US" sz="1600" b="1" dirty="0">
                <a:solidFill>
                  <a:schemeClr val="dk1"/>
                </a:solidFill>
              </a:rPr>
              <a:t>Sensitive data exposure</a:t>
            </a:r>
            <a:r>
              <a:rPr lang="en-US" sz="1600" dirty="0">
                <a:solidFill>
                  <a:schemeClr val="dk2"/>
                </a:solidFill>
              </a:rPr>
              <a:t> — PII, payroll, supplier, and bank data leaving governed environments</a:t>
            </a:r>
          </a:p>
        </p:txBody>
      </p:sp>
    </p:spTree>
    <p:extLst>
      <p:ext uri="{BB962C8B-B14F-4D97-AF65-F5344CB8AC3E}">
        <p14:creationId xmlns:p14="http://schemas.microsoft.com/office/powerpoint/2010/main" val="301464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D4CA-8D2E-C60A-8223-73D5E264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Seven guiding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AB05-F932-94FD-AA90-35757256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The policy is anchored to an Oracle-first principle, supported by six others.</a:t>
            </a:r>
          </a:p>
          <a:p>
            <a:pPr marL="342900" indent="-342900">
              <a:spcBef>
                <a:spcPts val="4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 </a:t>
            </a:r>
            <a:r>
              <a:rPr lang="en-US" sz="1600" b="1" dirty="0">
                <a:solidFill>
                  <a:schemeClr val="dk1"/>
                </a:solidFill>
              </a:rPr>
              <a:t>Oracle first</a:t>
            </a:r>
            <a:r>
              <a:rPr lang="en-US" sz="1600" dirty="0">
                <a:solidFill>
                  <a:schemeClr val="dk2"/>
                </a:solidFill>
              </a:rPr>
              <a:t>  —  Native Oracle capabilities must be assessed before custom analytics or extensions are approved.</a:t>
            </a:r>
          </a:p>
          <a:p>
            <a:pPr marL="342900" indent="-342900">
              <a:spcBef>
                <a:spcPts val="4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 </a:t>
            </a:r>
            <a:r>
              <a:rPr lang="en-US" sz="1600" b="1" dirty="0">
                <a:solidFill>
                  <a:schemeClr val="dk1"/>
                </a:solidFill>
              </a:rPr>
              <a:t>Process before analytics</a:t>
            </a:r>
            <a:r>
              <a:rPr lang="en-US" sz="1600" dirty="0">
                <a:solidFill>
                  <a:schemeClr val="dk2"/>
                </a:solidFill>
              </a:rPr>
              <a:t>  —  Analytics supports execution and decisions; it does not replace process ownership or control operation.</a:t>
            </a:r>
          </a:p>
          <a:p>
            <a:pPr marL="342900" indent="-342900">
              <a:spcBef>
                <a:spcPts val="4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3.  </a:t>
            </a:r>
            <a:r>
              <a:rPr lang="en-US" sz="1600" b="1" dirty="0">
                <a:solidFill>
                  <a:schemeClr val="dk1"/>
                </a:solidFill>
              </a:rPr>
              <a:t>System of record preserved</a:t>
            </a:r>
            <a:r>
              <a:rPr lang="en-US" sz="1600" dirty="0">
                <a:solidFill>
                  <a:schemeClr val="dk2"/>
                </a:solidFill>
              </a:rPr>
              <a:t>  —  Oracle remains authoritative for Oracle-owned transactions, balances, and workflow evidence.</a:t>
            </a:r>
          </a:p>
          <a:p>
            <a:pPr marL="342900" indent="-342900">
              <a:spcBef>
                <a:spcPts val="4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4.  </a:t>
            </a:r>
            <a:r>
              <a:rPr lang="en-US" sz="1600" b="1" dirty="0">
                <a:solidFill>
                  <a:schemeClr val="dk1"/>
                </a:solidFill>
              </a:rPr>
              <a:t>No uncontrolled decoupling</a:t>
            </a:r>
            <a:r>
              <a:rPr lang="en-US" sz="1600" dirty="0">
                <a:solidFill>
                  <a:schemeClr val="dk2"/>
                </a:solidFill>
              </a:rPr>
              <a:t>  —  Oracle data may not be copied or redistributed into unmanaged spreadsheets, stores, or dashboards.</a:t>
            </a:r>
          </a:p>
          <a:p>
            <a:pPr marL="342900" indent="-342900">
              <a:spcBef>
                <a:spcPts val="4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5.  </a:t>
            </a:r>
            <a:r>
              <a:rPr lang="en-US" sz="1600" b="1" dirty="0">
                <a:solidFill>
                  <a:schemeClr val="dk1"/>
                </a:solidFill>
              </a:rPr>
              <a:t>Documented gap required</a:t>
            </a:r>
            <a:r>
              <a:rPr lang="en-US" sz="1600" dirty="0">
                <a:solidFill>
                  <a:schemeClr val="dk2"/>
                </a:solidFill>
              </a:rPr>
              <a:t>  —  Custom analytics proceed only when native capability cannot meet a defined business or control need.</a:t>
            </a:r>
          </a:p>
          <a:p>
            <a:pPr marL="342900" indent="-342900">
              <a:spcBef>
                <a:spcPts val="4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6.  </a:t>
            </a:r>
            <a:r>
              <a:rPr lang="en-US" sz="1600" b="1" dirty="0">
                <a:solidFill>
                  <a:schemeClr val="dk1"/>
                </a:solidFill>
              </a:rPr>
              <a:t>Governed extension</a:t>
            </a:r>
            <a:r>
              <a:rPr lang="en-US" sz="1600" dirty="0">
                <a:solidFill>
                  <a:schemeClr val="dk2"/>
                </a:solidFill>
              </a:rPr>
              <a:t>  —  Approved extensions have owner, lineage, refresh, quality, access, retention, and change controls.</a:t>
            </a:r>
          </a:p>
          <a:p>
            <a:pPr marL="342900" indent="-342900">
              <a:spcBef>
                <a:spcPts val="40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7.  </a:t>
            </a:r>
            <a:r>
              <a:rPr lang="en-US" sz="1600" b="1" dirty="0">
                <a:solidFill>
                  <a:schemeClr val="dk1"/>
                </a:solidFill>
              </a:rPr>
              <a:t>Evidence and auditability</a:t>
            </a:r>
            <a:r>
              <a:rPr lang="en-US" sz="1600" dirty="0">
                <a:solidFill>
                  <a:schemeClr val="dk2"/>
                </a:solidFill>
              </a:rPr>
              <a:t>  —  Outputs used for control or decisions must be traceable to source and reproducible from approved logic.</a:t>
            </a:r>
          </a:p>
        </p:txBody>
      </p:sp>
    </p:spTree>
    <p:extLst>
      <p:ext uri="{BB962C8B-B14F-4D97-AF65-F5344CB8AC3E}">
        <p14:creationId xmlns:p14="http://schemas.microsoft.com/office/powerpoint/2010/main" val="130998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025D-D93E-361E-AB09-20A779D3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0668-3005-A5A9-64CD-00D3B9E8B7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 scope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chemeClr val="dk2"/>
                </a:solidFill>
              </a:rPr>
              <a:t>Oracle Financials, supply chain, HR, procurement, projects, and related process areas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chemeClr val="dk2"/>
                </a:solidFill>
              </a:rPr>
              <a:t>Dashboards, custom reports, extracts, semantic models, data marts, spreadsheets, API feeds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chemeClr val="dk2"/>
                </a:solidFill>
              </a:rPr>
              <a:t>Analytics for finance, ops, controls, compliance, audit, and management reporting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chemeClr val="dk2"/>
                </a:solidFill>
              </a:rPr>
              <a:t>Reuse, replication, transformation, export, or combining of Oracle data with other 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38C16-301E-2658-11E7-89B0E899E6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Out of scope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chemeClr val="dk2"/>
                </a:solidFill>
              </a:rPr>
              <a:t>Routine use of approved native Oracle reports with existing access and standard parameters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chemeClr val="dk2"/>
                </a:solidFill>
              </a:rPr>
              <a:t>One-time user analysis that does not create a recurring report, dataset, or control artifact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>
                <a:solidFill>
                  <a:schemeClr val="dk2"/>
                </a:solidFill>
              </a:rPr>
              <a:t>System configuration changes governed by separate Oracle change-management procedures, unless they affect reporting</a:t>
            </a:r>
          </a:p>
        </p:txBody>
      </p:sp>
    </p:spTree>
    <p:extLst>
      <p:ext uri="{BB962C8B-B14F-4D97-AF65-F5344CB8AC3E}">
        <p14:creationId xmlns:p14="http://schemas.microsoft.com/office/powerpoint/2010/main" val="50640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C01EC-8A15-81F7-0B9F-6B56209C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Required intake information</a:t>
            </a:r>
          </a:p>
        </p:txBody>
      </p:sp>
      <p:graphicFrame>
        <p:nvGraphicFramePr>
          <p:cNvPr id="20" name="Intake Table"/>
          <p:cNvGraphicFramePr>
            <a:graphicFrameLocks noGrp="1"/>
          </p:cNvGraphicFramePr>
          <p:nvPr/>
        </p:nvGraphicFramePr>
        <p:xfrm>
          <a:off x="838200" y="1778000"/>
          <a:ext cx="10515600" cy="4572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Required information</a:t>
                      </a:r>
                    </a:p>
                  </a:txBody>
                  <a:tcPr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Request name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Short title of the report, dashboard, extract, metric, or model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Business question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Decision, control, reconciliation, compliance, or operational question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Process area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Oracle module, process, and process owner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Intended users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Primary audience and user roles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Frequency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One-time, daily, weekly, monthly, quarterly, event-driven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Native capability reviewed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Oracle reports, inquiries, dashboards, workflows, audit logs assessed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Native gap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Why native capability does not satisfy the need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Source data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Oracle tables, views, reports, and any non-Oracle sources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Metrics or fields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Measures, dimensions, filters, grain, thresholds, definitions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Sensitivity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Confidential, restricted, PII, supplier, bank, payroll, tax, payment data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Control relevance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Whether output supports financial reporting, compliance, audit, or controls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Delivery type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Native report, configured, dashboard, extract, semantic model, mart, API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Owner and steward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Accountable business owner and day-to-day data/report steward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rgbClr val="1A2332"/>
                          </a:solidFill>
                        </a:rPr>
                        <a:t>Expected retention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dirty="0">
                          <a:solidFill>
                            <a:srgbClr val="2C3E5A"/>
                          </a:solidFill>
                        </a:rPr>
                        <a:t>How long output, evidence, extracts, and versions must be retained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45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4C90-F969-35C5-B9BD-EE4E1C95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Native-first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2A067-3B67-919B-F22C-515030C474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Capabilities to assess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chemeClr val="dk2"/>
                </a:solidFill>
              </a:rPr>
              <a:t>Oracle predefined reports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chemeClr val="dk2"/>
                </a:solidFill>
              </a:rPr>
              <a:t>Reports and Analytics work area content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chemeClr val="dk2"/>
                </a:solidFill>
              </a:rPr>
              <a:t>Scheduled Processes outputs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chemeClr val="dk2"/>
                </a:solidFill>
              </a:rPr>
              <a:t>Transactional inquiry pages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chemeClr val="dk2"/>
                </a:solidFill>
              </a:rPr>
              <a:t>Workflow history and approval evidence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chemeClr val="dk2"/>
                </a:solidFill>
              </a:rPr>
              <a:t>Audit logs and change history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chemeClr val="dk2"/>
                </a:solidFill>
              </a:rPr>
              <a:t>Standard dashboards, infolets, OTBI subject areas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chemeClr val="dk2"/>
                </a:solidFill>
              </a:rPr>
              <a:t>Standard Oracle exports or governed integrations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678D6-1D1F-2C6A-7AD1-90C08ADF80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Assessment criteria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</a:rPr>
              <a:t>Fit to question</a:t>
            </a:r>
            <a:r>
              <a:rPr lang="en-US" sz="1400" dirty="0">
                <a:solidFill>
                  <a:schemeClr val="dk2"/>
                </a:solidFill>
              </a:rPr>
              <a:t>  —  Answers the business or control question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</a:rPr>
              <a:t>Scope &amp; grain</a:t>
            </a:r>
            <a:r>
              <a:rPr lang="en-US" sz="1400" dirty="0">
                <a:solidFill>
                  <a:schemeClr val="dk2"/>
                </a:solidFill>
              </a:rPr>
              <a:t>  —  Right business units, periods, and detail level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</a:rPr>
              <a:t>Timeliness</a:t>
            </a:r>
            <a:r>
              <a:rPr lang="en-US" sz="1400" dirty="0">
                <a:solidFill>
                  <a:schemeClr val="dk2"/>
                </a:solidFill>
              </a:rPr>
              <a:t>  —  Available at the required cadence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</a:rPr>
              <a:t>Parameters</a:t>
            </a:r>
            <a:r>
              <a:rPr lang="en-US" sz="1400" dirty="0">
                <a:solidFill>
                  <a:schemeClr val="dk2"/>
                </a:solidFill>
              </a:rPr>
              <a:t>  —  Standard parameters yield the needed population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</a:rPr>
              <a:t>Evidence value</a:t>
            </a:r>
            <a:r>
              <a:rPr lang="en-US" sz="1400" dirty="0">
                <a:solidFill>
                  <a:schemeClr val="dk2"/>
                </a:solidFill>
              </a:rPr>
              <a:t>  —  Supports review, reconciliation, audit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</a:rPr>
              <a:t>Access control</a:t>
            </a:r>
            <a:r>
              <a:rPr lang="en-US" sz="1400" dirty="0">
                <a:solidFill>
                  <a:schemeClr val="dk2"/>
                </a:solidFill>
              </a:rPr>
              <a:t>  —  Managed via Oracle roles or approved groups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</a:rPr>
              <a:t>Export risk</a:t>
            </a:r>
            <a:r>
              <a:rPr lang="en-US" sz="1400" dirty="0">
                <a:solidFill>
                  <a:schemeClr val="dk2"/>
                </a:solidFill>
              </a:rPr>
              <a:t>  —  Whether use requires extraction outside Oracle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</a:rPr>
              <a:t>Limitation</a:t>
            </a:r>
            <a:r>
              <a:rPr lang="en-US" sz="1400" dirty="0">
                <a:solidFill>
                  <a:schemeClr val="dk2"/>
                </a:solidFill>
              </a:rPr>
              <a:t>  —  Specific gap remaining after assessment</a:t>
            </a:r>
          </a:p>
        </p:txBody>
      </p:sp>
    </p:spTree>
    <p:extLst>
      <p:ext uri="{BB962C8B-B14F-4D97-AF65-F5344CB8AC3E}">
        <p14:creationId xmlns:p14="http://schemas.microsoft.com/office/powerpoint/2010/main" val="3705740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D489-F05E-E0AF-19B7-9E84B311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Decision standard: five approved paths</a:t>
            </a:r>
          </a:p>
        </p:txBody>
      </p:sp>
      <p:sp>
        <p:nvSpPr>
          <p:cNvPr id="100" name="Card 1"/>
          <p:cNvSpPr/>
          <p:nvPr/>
        </p:nvSpPr>
        <p:spPr>
          <a:xfrm>
            <a:off x="457200" y="2095500"/>
            <a:ext cx="2133600" cy="40640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3175">
            <a:solidFill>
              <a:srgbClr val="D4CF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Band 1"/>
          <p:cNvSpPr/>
          <p:nvPr/>
        </p:nvSpPr>
        <p:spPr>
          <a:xfrm>
            <a:off x="457200" y="2095500"/>
            <a:ext cx="2133600" cy="838200"/>
          </a:xfrm>
          <a:prstGeom prst="rect">
            <a:avLst/>
          </a:prstGeom>
          <a:solidFill>
            <a:srgbClr val="4A6B5D"/>
          </a:solidFill>
          <a:ln>
            <a:noFill/>
          </a:ln>
        </p:spPr>
        <p:txBody>
          <a:bodyPr lIns="91440" tIns="91440" rIns="91440" bIns="91440" anchor="ctr"/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Text 1"/>
          <p:cNvSpPr txBox="1"/>
          <p:nvPr/>
        </p:nvSpPr>
        <p:spPr>
          <a:xfrm>
            <a:off x="584200" y="3136900"/>
            <a:ext cx="1879600" cy="2921000"/>
          </a:xfrm>
          <a:prstGeom prst="rect">
            <a:avLst/>
          </a:prstGeom>
          <a:noFill/>
        </p:spPr>
        <p:txBody>
          <a:bodyPr wrap="square" lIns="91440" tIns="36000" rIns="91440" bIns="36000" anchor="t"/>
          <a:lstStyle/>
          <a:p>
            <a:pPr algn="ctr">
              <a:buNone/>
            </a:pPr>
            <a:r>
              <a:rPr lang="en-US" sz="1600" b="1" dirty="0">
                <a:solidFill>
                  <a:schemeClr val="dk1"/>
                </a:solidFill>
              </a:rPr>
              <a:t>Use native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1400" dirty="0">
                <a:solidFill>
                  <a:schemeClr val="dk2"/>
                </a:solidFill>
              </a:rPr>
              <a:t>Native Oracle capability meets the need</a:t>
            </a:r>
          </a:p>
        </p:txBody>
      </p:sp>
      <p:sp>
        <p:nvSpPr>
          <p:cNvPr id="103" name="Card 2"/>
          <p:cNvSpPr/>
          <p:nvPr/>
        </p:nvSpPr>
        <p:spPr>
          <a:xfrm>
            <a:off x="2743200" y="2095500"/>
            <a:ext cx="2133600" cy="40640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3175">
            <a:solidFill>
              <a:srgbClr val="D4CF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Band 2"/>
          <p:cNvSpPr/>
          <p:nvPr/>
        </p:nvSpPr>
        <p:spPr>
          <a:xfrm>
            <a:off x="2743200" y="2095500"/>
            <a:ext cx="2133600" cy="838200"/>
          </a:xfrm>
          <a:prstGeom prst="rect">
            <a:avLst/>
          </a:prstGeom>
          <a:solidFill>
            <a:srgbClr val="3F5566"/>
          </a:solidFill>
          <a:ln>
            <a:noFill/>
          </a:ln>
        </p:spPr>
        <p:txBody>
          <a:bodyPr lIns="91440" tIns="91440" rIns="91440" bIns="91440" anchor="ctr"/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5" name="Text 2"/>
          <p:cNvSpPr txBox="1"/>
          <p:nvPr/>
        </p:nvSpPr>
        <p:spPr>
          <a:xfrm>
            <a:off x="2870200" y="3136900"/>
            <a:ext cx="1879600" cy="2921000"/>
          </a:xfrm>
          <a:prstGeom prst="rect">
            <a:avLst/>
          </a:prstGeom>
          <a:noFill/>
        </p:spPr>
        <p:txBody>
          <a:bodyPr wrap="square" lIns="91440" tIns="36000" rIns="91440" bIns="36000" anchor="t"/>
          <a:lstStyle/>
          <a:p>
            <a:pPr algn="ctr">
              <a:buNone/>
            </a:pPr>
            <a:r>
              <a:rPr lang="en-US" sz="1600" b="1" dirty="0">
                <a:solidFill>
                  <a:schemeClr val="dk1"/>
                </a:solidFill>
              </a:rPr>
              <a:t>Configure native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1400" dirty="0">
                <a:solidFill>
                  <a:schemeClr val="dk2"/>
                </a:solidFill>
              </a:rPr>
              <a:t>Works with parameter, schedule, layout, or access tweaks</a:t>
            </a:r>
          </a:p>
        </p:txBody>
      </p:sp>
      <p:sp>
        <p:nvSpPr>
          <p:cNvPr id="106" name="Card 3"/>
          <p:cNvSpPr/>
          <p:nvPr/>
        </p:nvSpPr>
        <p:spPr>
          <a:xfrm>
            <a:off x="5029200" y="2095500"/>
            <a:ext cx="2133600" cy="40640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3175">
            <a:solidFill>
              <a:srgbClr val="D4CF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Band 3"/>
          <p:cNvSpPr/>
          <p:nvPr/>
        </p:nvSpPr>
        <p:spPr>
          <a:xfrm>
            <a:off x="5029200" y="2095500"/>
            <a:ext cx="2133600" cy="838200"/>
          </a:xfrm>
          <a:prstGeom prst="rect">
            <a:avLst/>
          </a:prstGeom>
          <a:solidFill>
            <a:srgbClr val="A04030"/>
          </a:solidFill>
          <a:ln>
            <a:noFill/>
          </a:ln>
        </p:spPr>
        <p:txBody>
          <a:bodyPr lIns="91440" tIns="91440" rIns="91440" bIns="91440" anchor="ctr"/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8" name="Text 3"/>
          <p:cNvSpPr txBox="1"/>
          <p:nvPr/>
        </p:nvSpPr>
        <p:spPr>
          <a:xfrm>
            <a:off x="5156200" y="3136900"/>
            <a:ext cx="1879600" cy="2921000"/>
          </a:xfrm>
          <a:prstGeom prst="rect">
            <a:avLst/>
          </a:prstGeom>
          <a:noFill/>
        </p:spPr>
        <p:txBody>
          <a:bodyPr wrap="square" lIns="91440" tIns="36000" rIns="91440" bIns="36000" anchor="t"/>
          <a:lstStyle/>
          <a:p>
            <a:pPr algn="ctr">
              <a:buNone/>
            </a:pPr>
            <a:r>
              <a:rPr lang="en-US" sz="1600" b="1" dirty="0">
                <a:solidFill>
                  <a:schemeClr val="dk1"/>
                </a:solidFill>
              </a:rPr>
              <a:t>Governed extension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1400" dirty="0">
                <a:solidFill>
                  <a:schemeClr val="dk2"/>
                </a:solidFill>
              </a:rPr>
              <a:t>Material native gap is documented and justified</a:t>
            </a:r>
          </a:p>
        </p:txBody>
      </p:sp>
      <p:sp>
        <p:nvSpPr>
          <p:cNvPr id="109" name="Card 4"/>
          <p:cNvSpPr/>
          <p:nvPr/>
        </p:nvSpPr>
        <p:spPr>
          <a:xfrm>
            <a:off x="7315200" y="2095500"/>
            <a:ext cx="2133600" cy="40640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3175">
            <a:solidFill>
              <a:srgbClr val="D4CF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Band 4"/>
          <p:cNvSpPr/>
          <p:nvPr/>
        </p:nvSpPr>
        <p:spPr>
          <a:xfrm>
            <a:off x="7315200" y="2095500"/>
            <a:ext cx="2133600" cy="838200"/>
          </a:xfrm>
          <a:prstGeom prst="rect">
            <a:avLst/>
          </a:prstGeom>
          <a:solidFill>
            <a:srgbClr val="6E5440"/>
          </a:solidFill>
          <a:ln>
            <a:noFill/>
          </a:ln>
        </p:spPr>
        <p:txBody>
          <a:bodyPr lIns="91440" tIns="91440" rIns="91440" bIns="91440" anchor="ctr"/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1" name="Text 4"/>
          <p:cNvSpPr txBox="1"/>
          <p:nvPr/>
        </p:nvSpPr>
        <p:spPr>
          <a:xfrm>
            <a:off x="7442200" y="3136900"/>
            <a:ext cx="1879600" cy="2921000"/>
          </a:xfrm>
          <a:prstGeom prst="rect">
            <a:avLst/>
          </a:prstGeom>
          <a:noFill/>
        </p:spPr>
        <p:txBody>
          <a:bodyPr wrap="square" lIns="91440" tIns="36000" rIns="91440" bIns="36000" anchor="t"/>
          <a:lstStyle/>
          <a:p>
            <a:pPr algn="ctr">
              <a:buNone/>
            </a:pPr>
            <a:r>
              <a:rPr lang="en-US" sz="1600" b="1" dirty="0">
                <a:solidFill>
                  <a:schemeClr val="dk1"/>
                </a:solidFill>
              </a:rPr>
              <a:t>Conditional approval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1400" dirty="0">
                <a:solidFill>
                  <a:schemeClr val="dk2"/>
                </a:solidFill>
              </a:rPr>
              <a:t>Proceed after remediation or additional controls</a:t>
            </a:r>
          </a:p>
        </p:txBody>
      </p:sp>
      <p:sp>
        <p:nvSpPr>
          <p:cNvPr id="112" name="Card 5"/>
          <p:cNvSpPr/>
          <p:nvPr/>
        </p:nvSpPr>
        <p:spPr>
          <a:xfrm>
            <a:off x="9601200" y="2095500"/>
            <a:ext cx="2133600" cy="40640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3175">
            <a:solidFill>
              <a:srgbClr val="D4CF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and 5"/>
          <p:cNvSpPr/>
          <p:nvPr/>
        </p:nvSpPr>
        <p:spPr>
          <a:xfrm>
            <a:off x="9601200" y="2095500"/>
            <a:ext cx="2133600" cy="838200"/>
          </a:xfrm>
          <a:prstGeom prst="rect">
            <a:avLst/>
          </a:prstGeom>
          <a:solidFill>
            <a:srgbClr val="5A4A40"/>
          </a:solidFill>
          <a:ln>
            <a:noFill/>
          </a:ln>
        </p:spPr>
        <p:txBody>
          <a:bodyPr lIns="91440" tIns="91440" rIns="91440" bIns="91440" anchor="ctr"/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4" name="Text 5"/>
          <p:cNvSpPr txBox="1"/>
          <p:nvPr/>
        </p:nvSpPr>
        <p:spPr>
          <a:xfrm>
            <a:off x="9728200" y="3136900"/>
            <a:ext cx="1879600" cy="2921000"/>
          </a:xfrm>
          <a:prstGeom prst="rect">
            <a:avLst/>
          </a:prstGeom>
          <a:noFill/>
        </p:spPr>
        <p:txBody>
          <a:bodyPr wrap="square" lIns="91440" tIns="36000" rIns="91440" bIns="36000" anchor="t"/>
          <a:lstStyle/>
          <a:p>
            <a:pPr algn="ctr">
              <a:buNone/>
            </a:pPr>
            <a:r>
              <a:rPr lang="en-US" sz="1600" b="1" dirty="0">
                <a:solidFill>
                  <a:schemeClr val="dk1"/>
                </a:solidFill>
              </a:rPr>
              <a:t>Rejected / deferred</a:t>
            </a:r>
          </a:p>
          <a:p>
            <a:pPr algn="ctr">
              <a:spcBef>
                <a:spcPts val="600"/>
              </a:spcBef>
              <a:buNone/>
            </a:pPr>
            <a:r>
              <a:rPr lang="en-US" sz="1400" dirty="0">
                <a:solidFill>
                  <a:schemeClr val="dk2"/>
                </a:solidFill>
              </a:rPr>
              <a:t>Duplicate, unsupported, unclear, too risky, or not worth cost</a:t>
            </a:r>
          </a:p>
        </p:txBody>
      </p:sp>
    </p:spTree>
    <p:extLst>
      <p:ext uri="{BB962C8B-B14F-4D97-AF65-F5344CB8AC3E}">
        <p14:creationId xmlns:p14="http://schemas.microsoft.com/office/powerpoint/2010/main" val="2530749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E5A5-C1CB-6EB5-5BA7-083B033F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When a custom extension may be approved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35E50-C4AC-B182-4135-F1C222D2D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All eight criteria must be met before a governed extension is approved.</a:t>
            </a:r>
          </a:p>
          <a:p>
            <a:pPr marL="285750" indent="-285750">
              <a:spcBef>
                <a:spcPts val="350"/>
              </a:spcBef>
              <a:buFont typeface="Wingdings"/>
              <a:buChar char="ü"/>
            </a:pPr>
            <a:r>
              <a:rPr lang="en-US" sz="1500" b="1" dirty="0">
                <a:solidFill>
                  <a:schemeClr val="dk1"/>
                </a:solidFill>
              </a:rPr>
              <a:t>Native gap documented</a:t>
            </a:r>
            <a:r>
              <a:rPr lang="en-US" sz="1500" dirty="0">
                <a:solidFill>
                  <a:schemeClr val="dk2"/>
                </a:solidFill>
              </a:rPr>
              <a:t>  —  Native capability assessment is complete and a material gap is recorded.</a:t>
            </a:r>
          </a:p>
          <a:p>
            <a:pPr marL="285750" indent="-285750">
              <a:spcBef>
                <a:spcPts val="350"/>
              </a:spcBef>
              <a:buFont typeface="Wingdings"/>
              <a:buChar char="ü"/>
            </a:pPr>
            <a:r>
              <a:rPr lang="en-US" sz="1500" b="1" dirty="0">
                <a:solidFill>
                  <a:schemeClr val="dk1"/>
                </a:solidFill>
              </a:rPr>
              <a:t>Defined business need</a:t>
            </a:r>
            <a:r>
              <a:rPr lang="en-US" sz="1500" dirty="0">
                <a:solidFill>
                  <a:schemeClr val="dk2"/>
                </a:solidFill>
              </a:rPr>
              <a:t>  —  Use case supports a process, decision, control, reconciliation, or compliance need.</a:t>
            </a:r>
          </a:p>
          <a:p>
            <a:pPr marL="285750" indent="-285750">
              <a:spcBef>
                <a:spcPts val="350"/>
              </a:spcBef>
              <a:buFont typeface="Wingdings"/>
              <a:buChar char="ü"/>
            </a:pPr>
            <a:r>
              <a:rPr lang="en-US" sz="1500" b="1" dirty="0">
                <a:solidFill>
                  <a:schemeClr val="dk1"/>
                </a:solidFill>
              </a:rPr>
              <a:t>Oracle remains authoritative</a:t>
            </a:r>
            <a:r>
              <a:rPr lang="en-US" sz="1500" dirty="0">
                <a:solidFill>
                  <a:schemeClr val="dk2"/>
                </a:solidFill>
              </a:rPr>
              <a:t>  —  System of record is preserved for Oracle-owned data.</a:t>
            </a:r>
          </a:p>
          <a:p>
            <a:pPr marL="285750" indent="-285750">
              <a:spcBef>
                <a:spcPts val="350"/>
              </a:spcBef>
              <a:buFont typeface="Wingdings"/>
              <a:buChar char="ü"/>
            </a:pPr>
            <a:r>
              <a:rPr lang="en-US" sz="1500" b="1" dirty="0">
                <a:solidFill>
                  <a:schemeClr val="dk1"/>
                </a:solidFill>
              </a:rPr>
              <a:t>Lineage documented</a:t>
            </a:r>
            <a:r>
              <a:rPr lang="en-US" sz="1500" dirty="0">
                <a:solidFill>
                  <a:schemeClr val="dk2"/>
                </a:solidFill>
              </a:rPr>
              <a:t>  —  Source-to-output lineage from Oracle is traceable end to end.</a:t>
            </a:r>
          </a:p>
          <a:p>
            <a:pPr marL="285750" indent="-285750">
              <a:spcBef>
                <a:spcPts val="350"/>
              </a:spcBef>
              <a:buFont typeface="Wingdings"/>
              <a:buChar char="ü"/>
            </a:pPr>
            <a:r>
              <a:rPr lang="en-US" sz="1500" b="1" dirty="0">
                <a:solidFill>
                  <a:schemeClr val="dk1"/>
                </a:solidFill>
              </a:rPr>
              <a:t>Metrics approved</a:t>
            </a:r>
            <a:r>
              <a:rPr lang="en-US" sz="1500" dirty="0">
                <a:solidFill>
                  <a:schemeClr val="dk2"/>
                </a:solidFill>
              </a:rPr>
              <a:t>  —  Definitions, grain, filters, and business rules are approved.</a:t>
            </a:r>
          </a:p>
          <a:p>
            <a:pPr marL="285750" indent="-285750">
              <a:spcBef>
                <a:spcPts val="350"/>
              </a:spcBef>
              <a:buFont typeface="Wingdings"/>
              <a:buChar char="ü"/>
            </a:pPr>
            <a:r>
              <a:rPr lang="en-US" sz="1500" b="1" dirty="0">
                <a:solidFill>
                  <a:schemeClr val="dk1"/>
                </a:solidFill>
              </a:rPr>
              <a:t>Quality checks defined</a:t>
            </a:r>
            <a:r>
              <a:rPr lang="en-US" sz="1500" dirty="0">
                <a:solidFill>
                  <a:schemeClr val="dk2"/>
                </a:solidFill>
              </a:rPr>
              <a:t>  —  Critical fields and calculations have data quality checks.</a:t>
            </a:r>
          </a:p>
          <a:p>
            <a:pPr marL="285750" indent="-285750">
              <a:spcBef>
                <a:spcPts val="350"/>
              </a:spcBef>
              <a:buFont typeface="Wingdings"/>
              <a:buChar char="ü"/>
            </a:pPr>
            <a:r>
              <a:rPr lang="en-US" sz="1500" b="1" dirty="0">
                <a:solidFill>
                  <a:schemeClr val="dk1"/>
                </a:solidFill>
              </a:rPr>
              <a:t>Security &amp; retention</a:t>
            </a:r>
            <a:r>
              <a:rPr lang="en-US" sz="1500" dirty="0">
                <a:solidFill>
                  <a:schemeClr val="dk2"/>
                </a:solidFill>
              </a:rPr>
              <a:t>  —  Access, privacy, extract, download, and retention controls are approved.</a:t>
            </a:r>
          </a:p>
          <a:p>
            <a:pPr marL="285750" indent="-285750">
              <a:spcBef>
                <a:spcPts val="350"/>
              </a:spcBef>
              <a:buFont typeface="Wingdings"/>
              <a:buChar char="ü"/>
            </a:pPr>
            <a:r>
              <a:rPr lang="en-US" sz="1500" b="1" dirty="0">
                <a:solidFill>
                  <a:schemeClr val="dk1"/>
                </a:solidFill>
              </a:rPr>
              <a:t>Ownership &amp; change control</a:t>
            </a:r>
            <a:r>
              <a:rPr lang="en-US" sz="1500" dirty="0">
                <a:solidFill>
                  <a:schemeClr val="dk2"/>
                </a:solidFill>
              </a:rPr>
              <a:t>  —  Owner and steward named; change control and periodic review defined.</a:t>
            </a:r>
          </a:p>
        </p:txBody>
      </p:sp>
    </p:spTree>
    <p:extLst>
      <p:ext uri="{BB962C8B-B14F-4D97-AF65-F5344CB8AC3E}">
        <p14:creationId xmlns:p14="http://schemas.microsoft.com/office/powerpoint/2010/main" val="154750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1662-A1FE-6EC6-F2D7-5B2D83F32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Decoupling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B430F-7DA5-2722-56A2-1F4A17C84C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Prohibited without approval</a:t>
            </a:r>
          </a:p>
          <a:p>
            <a:pPr marL="228600" indent="-228600">
              <a:spcBef>
                <a:spcPts val="280"/>
              </a:spcBef>
              <a:buFont typeface="Arial"/>
              <a:buChar char="✖"/>
            </a:pPr>
            <a:r>
              <a:rPr lang="en-US" sz="1400" dirty="0">
                <a:solidFill>
                  <a:schemeClr val="dk2"/>
                </a:solidFill>
              </a:rPr>
              <a:t>Recurring manual exports used as unofficial databases</a:t>
            </a:r>
          </a:p>
          <a:p>
            <a:pPr marL="228600" indent="-228600">
              <a:spcBef>
                <a:spcPts val="280"/>
              </a:spcBef>
              <a:buFont typeface="Arial"/>
              <a:buChar char="✖"/>
            </a:pPr>
            <a:r>
              <a:rPr lang="en-US" sz="1400" dirty="0">
                <a:solidFill>
                  <a:schemeClr val="dk2"/>
                </a:solidFill>
              </a:rPr>
              <a:t>Personal or team spreadsheets becoming operational reporting sources</a:t>
            </a:r>
          </a:p>
          <a:p>
            <a:pPr marL="228600" indent="-228600">
              <a:spcBef>
                <a:spcPts val="280"/>
              </a:spcBef>
              <a:buFont typeface="Arial"/>
              <a:buChar char="✖"/>
            </a:pPr>
            <a:r>
              <a:rPr lang="en-US" sz="1400" dirty="0">
                <a:solidFill>
                  <a:schemeClr val="dk2"/>
                </a:solidFill>
              </a:rPr>
              <a:t>Replicated Oracle data stores without ownership, lineage, or controls</a:t>
            </a:r>
          </a:p>
          <a:p>
            <a:pPr marL="228600" indent="-228600">
              <a:spcBef>
                <a:spcPts val="280"/>
              </a:spcBef>
              <a:buFont typeface="Arial"/>
              <a:buChar char="✖"/>
            </a:pPr>
            <a:r>
              <a:rPr lang="en-US" sz="1400" dirty="0">
                <a:solidFill>
                  <a:schemeClr val="dk2"/>
                </a:solidFill>
              </a:rPr>
              <a:t>Custom dashboards that redefine Oracle metrics without approved governance</a:t>
            </a:r>
          </a:p>
          <a:p>
            <a:pPr marL="228600" indent="-228600">
              <a:spcBef>
                <a:spcPts val="280"/>
              </a:spcBef>
              <a:buFont typeface="Arial"/>
              <a:buChar char="✖"/>
            </a:pPr>
            <a:r>
              <a:rPr lang="en-US" sz="1400" dirty="0">
                <a:solidFill>
                  <a:schemeClr val="dk2"/>
                </a:solidFill>
              </a:rPr>
              <a:t>Extracts containing sensitive data without security or privacy review</a:t>
            </a:r>
          </a:p>
          <a:p>
            <a:pPr marL="228600" indent="-228600">
              <a:spcBef>
                <a:spcPts val="280"/>
              </a:spcBef>
              <a:buFont typeface="Arial"/>
              <a:buChar char="✖"/>
            </a:pPr>
            <a:r>
              <a:rPr lang="en-US" sz="1400" dirty="0">
                <a:solidFill>
                  <a:schemeClr val="dk2"/>
                </a:solidFill>
              </a:rPr>
              <a:t>Reports that bypass native control evidence or workflow history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8B7EE-A342-B630-5110-88BD6969D2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Required for approved decoupling</a:t>
            </a:r>
          </a:p>
          <a:p>
            <a:pPr marL="228600" indent="-228600">
              <a:spcBef>
                <a:spcPts val="280"/>
              </a:spcBef>
              <a:buFont typeface="Wingdings"/>
              <a:buChar char="ü"/>
            </a:pPr>
            <a:r>
              <a:rPr lang="en-US" sz="1400" b="1" dirty="0">
                <a:solidFill>
                  <a:schemeClr val="dk1"/>
                </a:solidFill>
              </a:rPr>
              <a:t>Ownership</a:t>
            </a:r>
            <a:r>
              <a:rPr lang="en-US" sz="1400" dirty="0">
                <a:solidFill>
                  <a:schemeClr val="dk2"/>
                </a:solidFill>
              </a:rPr>
              <a:t>  —  Business owner and technical steward named</a:t>
            </a:r>
          </a:p>
          <a:p>
            <a:pPr marL="228600" indent="-228600">
              <a:spcBef>
                <a:spcPts val="280"/>
              </a:spcBef>
              <a:buFont typeface="Wingdings"/>
              <a:buChar char="ü"/>
            </a:pPr>
            <a:r>
              <a:rPr lang="en-US" sz="1400" b="1" dirty="0">
                <a:solidFill>
                  <a:schemeClr val="dk1"/>
                </a:solidFill>
              </a:rPr>
              <a:t>Lineage</a:t>
            </a:r>
            <a:r>
              <a:rPr lang="en-US" sz="1400" dirty="0">
                <a:solidFill>
                  <a:schemeClr val="dk2"/>
                </a:solidFill>
              </a:rPr>
              <a:t>  —  Source-to-output documented end to end</a:t>
            </a:r>
          </a:p>
          <a:p>
            <a:pPr marL="228600" indent="-228600">
              <a:spcBef>
                <a:spcPts val="280"/>
              </a:spcBef>
              <a:buFont typeface="Wingdings"/>
              <a:buChar char="ü"/>
            </a:pPr>
            <a:r>
              <a:rPr lang="en-US" sz="1400" b="1" dirty="0">
                <a:solidFill>
                  <a:schemeClr val="dk1"/>
                </a:solidFill>
              </a:rPr>
              <a:t>Reconciliation</a:t>
            </a:r>
            <a:r>
              <a:rPr lang="en-US" sz="1400" dirty="0">
                <a:solidFill>
                  <a:schemeClr val="dk2"/>
                </a:solidFill>
              </a:rPr>
              <a:t>  —  Reconciles to Oracle-native authoritative totals</a:t>
            </a:r>
          </a:p>
          <a:p>
            <a:pPr marL="228600" indent="-228600">
              <a:spcBef>
                <a:spcPts val="280"/>
              </a:spcBef>
              <a:buFont typeface="Wingdings"/>
              <a:buChar char="ü"/>
            </a:pPr>
            <a:r>
              <a:rPr lang="en-US" sz="1400" b="1" dirty="0">
                <a:solidFill>
                  <a:schemeClr val="dk1"/>
                </a:solidFill>
              </a:rPr>
              <a:t>Refresh</a:t>
            </a:r>
            <a:r>
              <a:rPr lang="en-US" sz="1400" dirty="0">
                <a:solidFill>
                  <a:schemeClr val="dk2"/>
                </a:solidFill>
              </a:rPr>
              <a:t>  —  Cadence, latency, and failure handling defined</a:t>
            </a:r>
          </a:p>
          <a:p>
            <a:pPr marL="228600" indent="-228600">
              <a:spcBef>
                <a:spcPts val="280"/>
              </a:spcBef>
              <a:buFont typeface="Wingdings"/>
              <a:buChar char="ü"/>
            </a:pPr>
            <a:r>
              <a:rPr lang="en-US" sz="1400" b="1" dirty="0">
                <a:solidFill>
                  <a:schemeClr val="dk1"/>
                </a:solidFill>
              </a:rPr>
              <a:t>Quality</a:t>
            </a:r>
            <a:r>
              <a:rPr lang="en-US" sz="1400" dirty="0">
                <a:solidFill>
                  <a:schemeClr val="dk2"/>
                </a:solidFill>
              </a:rPr>
              <a:t>  —  Completeness, validity, consistency, timeliness, uniqueness</a:t>
            </a:r>
          </a:p>
          <a:p>
            <a:pPr marL="228600" indent="-228600">
              <a:spcBef>
                <a:spcPts val="280"/>
              </a:spcBef>
              <a:buFont typeface="Wingdings"/>
              <a:buChar char="ü"/>
            </a:pPr>
            <a:r>
              <a:rPr lang="en-US" sz="1400" b="1" dirty="0">
                <a:solidFill>
                  <a:schemeClr val="dk1"/>
                </a:solidFill>
              </a:rPr>
              <a:t>Security &amp; privacy</a:t>
            </a:r>
            <a:r>
              <a:rPr lang="en-US" sz="1400" dirty="0">
                <a:solidFill>
                  <a:schemeClr val="dk2"/>
                </a:solidFill>
              </a:rPr>
              <a:t>  —  Least privilege; PII purpose, masking, retention</a:t>
            </a:r>
          </a:p>
          <a:p>
            <a:pPr marL="228600" indent="-228600">
              <a:spcBef>
                <a:spcPts val="280"/>
              </a:spcBef>
              <a:buFont typeface="Wingdings"/>
              <a:buChar char="ü"/>
            </a:pPr>
            <a:r>
              <a:rPr lang="en-US" sz="1400" b="1" dirty="0">
                <a:solidFill>
                  <a:schemeClr val="dk1"/>
                </a:solidFill>
              </a:rPr>
              <a:t>Change control</a:t>
            </a:r>
            <a:r>
              <a:rPr lang="en-US" sz="1400" dirty="0">
                <a:solidFill>
                  <a:schemeClr val="dk2"/>
                </a:solidFill>
              </a:rPr>
              <a:t>  —  Logic, source, access changes logged and approved</a:t>
            </a:r>
          </a:p>
        </p:txBody>
      </p:sp>
    </p:spTree>
    <p:extLst>
      <p:ext uri="{BB962C8B-B14F-4D97-AF65-F5344CB8AC3E}">
        <p14:creationId xmlns:p14="http://schemas.microsoft.com/office/powerpoint/2010/main" val="196627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4441-26A7-4F11-295F-E661B7CE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Roles and accountability</a:t>
            </a:r>
          </a:p>
        </p:txBody>
      </p:sp>
      <p:graphicFrame>
        <p:nvGraphicFramePr>
          <p:cNvPr id="20" name="Roles Table"/>
          <p:cNvGraphicFramePr>
            <a:graphicFrameLocks noGrp="1"/>
          </p:cNvGraphicFramePr>
          <p:nvPr/>
        </p:nvGraphicFramePr>
        <p:xfrm>
          <a:off x="838200" y="1841500"/>
          <a:ext cx="10515600" cy="41148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Accountability</a:t>
                      </a:r>
                    </a:p>
                  </a:txBody>
                  <a:tcPr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Requester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C3E5A"/>
                          </a:solidFill>
                        </a:rPr>
                        <a:t>Defines business need, intended use, and required decision or action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Process Owner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C3E5A"/>
                          </a:solidFill>
                        </a:rPr>
                        <a:t>Confirms process relevance, native fit, and operational impact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Data Owner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C3E5A"/>
                          </a:solidFill>
                        </a:rPr>
                        <a:t>Approves data use and confirms authoritative source expectations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Metric Owner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C3E5A"/>
                          </a:solidFill>
                        </a:rPr>
                        <a:t>Approves metric definitions, formulas, thresholds, and grain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Data / Report Steward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C3E5A"/>
                          </a:solidFill>
                        </a:rPr>
                        <a:t>Maintains metadata, lineage, quality checks, and usage guidance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Security / Privacy Reviewer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C3E5A"/>
                          </a:solidFill>
                        </a:rPr>
                        <a:t>Reviews access, sensitive data, sharing, and retention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Governance Reviewer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C3E5A"/>
                          </a:solidFill>
                        </a:rPr>
                        <a:t>Confirms intake completeness, decision record, and policy compliance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solidFill>
                            <a:srgbClr val="C8553D"/>
                          </a:solidFill>
                        </a:rPr>
                        <a:t>IT / Analytics Delivery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solidFill>
                            <a:srgbClr val="2C3E5A"/>
                          </a:solidFill>
                        </a:rPr>
                        <a:t>Builds or configures the approved extension to governed requirements</a:t>
                      </a:r>
                    </a:p>
                  </a:txBody>
                  <a:tcPr>
                    <a:lnL w="6350">
                      <a:solidFill>
                        <a:srgbClr val="D4CFC4"/>
                      </a:solidFill>
                    </a:lnL>
                    <a:lnR w="6350">
                      <a:solidFill>
                        <a:srgbClr val="D4CFC4"/>
                      </a:solidFill>
                    </a:lnR>
                    <a:lnT w="6350">
                      <a:solidFill>
                        <a:srgbClr val="D4CFC4"/>
                      </a:solidFill>
                    </a:lnT>
                    <a:lnB w="6350">
                      <a:solidFill>
                        <a:srgbClr val="D4CFC4"/>
                      </a:solidFill>
                    </a:lnB>
                    <a:solidFill>
                      <a:srgbClr val="F4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869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A5BD-2C59-E779-B9F2-B07C6E30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Evidence, exceptions, and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0D284B-65F5-4E4E-A6FD-AD9D2DB45792}"/>
              </a:ext>
            </a:extLst>
          </p:cNvPr>
          <p:cNvSpPr/>
          <p:nvPr/>
        </p:nvSpPr>
        <p:spPr>
          <a:xfrm>
            <a:off x="457200" y="1841500"/>
            <a:ext cx="3623733" cy="558800"/>
          </a:xfrm>
          <a:prstGeom prst="rect">
            <a:avLst/>
          </a:prstGeom>
          <a:solidFill>
            <a:srgbClr val="A0403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Evidence retained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360B8-2A6D-4F42-A851-C031C7ACB1F9}"/>
              </a:ext>
            </a:extLst>
          </p:cNvPr>
          <p:cNvSpPr/>
          <p:nvPr/>
        </p:nvSpPr>
        <p:spPr>
          <a:xfrm>
            <a:off x="457200" y="2400300"/>
            <a:ext cx="3623733" cy="3886200"/>
          </a:xfrm>
          <a:prstGeom prst="rect">
            <a:avLst/>
          </a:prstGeom>
          <a:solidFill>
            <a:srgbClr val="F4F1EC"/>
          </a:solidFill>
          <a:ln w="3175" cap="flat" cmpd="sng" algn="ctr">
            <a:solidFill>
              <a:srgbClr val="D4CF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en-US" sz="1400">
                <a:solidFill>
                  <a:srgbClr val="2C3E5A"/>
                </a:solidFill>
              </a:rPr>
              <a:t>•  Completed intake and decision record
•  Native capability assessment
•  Metric definitions and approved formulas
•  Source lineage and transformation logic
•  Data quality checks and thresholds
•  Security/privacy review and access approval
•  Change log and user guidance
•  Retirement or review 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32BB4-55B6-4EB5-81BA-55D58DA8BB89}"/>
              </a:ext>
            </a:extLst>
          </p:cNvPr>
          <p:cNvSpPr/>
          <p:nvPr/>
        </p:nvSpPr>
        <p:spPr>
          <a:xfrm>
            <a:off x="4284133" y="1841500"/>
            <a:ext cx="3623733" cy="558800"/>
          </a:xfrm>
          <a:prstGeom prst="rect">
            <a:avLst/>
          </a:prstGeom>
          <a:solidFill>
            <a:srgbClr val="3F55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Exceptions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DA60E6-E01B-4056-BC07-5DC87B6562C1}"/>
              </a:ext>
            </a:extLst>
          </p:cNvPr>
          <p:cNvSpPr/>
          <p:nvPr/>
        </p:nvSpPr>
        <p:spPr>
          <a:xfrm>
            <a:off x="4284133" y="2400300"/>
            <a:ext cx="3623733" cy="3886200"/>
          </a:xfrm>
          <a:prstGeom prst="rect">
            <a:avLst/>
          </a:prstGeom>
          <a:solidFill>
            <a:srgbClr val="F4F1EC"/>
          </a:solidFill>
          <a:ln w="3175" cap="flat" cmpd="sng" algn="ctr">
            <a:solidFill>
              <a:srgbClr val="D4CF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en-US" sz="1400">
                <a:solidFill>
                  <a:srgbClr val="2C3E5A"/>
                </a:solidFill>
              </a:rPr>
              <a:t>•  Documented business justification
•  Native capability assessed
•  Risk accepted; compensating controls
•  Data sensitivity classification
•  Approver and expiration date
•  Required follow-up action
•  Emergency exceptions are time-bound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753EA-7875-452F-AC46-E0F63AEC1240}"/>
              </a:ext>
            </a:extLst>
          </p:cNvPr>
          <p:cNvSpPr/>
          <p:nvPr/>
        </p:nvSpPr>
        <p:spPr>
          <a:xfrm>
            <a:off x="8111066" y="1841500"/>
            <a:ext cx="3623733" cy="558800"/>
          </a:xfrm>
          <a:prstGeom prst="rect">
            <a:avLst/>
          </a:prstGeom>
          <a:solidFill>
            <a:srgbClr val="4A6B5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Review and compliance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DA99B9-0EAA-49C9-89EE-A513FB0AF0E4}"/>
              </a:ext>
            </a:extLst>
          </p:cNvPr>
          <p:cNvSpPr/>
          <p:nvPr/>
        </p:nvSpPr>
        <p:spPr>
          <a:xfrm>
            <a:off x="8111066" y="2400300"/>
            <a:ext cx="3623733" cy="3886200"/>
          </a:xfrm>
          <a:prstGeom prst="rect">
            <a:avLst/>
          </a:prstGeom>
          <a:solidFill>
            <a:srgbClr val="F4F1EC"/>
          </a:solidFill>
          <a:ln w="3175" cap="flat" cmpd="sng" algn="ctr">
            <a:solidFill>
              <a:srgbClr val="D4CF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pPr algn="l"/>
            <a:r>
              <a:rPr lang="en-US" sz="1400">
                <a:solidFill>
                  <a:srgbClr val="2C3E5A"/>
                </a:solidFill>
              </a:rPr>
              <a:t>•  Reviewed at least annually
•  Owner: Data / Finance Governance
•  Approval: Data Governance Council
•  Periodic review of active extensions
•  Noncompliance: retire, restrict, remediate
•  Escalate to governance leadership</a:t>
            </a:r>
          </a:p>
        </p:txBody>
      </p:sp>
    </p:spTree>
    <p:extLst>
      <p:ext uri="{BB962C8B-B14F-4D97-AF65-F5344CB8AC3E}">
        <p14:creationId xmlns:p14="http://schemas.microsoft.com/office/powerpoint/2010/main" val="1339712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1BF1-3AAB-88B8-619E-6F93C3F4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chemeClr val="dk1"/>
                </a:solidFill>
              </a:rPr>
              <a:t>Next steps for adoption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CC24F-9110-6A3F-3329-3D0CFA4A1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Six actions to operationalize the policy.</a:t>
            </a:r>
          </a:p>
          <a:p>
            <a:pPr marL="400050" indent="-40005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 </a:t>
            </a:r>
            <a:r>
              <a:rPr lang="en-US" sz="1600" b="1" dirty="0">
                <a:solidFill>
                  <a:schemeClr val="dk1"/>
                </a:solidFill>
              </a:rPr>
              <a:t>Council review and approval</a:t>
            </a:r>
            <a:r>
              <a:rPr lang="en-US" sz="1500" dirty="0">
                <a:solidFill>
                  <a:schemeClr val="dk2"/>
                </a:solidFill>
              </a:rPr>
              <a:t>  —  Data Governance Council reviews and approves Version 1.0; assigns policy owner.</a:t>
            </a:r>
          </a:p>
          <a:p>
            <a:pPr marL="400050" indent="-40005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accent1"/>
                </a:solidFill>
              </a:rPr>
              <a:t>2.  </a:t>
            </a:r>
            <a:r>
              <a:rPr lang="en-US" sz="1600" b="1" dirty="0">
                <a:solidFill>
                  <a:schemeClr val="dk1"/>
                </a:solidFill>
              </a:rPr>
              <a:t>Designate role holders</a:t>
            </a:r>
            <a:r>
              <a:rPr lang="en-US" sz="1500" dirty="0">
                <a:solidFill>
                  <a:schemeClr val="dk2"/>
                </a:solidFill>
              </a:rPr>
              <a:t>  —  Confirm Process, Data, and Metric Owners across Oracle process areas.</a:t>
            </a:r>
          </a:p>
          <a:p>
            <a:pPr marL="400050" indent="-40005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accent1"/>
                </a:solidFill>
              </a:rPr>
              <a:t>3.  </a:t>
            </a:r>
            <a:r>
              <a:rPr lang="en-US" sz="1600" b="1" dirty="0">
                <a:solidFill>
                  <a:schemeClr val="dk1"/>
                </a:solidFill>
              </a:rPr>
              <a:t>Stand up intake</a:t>
            </a:r>
            <a:r>
              <a:rPr lang="en-US" sz="1500" dirty="0">
                <a:solidFill>
                  <a:schemeClr val="dk2"/>
                </a:solidFill>
              </a:rPr>
              <a:t>  —  Publish the intake form, decision register, and exception log; train reviewers.</a:t>
            </a:r>
          </a:p>
          <a:p>
            <a:pPr marL="400050" indent="-40005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accent1"/>
                </a:solidFill>
              </a:rPr>
              <a:t>4.  </a:t>
            </a:r>
            <a:r>
              <a:rPr lang="en-US" sz="1600" b="1" dirty="0">
                <a:solidFill>
                  <a:schemeClr val="dk1"/>
                </a:solidFill>
              </a:rPr>
              <a:t>Inventory existing extensions</a:t>
            </a:r>
            <a:r>
              <a:rPr lang="en-US" sz="1500" dirty="0">
                <a:solidFill>
                  <a:schemeClr val="dk2"/>
                </a:solidFill>
              </a:rPr>
              <a:t>  —  Catalog active dashboards, extracts, and data marts; classify by decision path.</a:t>
            </a:r>
          </a:p>
          <a:p>
            <a:pPr marL="400050" indent="-40005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accent1"/>
                </a:solidFill>
              </a:rPr>
              <a:t>5.  </a:t>
            </a:r>
            <a:r>
              <a:rPr lang="en-US" sz="1600" b="1" dirty="0">
                <a:solidFill>
                  <a:schemeClr val="dk1"/>
                </a:solidFill>
              </a:rPr>
              <a:t>Remediation roadmap</a:t>
            </a:r>
            <a:r>
              <a:rPr lang="en-US" sz="1500" dirty="0">
                <a:solidFill>
                  <a:schemeClr val="dk2"/>
                </a:solidFill>
              </a:rPr>
              <a:t>  —  Triage gaps; prioritize lineage, ownership, and access remediation by risk.</a:t>
            </a:r>
          </a:p>
          <a:p>
            <a:pPr marL="400050" indent="-400050">
              <a:spcBef>
                <a:spcPts val="400"/>
              </a:spcBef>
              <a:buNone/>
            </a:pPr>
            <a:r>
              <a:rPr lang="en-US" sz="1700" b="1" dirty="0">
                <a:solidFill>
                  <a:schemeClr val="accent1"/>
                </a:solidFill>
              </a:rPr>
              <a:t>6.  </a:t>
            </a:r>
            <a:r>
              <a:rPr lang="en-US" sz="1600" b="1" dirty="0">
                <a:solidFill>
                  <a:schemeClr val="dk1"/>
                </a:solidFill>
              </a:rPr>
              <a:t>Communications and enablement</a:t>
            </a:r>
            <a:r>
              <a:rPr lang="en-US" sz="1500" dirty="0">
                <a:solidFill>
                  <a:schemeClr val="dk2"/>
                </a:solidFill>
              </a:rPr>
              <a:t>  —  Brief process owners and analytics teams; publish guidance and FAQs.</a:t>
            </a:r>
          </a:p>
        </p:txBody>
      </p:sp>
    </p:spTree>
    <p:extLst>
      <p:ext uri="{BB962C8B-B14F-4D97-AF65-F5344CB8AC3E}">
        <p14:creationId xmlns:p14="http://schemas.microsoft.com/office/powerpoint/2010/main" val="284559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357021500]">
  <a:themeElements>
    <a:clrScheme name="Office">
      <a:dk1>
        <a:srgbClr val="1A2332"/>
      </a:dk1>
      <a:lt1>
        <a:srgbClr val="FFFFFF"/>
      </a:lt1>
      <a:dk2>
        <a:srgbClr val="2C3E5A"/>
      </a:dk2>
      <a:lt2>
        <a:srgbClr val="F4F1EC"/>
      </a:lt2>
      <a:accent1>
        <a:srgbClr val="C8553D"/>
      </a:accent1>
      <a:accent2>
        <a:srgbClr val="1A2332"/>
      </a:accent2>
      <a:accent3>
        <a:srgbClr val="5A7A8C"/>
      </a:accent3>
      <a:accent4>
        <a:srgbClr val="B8A88A"/>
      </a:accent4>
      <a:accent5>
        <a:srgbClr val="6B8E7F"/>
      </a:accent5>
      <a:accent6>
        <a:srgbClr val="8C6E54"/>
      </a:accent6>
      <a:hlink>
        <a:srgbClr val="0563C1"/>
      </a:hlink>
      <a:folHlink>
        <a:srgbClr val="954F72"/>
      </a:folHlink>
    </a:clrScheme>
    <a:fontScheme name="Office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947C9F-6C8A-414F-860C-64E1BCCC5AA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41badd3-0d73-42cf-b845-0b769f05795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1422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Wingdings</vt:lpstr>
      <vt:lpstr>Office Theme [1778357021500]</vt:lpstr>
      <vt:lpstr>Analytics Intake &amp; Extension Policy</vt:lpstr>
      <vt:lpstr>Why we need this policy</vt:lpstr>
      <vt:lpstr>Seven guiding principles</vt:lpstr>
      <vt:lpstr>Scope</vt:lpstr>
      <vt:lpstr>Required intake information</vt:lpstr>
      <vt:lpstr>Native-first assessment</vt:lpstr>
      <vt:lpstr>Decision standard: five approved paths</vt:lpstr>
      <vt:lpstr>When a custom extension may be approved</vt:lpstr>
      <vt:lpstr>Decoupling controls</vt:lpstr>
      <vt:lpstr>Roles and accountability</vt:lpstr>
      <vt:lpstr>Evidence, exceptions, and review</vt:lpstr>
      <vt:lpstr>Next steps for adoption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John</dc:creator>
  <cp:lastModifiedBy>Brian John</cp:lastModifiedBy>
  <cp:revision>2</cp:revision>
  <dcterms:created xsi:type="dcterms:W3CDTF">2026-05-09T20:03:41Z</dcterms:created>
  <dcterms:modified xsi:type="dcterms:W3CDTF">2026-05-09T20:35:26Z</dcterms:modified>
</cp:coreProperties>
</file>