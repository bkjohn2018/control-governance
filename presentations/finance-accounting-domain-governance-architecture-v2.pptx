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5F53-AD0B-BBCB-45E8-6803D4D0F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89194-CA4C-F1C8-70FC-C87F7723F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BD6F6-30E5-0ABE-B1AA-F1EAF980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4D0A3-28E4-105E-DC7C-3A8B5209B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3E603-5721-79A5-E1B2-F46CC7AF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17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E72C-57CD-B6D7-8241-9BBEA8A0A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4B1C8-C821-6AA1-E0F1-B6348476F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EDFAA-E398-392B-4ED2-2D0397D4C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0E0C8-D639-8008-4EC6-C06F5FCB7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FFF1D-4CAF-F6A7-7259-D3FFD5D9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25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11B8-6D35-98A4-819B-D11F53054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C348A-6BDD-D463-2640-87755C0A9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D2F05-3C0E-A38C-5550-54AF2D3D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8BF57-B9A5-16F9-938D-AB4BF35C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1FD8D-CF9D-28B8-BB98-7F0AA40D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5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321D-1433-28B1-DCAA-1371D65DA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7B015-A152-301F-AFEB-B6C3E77CAD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A35F4-F1BC-AF2A-B6FD-6483348D5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A9A9D-AE91-10CB-69E7-03C9FC29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87885-AC00-8C97-DA17-3C3D8A925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5C426-8C14-9935-53CA-A1C5DB47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696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8D9F3-C263-5CBA-3ED6-552107F4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30A2A-E65E-3069-D8DE-64D4DC685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D2649-5F91-836D-413E-3E7666D97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E1E9E-094B-CFFE-48D2-E596F37F7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645B1-F5CD-09C4-5BB3-78E9D2482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9AE7E-FEDB-75C1-8680-AEA046567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85AC11-9891-ADFB-6DE0-116A40DC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29A9C-1129-CD7F-997B-EC16E315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72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9C65-64A2-A5D5-8582-1BE65B64D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E1D7-7B49-2DBC-5664-4146D6B32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2BECB-297A-9282-FDE7-0A1B8E31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EE5F8-84C5-8E6A-D2DD-D573377A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1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1B5E8-2481-2CCD-5C94-7F4C142B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F92EC-4441-6A7E-92B9-0E7B20F7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B6AB1-8D5C-A267-2291-33498C39F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2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E0DB3-A3BB-66DE-6889-E131C9EA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468EB-7341-2360-30B7-FCDBA3BD6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851B2-6268-D051-34F0-4574708A2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23AE5-01AE-823A-E325-1A34FBD4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AE301-C154-A634-9DD3-77BD8620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BA5CD-7C8C-157C-12FF-7B10F945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9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4A5A-C32B-A1FA-0200-D6E604E3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2BDE71-A904-E87A-AA35-6E92AD04D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B7E8F-EF53-49DC-2E9B-79A525E9A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F89B6-38AC-DE76-EC83-0E388AB4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68A93-6CC2-7796-2541-73358334D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1FB74-2D72-5B66-801D-D138DFD0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0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DE1E-9FEF-EC3D-F023-7A7702FD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4C84-D739-00A2-F243-F79915A9A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7184E-6DFC-388D-80A0-4A476A6A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B4A5B-5E05-CD6D-2CBD-2A64968A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12BF3-3610-B778-148C-AFCBFD59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2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4CC6FE-DEF2-7186-3929-73E8B5BE9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3C8FC-F461-BBDA-63E8-506287397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2646A-9A8C-DECD-9C3B-C6BA914E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6FBB8-BBEC-BC13-F25C-340FAC1F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245DC-55A1-5B63-60F8-9A411B29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05B82-6FD2-46A0-EBD7-DA96ED9BA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A4857-B7EA-582A-483F-D81C366E4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ABE15-B927-8479-C89D-BDCC93DFA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B2464-610E-4449-9F38-32264B89634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84879-A805-9DF6-CE9C-20E1AB182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23B87-2CC0-9E95-17A6-5BDD8B3C3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037BE-A878-45FC-9C2F-5C996631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90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54FC47-63D9-DDE2-D541-CF41244CF2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F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7360F-668C-FBE1-CB9A-8153330D3EE9}"/>
              </a:ext>
            </a:extLst>
          </p:cNvPr>
          <p:cNvSpPr/>
          <p:nvPr/>
        </p:nvSpPr>
        <p:spPr>
          <a:xfrm>
            <a:off x="0" y="5054600"/>
            <a:ext cx="12192000" cy="1803400"/>
          </a:xfrm>
          <a:prstGeom prst="rect">
            <a:avLst/>
          </a:prstGeom>
          <a:solidFill>
            <a:srgbClr val="0B2D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2BED5-39E6-C59B-6B07-37DD22101BF4}"/>
              </a:ext>
            </a:extLst>
          </p:cNvPr>
          <p:cNvSpPr txBox="1"/>
          <p:nvPr/>
        </p:nvSpPr>
        <p:spPr>
          <a:xfrm>
            <a:off x="736600" y="1193800"/>
            <a:ext cx="10160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6427D-DE93-1F2F-B8DA-8E03215412E3}"/>
              </a:ext>
            </a:extLst>
          </p:cNvPr>
          <p:cNvSpPr txBox="1"/>
          <p:nvPr/>
        </p:nvSpPr>
        <p:spPr>
          <a:xfrm>
            <a:off x="787400" y="2133600"/>
            <a:ext cx="1003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</a:rPr>
              <a:t>A reusable model for governing operations, analytics, AI augmentation, and bounded agents across F&amp;A domains.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3F03D9-0E7E-5ACB-45DA-BD02A32B546D}"/>
              </a:ext>
            </a:extLst>
          </p:cNvPr>
          <p:cNvCxnSpPr/>
          <p:nvPr/>
        </p:nvCxnSpPr>
        <p:spPr>
          <a:xfrm>
            <a:off x="787400" y="3073400"/>
            <a:ext cx="4546600" cy="0"/>
          </a:xfrm>
          <a:prstGeom prst="straightConnector1">
            <a:avLst/>
          </a:prstGeom>
          <a:ln w="25400">
            <a:solidFill>
              <a:srgbClr val="82B5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C77A48-1952-A71A-9AF6-273B98AA0EA1}"/>
              </a:ext>
            </a:extLst>
          </p:cNvPr>
          <p:cNvSpPr txBox="1"/>
          <p:nvPr/>
        </p:nvSpPr>
        <p:spPr>
          <a:xfrm>
            <a:off x="787400" y="34036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D2E2FF"/>
                </a:solidFill>
                <a:latin typeface="Aptos" panose="020B0004020202020204" pitchFamily="34" charset="0"/>
              </a:rPr>
              <a:t>AP Invoice-to-Pay is the first worked example, not the target architecture.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2D52A-A799-380E-F4C8-0B81A5DE3821}"/>
              </a:ext>
            </a:extLst>
          </p:cNvPr>
          <p:cNvSpPr txBox="1"/>
          <p:nvPr/>
        </p:nvSpPr>
        <p:spPr>
          <a:xfrm>
            <a:off x="787400" y="5638800"/>
            <a:ext cx="533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2E2FF"/>
                </a:solidFill>
                <a:latin typeface="Aptos" panose="020B0004020202020204" pitchFamily="34" charset="0"/>
              </a:rPr>
              <a:t>Executive reference architecture | Version 2</a:t>
            </a:r>
          </a:p>
        </p:txBody>
      </p:sp>
    </p:spTree>
    <p:extLst>
      <p:ext uri="{BB962C8B-B14F-4D97-AF65-F5344CB8AC3E}">
        <p14:creationId xmlns:p14="http://schemas.microsoft.com/office/powerpoint/2010/main" val="587081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896D8C-91B5-6AD7-2FF1-97862F652400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EXECUTIVE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BB513-7390-A019-351D-FBDE42F78716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AI Governance Starts With Domain Governance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7CA4A7-7712-7973-B9D9-A3E106C95F34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874AB56-FFA4-7B4E-FE23-EC833759A98F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61D1BA-EA38-8790-90F1-058F98184E5D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59A6B-02FD-119D-CDB6-49214F191655}"/>
              </a:ext>
            </a:extLst>
          </p:cNvPr>
          <p:cNvSpPr txBox="1"/>
          <p:nvPr/>
        </p:nvSpPr>
        <p:spPr>
          <a:xfrm>
            <a:off x="889000" y="1600200"/>
            <a:ext cx="1041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81F46"/>
                </a:solidFill>
                <a:latin typeface="Aptos" panose="020B0004020202020204" pitchFamily="34" charset="0"/>
              </a:rPr>
              <a:t>Finance &amp; Accounting should not start by governing AI in isolation. It should start by governing the domain: the process, data, controls, evidence, and accountability that AI and agents must inherit.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0FE5A9-ED04-CAE3-E477-DDD69B57BDA9}"/>
              </a:ext>
            </a:extLst>
          </p:cNvPr>
          <p:cNvSpPr/>
          <p:nvPr/>
        </p:nvSpPr>
        <p:spPr>
          <a:xfrm>
            <a:off x="1117600" y="2768600"/>
            <a:ext cx="2336800" cy="812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2BF7F-248C-E8D8-3945-0494A9DEB00F}"/>
              </a:ext>
            </a:extLst>
          </p:cNvPr>
          <p:cNvSpPr txBox="1"/>
          <p:nvPr/>
        </p:nvSpPr>
        <p:spPr>
          <a:xfrm>
            <a:off x="1219200" y="2984500"/>
            <a:ext cx="213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81F46"/>
                </a:solidFill>
                <a:latin typeface="Aptos" panose="020B0004020202020204" pitchFamily="34" charset="0"/>
              </a:rPr>
              <a:t>Govern the 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1EDC07-F9C0-ABD4-5EC4-51CB4407E061}"/>
              </a:ext>
            </a:extLst>
          </p:cNvPr>
          <p:cNvSpPr txBox="1"/>
          <p:nvPr/>
        </p:nvSpPr>
        <p:spPr>
          <a:xfrm>
            <a:off x="3467100" y="3073400"/>
            <a:ext cx="17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1817E4-1B44-B600-7339-6AC771BDEF9F}"/>
              </a:ext>
            </a:extLst>
          </p:cNvPr>
          <p:cNvSpPr/>
          <p:nvPr/>
        </p:nvSpPr>
        <p:spPr>
          <a:xfrm>
            <a:off x="3657600" y="2768600"/>
            <a:ext cx="2336800" cy="812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83BD3A-BA8D-1FAB-D0C6-53E72605FEA9}"/>
              </a:ext>
            </a:extLst>
          </p:cNvPr>
          <p:cNvSpPr txBox="1"/>
          <p:nvPr/>
        </p:nvSpPr>
        <p:spPr>
          <a:xfrm>
            <a:off x="3759200" y="2984500"/>
            <a:ext cx="213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81F46"/>
                </a:solidFill>
                <a:latin typeface="Aptos" panose="020B0004020202020204" pitchFamily="34" charset="0"/>
              </a:rPr>
              <a:t>Govern the analytics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40218-DF24-98E6-9E02-152CC3E8C9A9}"/>
              </a:ext>
            </a:extLst>
          </p:cNvPr>
          <p:cNvSpPr txBox="1"/>
          <p:nvPr/>
        </p:nvSpPr>
        <p:spPr>
          <a:xfrm>
            <a:off x="6007100" y="3073400"/>
            <a:ext cx="17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4FEEEC-BDF3-CA70-144C-0145670E01E5}"/>
              </a:ext>
            </a:extLst>
          </p:cNvPr>
          <p:cNvSpPr/>
          <p:nvPr/>
        </p:nvSpPr>
        <p:spPr>
          <a:xfrm>
            <a:off x="6197600" y="2768600"/>
            <a:ext cx="2336800" cy="812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CB46C5-3EA8-6334-E0B2-B1A0036B680A}"/>
              </a:ext>
            </a:extLst>
          </p:cNvPr>
          <p:cNvSpPr txBox="1"/>
          <p:nvPr/>
        </p:nvSpPr>
        <p:spPr>
          <a:xfrm>
            <a:off x="6299200" y="2984500"/>
            <a:ext cx="213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81F46"/>
                </a:solidFill>
                <a:latin typeface="Aptos" panose="020B0004020202020204" pitchFamily="34" charset="0"/>
              </a:rPr>
              <a:t>Govern AI use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9BB81-19F6-FDA5-488B-A8EBF6DFBF24}"/>
              </a:ext>
            </a:extLst>
          </p:cNvPr>
          <p:cNvSpPr txBox="1"/>
          <p:nvPr/>
        </p:nvSpPr>
        <p:spPr>
          <a:xfrm>
            <a:off x="8547100" y="3073400"/>
            <a:ext cx="17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B6CCCA-4E91-9D97-C394-5D85516C4F9F}"/>
              </a:ext>
            </a:extLst>
          </p:cNvPr>
          <p:cNvSpPr/>
          <p:nvPr/>
        </p:nvSpPr>
        <p:spPr>
          <a:xfrm>
            <a:off x="8737600" y="2768600"/>
            <a:ext cx="2336800" cy="812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4745CE-16DB-4C94-1D82-AF972C0C672C}"/>
              </a:ext>
            </a:extLst>
          </p:cNvPr>
          <p:cNvSpPr txBox="1"/>
          <p:nvPr/>
        </p:nvSpPr>
        <p:spPr>
          <a:xfrm>
            <a:off x="8839200" y="2984500"/>
            <a:ext cx="213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81F46"/>
                </a:solidFill>
                <a:latin typeface="Aptos" panose="020B0004020202020204" pitchFamily="34" charset="0"/>
              </a:rPr>
              <a:t>Bound agent activity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D3E02E-1D9A-440B-1308-AB273229E430}"/>
              </a:ext>
            </a:extLst>
          </p:cNvPr>
          <p:cNvSpPr/>
          <p:nvPr/>
        </p:nvSpPr>
        <p:spPr>
          <a:xfrm>
            <a:off x="889000" y="4191000"/>
            <a:ext cx="2413000" cy="1397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2119EB-2FB0-99DA-8CB4-BE07DA05BEE2}"/>
              </a:ext>
            </a:extLst>
          </p:cNvPr>
          <p:cNvSpPr/>
          <p:nvPr/>
        </p:nvSpPr>
        <p:spPr>
          <a:xfrm>
            <a:off x="889000" y="4191000"/>
            <a:ext cx="63500" cy="1397000"/>
          </a:xfrm>
          <a:prstGeom prst="rect">
            <a:avLst/>
          </a:prstGeom>
          <a:solidFill>
            <a:srgbClr val="1C5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15B881-C0AB-4536-B97F-0A3AC82262E4}"/>
              </a:ext>
            </a:extLst>
          </p:cNvPr>
          <p:cNvSpPr txBox="1"/>
          <p:nvPr/>
        </p:nvSpPr>
        <p:spPr>
          <a:xfrm>
            <a:off x="1117600" y="43688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Problem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D4E3EF-A01F-48A9-0985-8D0818F09563}"/>
              </a:ext>
            </a:extLst>
          </p:cNvPr>
          <p:cNvSpPr txBox="1"/>
          <p:nvPr/>
        </p:nvSpPr>
        <p:spPr>
          <a:xfrm>
            <a:off x="1117600" y="4749800"/>
            <a:ext cx="2032000" cy="8463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AI is entering finance work before process, analytics, accountability, data boundaries, and evidence requirements are consistently defined.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2F3F899-7FB9-8156-B133-392586BB3DD7}"/>
              </a:ext>
            </a:extLst>
          </p:cNvPr>
          <p:cNvSpPr/>
          <p:nvPr/>
        </p:nvSpPr>
        <p:spPr>
          <a:xfrm>
            <a:off x="3556000" y="4191000"/>
            <a:ext cx="2413000" cy="1397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A7726D-C63A-025A-9E57-0F77A7651902}"/>
              </a:ext>
            </a:extLst>
          </p:cNvPr>
          <p:cNvSpPr/>
          <p:nvPr/>
        </p:nvSpPr>
        <p:spPr>
          <a:xfrm>
            <a:off x="3556000" y="4191000"/>
            <a:ext cx="63500" cy="1397000"/>
          </a:xfrm>
          <a:prstGeom prst="rect">
            <a:avLst/>
          </a:prstGeom>
          <a:solidFill>
            <a:srgbClr val="2184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9D882D-8193-038D-8B6C-A6BE4C4683EA}"/>
              </a:ext>
            </a:extLst>
          </p:cNvPr>
          <p:cNvSpPr txBox="1"/>
          <p:nvPr/>
        </p:nvSpPr>
        <p:spPr>
          <a:xfrm>
            <a:off x="3784600" y="43688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Architecture response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1EFF9A-33B1-46C7-1E52-761C9977AD79}"/>
              </a:ext>
            </a:extLst>
          </p:cNvPr>
          <p:cNvSpPr txBox="1"/>
          <p:nvPr/>
        </p:nvSpPr>
        <p:spPr>
          <a:xfrm>
            <a:off x="3784600" y="4749800"/>
            <a:ext cx="2032000" cy="8463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Separate operations, analytics, AI augmentation, and bounded agents while applying shared governance controls across all layers.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14BF4F9-9AC3-50EA-8594-18CAA912055D}"/>
              </a:ext>
            </a:extLst>
          </p:cNvPr>
          <p:cNvSpPr/>
          <p:nvPr/>
        </p:nvSpPr>
        <p:spPr>
          <a:xfrm>
            <a:off x="6223000" y="4191000"/>
            <a:ext cx="2413000" cy="1397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E64854-0099-0C92-6DD2-83C528F6068E}"/>
              </a:ext>
            </a:extLst>
          </p:cNvPr>
          <p:cNvSpPr/>
          <p:nvPr/>
        </p:nvSpPr>
        <p:spPr>
          <a:xfrm>
            <a:off x="6223000" y="4191000"/>
            <a:ext cx="63500" cy="1397000"/>
          </a:xfrm>
          <a:prstGeom prst="rect">
            <a:avLst/>
          </a:prstGeom>
          <a:solidFill>
            <a:srgbClr val="6549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DFCF93-6930-A333-118A-37341E513905}"/>
              </a:ext>
            </a:extLst>
          </p:cNvPr>
          <p:cNvSpPr txBox="1"/>
          <p:nvPr/>
        </p:nvSpPr>
        <p:spPr>
          <a:xfrm>
            <a:off x="6451600" y="43688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6549AF"/>
                </a:solidFill>
                <a:latin typeface="Aptos" panose="020B0004020202020204" pitchFamily="34" charset="0"/>
              </a:rPr>
              <a:t>AP rationale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2A9A2D-8844-8DB3-6759-DA029C13B5CF}"/>
              </a:ext>
            </a:extLst>
          </p:cNvPr>
          <p:cNvSpPr txBox="1"/>
          <p:nvPr/>
        </p:nvSpPr>
        <p:spPr>
          <a:xfrm>
            <a:off x="6451600" y="4749800"/>
            <a:ext cx="2032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AP is control-heavy, evidence-rich, exception-prone, and data-sensitive, making it a strong proving ground.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589CB60-2577-0B73-09CA-7F210C8E8495}"/>
              </a:ext>
            </a:extLst>
          </p:cNvPr>
          <p:cNvSpPr/>
          <p:nvPr/>
        </p:nvSpPr>
        <p:spPr>
          <a:xfrm>
            <a:off x="8890000" y="4191000"/>
            <a:ext cx="2413000" cy="1397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D57A4A-6749-3582-F16D-82E4A3BDEDFA}"/>
              </a:ext>
            </a:extLst>
          </p:cNvPr>
          <p:cNvSpPr/>
          <p:nvPr/>
        </p:nvSpPr>
        <p:spPr>
          <a:xfrm>
            <a:off x="8890000" y="4191000"/>
            <a:ext cx="63500" cy="1397000"/>
          </a:xfrm>
          <a:prstGeom prst="rect">
            <a:avLst/>
          </a:prstGeom>
          <a:solidFill>
            <a:srgbClr val="081F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45246A-7A04-3F1B-CBEC-67CB3CF6EDA8}"/>
              </a:ext>
            </a:extLst>
          </p:cNvPr>
          <p:cNvSpPr txBox="1"/>
          <p:nvPr/>
        </p:nvSpPr>
        <p:spPr>
          <a:xfrm>
            <a:off x="9118600" y="43688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81F46"/>
                </a:solidFill>
                <a:latin typeface="Aptos" panose="020B0004020202020204" pitchFamily="34" charset="0"/>
              </a:rPr>
              <a:t>Decision request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0D0D35-3003-E285-3FED-8D0148F5C34B}"/>
              </a:ext>
            </a:extLst>
          </p:cNvPr>
          <p:cNvSpPr txBox="1"/>
          <p:nvPr/>
        </p:nvSpPr>
        <p:spPr>
          <a:xfrm>
            <a:off x="9118600" y="4749800"/>
            <a:ext cx="2032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Adopt the architecture as the reference model and apply it first to AP before scaling to other F&amp;A domains.</a:t>
            </a:r>
          </a:p>
        </p:txBody>
      </p:sp>
    </p:spTree>
    <p:extLst>
      <p:ext uri="{BB962C8B-B14F-4D97-AF65-F5344CB8AC3E}">
        <p14:creationId xmlns:p14="http://schemas.microsoft.com/office/powerpoint/2010/main" val="4118003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D05850-6D24-129C-9059-1AE9B217347D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WHY NOW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55D9A-D69A-EF68-4775-DE226DBC809A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AI Risk Increases When Finance Work Is Not Governed as a Domain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888E4A4-C269-7051-5929-A5A79687CEF6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F8E9BAE-F1E5-250B-90E8-C1D34B101696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6A87EA-7BB9-7E87-42C4-07342B773D2A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83EEB-9E52-9FFE-89D5-4D94641B20A2}"/>
              </a:ext>
            </a:extLst>
          </p:cNvPr>
          <p:cNvSpPr txBox="1"/>
          <p:nvPr/>
        </p:nvSpPr>
        <p:spPr>
          <a:xfrm>
            <a:off x="914400" y="16764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Risk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C1EB791-5735-6489-BB04-760DFFAC9F0C}"/>
              </a:ext>
            </a:extLst>
          </p:cNvPr>
          <p:cNvCxnSpPr/>
          <p:nvPr/>
        </p:nvCxnSpPr>
        <p:spPr>
          <a:xfrm>
            <a:off x="914400" y="1981200"/>
            <a:ext cx="2921000" cy="0"/>
          </a:xfrm>
          <a:prstGeom prst="straightConnector1">
            <a:avLst/>
          </a:prstGeom>
          <a:ln w="12700">
            <a:solidFill>
              <a:srgbClr val="1C5C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003D1C0-3C35-77FD-42B8-A0657DCB61F9}"/>
              </a:ext>
            </a:extLst>
          </p:cNvPr>
          <p:cNvSpPr txBox="1"/>
          <p:nvPr/>
        </p:nvSpPr>
        <p:spPr>
          <a:xfrm>
            <a:off x="4572000" y="16764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Governance response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181A52-5D91-A1B6-13F3-7264BBE0BB20}"/>
              </a:ext>
            </a:extLst>
          </p:cNvPr>
          <p:cNvCxnSpPr/>
          <p:nvPr/>
        </p:nvCxnSpPr>
        <p:spPr>
          <a:xfrm>
            <a:off x="4572000" y="1981200"/>
            <a:ext cx="2921000" cy="0"/>
          </a:xfrm>
          <a:prstGeom prst="straightConnector1">
            <a:avLst/>
          </a:prstGeom>
          <a:ln w="12700">
            <a:solidFill>
              <a:srgbClr val="1C5C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B837187-5184-2E81-873C-747B8FA9C30A}"/>
              </a:ext>
            </a:extLst>
          </p:cNvPr>
          <p:cNvSpPr txBox="1"/>
          <p:nvPr/>
        </p:nvSpPr>
        <p:spPr>
          <a:xfrm>
            <a:off x="8229600" y="16764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Outcome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7FD938-AC6E-8B5B-D88A-18B6DF54F429}"/>
              </a:ext>
            </a:extLst>
          </p:cNvPr>
          <p:cNvCxnSpPr/>
          <p:nvPr/>
        </p:nvCxnSpPr>
        <p:spPr>
          <a:xfrm>
            <a:off x="8229600" y="1981200"/>
            <a:ext cx="2921000" cy="0"/>
          </a:xfrm>
          <a:prstGeom prst="straightConnector1">
            <a:avLst/>
          </a:prstGeom>
          <a:ln w="12700">
            <a:solidFill>
              <a:srgbClr val="1C5C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721646-10FF-4255-5283-A3D3FEB3E919}"/>
              </a:ext>
            </a:extLst>
          </p:cNvPr>
          <p:cNvSpPr/>
          <p:nvPr/>
        </p:nvSpPr>
        <p:spPr>
          <a:xfrm>
            <a:off x="914400" y="2311400"/>
            <a:ext cx="2921000" cy="134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7B7A23-7116-9488-8CA4-40D6761F7A59}"/>
              </a:ext>
            </a:extLst>
          </p:cNvPr>
          <p:cNvSpPr txBox="1"/>
          <p:nvPr/>
        </p:nvSpPr>
        <p:spPr>
          <a:xfrm>
            <a:off x="1092200" y="2463800"/>
            <a:ext cx="256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Shadow process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72DDA2-ECE3-F4BD-4ED1-DBA68B74C0F2}"/>
              </a:ext>
            </a:extLst>
          </p:cNvPr>
          <p:cNvSpPr txBox="1"/>
          <p:nvPr/>
        </p:nvSpPr>
        <p:spPr>
          <a:xfrm>
            <a:off x="1092200" y="2844800"/>
            <a:ext cx="2565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AI output can influence finance work without clear process ownership, review gates, or evidence expectations.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7E8E1F-F6E4-37E0-6FD2-E766FD4F6692}"/>
              </a:ext>
            </a:extLst>
          </p:cNvPr>
          <p:cNvSpPr/>
          <p:nvPr/>
        </p:nvSpPr>
        <p:spPr>
          <a:xfrm>
            <a:off x="4572000" y="2311400"/>
            <a:ext cx="2921000" cy="134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D67EC5-152B-B61F-2AC3-276E81CDFD4B}"/>
              </a:ext>
            </a:extLst>
          </p:cNvPr>
          <p:cNvSpPr txBox="1"/>
          <p:nvPr/>
        </p:nvSpPr>
        <p:spPr>
          <a:xfrm>
            <a:off x="4749800" y="2463800"/>
            <a:ext cx="256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Domain architecture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4C1065-D321-0125-058C-7E38A0286605}"/>
              </a:ext>
            </a:extLst>
          </p:cNvPr>
          <p:cNvSpPr txBox="1"/>
          <p:nvPr/>
        </p:nvSpPr>
        <p:spPr>
          <a:xfrm>
            <a:off x="4749800" y="2844800"/>
            <a:ext cx="2565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Govern the process, handoffs, decisions, controls, and evidence before AI is enabled.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2A97DE9-AEEE-0492-A0D7-B4008B989BFE}"/>
              </a:ext>
            </a:extLst>
          </p:cNvPr>
          <p:cNvSpPr/>
          <p:nvPr/>
        </p:nvSpPr>
        <p:spPr>
          <a:xfrm>
            <a:off x="8229600" y="2311400"/>
            <a:ext cx="2921000" cy="134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4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76C4E1-5530-DC8C-2FAF-66DE6B2E4CDF}"/>
              </a:ext>
            </a:extLst>
          </p:cNvPr>
          <p:cNvSpPr txBox="1"/>
          <p:nvPr/>
        </p:nvSpPr>
        <p:spPr>
          <a:xfrm>
            <a:off x="8407400" y="2463800"/>
            <a:ext cx="256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6549AF"/>
                </a:solidFill>
                <a:latin typeface="Aptos" panose="020B0004020202020204" pitchFamily="34" charset="0"/>
              </a:rPr>
              <a:t>Controlled adoption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64CED8-3FB4-57AB-3595-6AE7641C60B9}"/>
              </a:ext>
            </a:extLst>
          </p:cNvPr>
          <p:cNvSpPr txBox="1"/>
          <p:nvPr/>
        </p:nvSpPr>
        <p:spPr>
          <a:xfrm>
            <a:off x="8407400" y="2844800"/>
            <a:ext cx="2565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AI use is tied to named owners, approval paths, evidence, and monitoring.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AAE89E5-BEB5-1923-63EC-285981D7F5C5}"/>
              </a:ext>
            </a:extLst>
          </p:cNvPr>
          <p:cNvSpPr/>
          <p:nvPr/>
        </p:nvSpPr>
        <p:spPr>
          <a:xfrm>
            <a:off x="914400" y="4089400"/>
            <a:ext cx="2921000" cy="134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B919A8-691D-7DB2-482D-28BFE01C93EA}"/>
              </a:ext>
            </a:extLst>
          </p:cNvPr>
          <p:cNvSpPr txBox="1"/>
          <p:nvPr/>
        </p:nvSpPr>
        <p:spPr>
          <a:xfrm>
            <a:off x="1092200" y="4241800"/>
            <a:ext cx="256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Shadow analytics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DFF83C-9D9B-75D2-8A97-02C70FC6A0FE}"/>
              </a:ext>
            </a:extLst>
          </p:cNvPr>
          <p:cNvSpPr txBox="1"/>
          <p:nvPr/>
        </p:nvSpPr>
        <p:spPr>
          <a:xfrm>
            <a:off x="1092200" y="4622800"/>
            <a:ext cx="2565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AI can interpret unclear metrics, weak lineage, unmanaged extracts, or inconsistent source data.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1E17534-DB10-E8E4-E0EB-B790A03D2DF4}"/>
              </a:ext>
            </a:extLst>
          </p:cNvPr>
          <p:cNvSpPr/>
          <p:nvPr/>
        </p:nvSpPr>
        <p:spPr>
          <a:xfrm>
            <a:off x="4572000" y="4089400"/>
            <a:ext cx="2921000" cy="134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D57A68-5669-AEDB-920E-E9493EE85C74}"/>
              </a:ext>
            </a:extLst>
          </p:cNvPr>
          <p:cNvSpPr txBox="1"/>
          <p:nvPr/>
        </p:nvSpPr>
        <p:spPr>
          <a:xfrm>
            <a:off x="4749800" y="4241800"/>
            <a:ext cx="256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Trusted information layer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24C39-1D9D-FC8F-37D7-16BC0ACF6D71}"/>
              </a:ext>
            </a:extLst>
          </p:cNvPr>
          <p:cNvSpPr txBox="1"/>
          <p:nvPr/>
        </p:nvSpPr>
        <p:spPr>
          <a:xfrm>
            <a:off x="4749800" y="4622800"/>
            <a:ext cx="2565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Apply native reporting first, approved metrics, lineage, data quality, access, and data-use boundaries.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AD47A-9F20-C550-D9A3-B5C6EB1EBF08}"/>
              </a:ext>
            </a:extLst>
          </p:cNvPr>
          <p:cNvSpPr/>
          <p:nvPr/>
        </p:nvSpPr>
        <p:spPr>
          <a:xfrm>
            <a:off x="8229600" y="4089400"/>
            <a:ext cx="2921000" cy="134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4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220A85-3EBA-3703-842B-1CAA1A8EA2FB}"/>
              </a:ext>
            </a:extLst>
          </p:cNvPr>
          <p:cNvSpPr txBox="1"/>
          <p:nvPr/>
        </p:nvSpPr>
        <p:spPr>
          <a:xfrm>
            <a:off x="8407400" y="4241800"/>
            <a:ext cx="256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6549AF"/>
                </a:solidFill>
                <a:latin typeface="Aptos" panose="020B0004020202020204" pitchFamily="34" charset="0"/>
              </a:rPr>
              <a:t>Decision-ready outputs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88F255-29DE-E710-9D89-3FD32E0B8177}"/>
              </a:ext>
            </a:extLst>
          </p:cNvPr>
          <p:cNvSpPr txBox="1"/>
          <p:nvPr/>
        </p:nvSpPr>
        <p:spPr>
          <a:xfrm>
            <a:off x="8407400" y="4622800"/>
            <a:ext cx="2565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AI interprets only governed information and cannot become its own source of truth.</a:t>
            </a:r>
          </a:p>
        </p:txBody>
      </p:sp>
    </p:spTree>
    <p:extLst>
      <p:ext uri="{BB962C8B-B14F-4D97-AF65-F5344CB8AC3E}">
        <p14:creationId xmlns:p14="http://schemas.microsoft.com/office/powerpoint/2010/main" val="2771777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786D35-7564-552B-B584-81107A74CE72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CORE PRINCIPLE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7F95B-60A2-D1CA-9A63-95B0A25D4067}"/>
              </a:ext>
            </a:extLst>
          </p:cNvPr>
          <p:cNvSpPr txBox="1"/>
          <p:nvPr/>
        </p:nvSpPr>
        <p:spPr>
          <a:xfrm>
            <a:off x="660400" y="558800"/>
            <a:ext cx="10033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AI Should Inherit Authority From Governed Operations and Governed Analytics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BD03247-409F-8EBF-7FD7-84F7C036AEDC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8742B9F-D671-D319-796C-563AD8A11D1A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82B34-13E2-BE65-1BBF-2EEED761D2B6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6B15D5-BB5F-3446-495D-EBD74626477B}"/>
              </a:ext>
            </a:extLst>
          </p:cNvPr>
          <p:cNvSpPr/>
          <p:nvPr/>
        </p:nvSpPr>
        <p:spPr>
          <a:xfrm>
            <a:off x="914400" y="1930400"/>
            <a:ext cx="3175000" cy="18034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9A3BE-D900-7786-9E2B-5A877574E588}"/>
              </a:ext>
            </a:extLst>
          </p:cNvPr>
          <p:cNvSpPr txBox="1"/>
          <p:nvPr/>
        </p:nvSpPr>
        <p:spPr>
          <a:xfrm>
            <a:off x="1092200" y="2082800"/>
            <a:ext cx="2819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Governed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64D0D-2BF3-2D65-AACA-9F6D864B13BD}"/>
              </a:ext>
            </a:extLst>
          </p:cNvPr>
          <p:cNvSpPr txBox="1"/>
          <p:nvPr/>
        </p:nvSpPr>
        <p:spPr>
          <a:xfrm>
            <a:off x="1092200" y="2463800"/>
            <a:ext cx="281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Process ownership, decision rights, control gates, exceptions, and evidence requirements.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F8A9F6-7141-F9F4-915F-C32F12F0BA86}"/>
              </a:ext>
            </a:extLst>
          </p:cNvPr>
          <p:cNvSpPr/>
          <p:nvPr/>
        </p:nvSpPr>
        <p:spPr>
          <a:xfrm>
            <a:off x="8102600" y="1930400"/>
            <a:ext cx="3175000" cy="1803400"/>
          </a:xfrm>
          <a:prstGeom prst="roundRect">
            <a:avLst/>
          </a:prstGeom>
          <a:solidFill>
            <a:srgbClr val="E0F4F4"/>
          </a:solidFill>
          <a:ln w="12700">
            <a:solidFill>
              <a:srgbClr val="218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3B06E-3F8E-811E-54D6-B774F3643463}"/>
              </a:ext>
            </a:extLst>
          </p:cNvPr>
          <p:cNvSpPr txBox="1"/>
          <p:nvPr/>
        </p:nvSpPr>
        <p:spPr>
          <a:xfrm>
            <a:off x="8280400" y="2082800"/>
            <a:ext cx="2819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Governed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EF1A13-8CAE-9C95-FC2C-681A5F6B9372}"/>
              </a:ext>
            </a:extLst>
          </p:cNvPr>
          <p:cNvSpPr txBox="1"/>
          <p:nvPr/>
        </p:nvSpPr>
        <p:spPr>
          <a:xfrm>
            <a:off x="8280400" y="2463800"/>
            <a:ext cx="2819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Trusted sources, native reporting first, approved metrics, lineage, quality, access, and data-use boundaries.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07734B-CBE3-D31D-5099-0521C5ED58B8}"/>
              </a:ext>
            </a:extLst>
          </p:cNvPr>
          <p:cNvSpPr/>
          <p:nvPr/>
        </p:nvSpPr>
        <p:spPr>
          <a:xfrm>
            <a:off x="4673600" y="2159000"/>
            <a:ext cx="2844800" cy="1320800"/>
          </a:xfrm>
          <a:prstGeom prst="roundRect">
            <a:avLst/>
          </a:prstGeom>
          <a:solidFill>
            <a:srgbClr val="081F46"/>
          </a:solidFill>
          <a:ln w="12700">
            <a:solidFill>
              <a:srgbClr val="081F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68A6C9-1D0E-E617-2811-D19C3960D41C}"/>
              </a:ext>
            </a:extLst>
          </p:cNvPr>
          <p:cNvSpPr txBox="1"/>
          <p:nvPr/>
        </p:nvSpPr>
        <p:spPr>
          <a:xfrm>
            <a:off x="4902200" y="2438400"/>
            <a:ext cx="2387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AI Augmentation Governance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313FF7-2060-C11B-F74B-8BEE67F745BF}"/>
              </a:ext>
            </a:extLst>
          </p:cNvPr>
          <p:cNvSpPr txBox="1"/>
          <p:nvPr/>
        </p:nvSpPr>
        <p:spPr>
          <a:xfrm>
            <a:off x="4978400" y="2870200"/>
            <a:ext cx="2235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>
                <a:solidFill>
                  <a:srgbClr val="D2E2FF"/>
                </a:solidFill>
                <a:latin typeface="Aptos" panose="020B0004020202020204" pitchFamily="34" charset="0"/>
              </a:rPr>
              <a:t>inherits constraints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53496B-13D4-ED3F-ADBC-6C15D00EA4D6}"/>
              </a:ext>
            </a:extLst>
          </p:cNvPr>
          <p:cNvCxnSpPr/>
          <p:nvPr/>
        </p:nvCxnSpPr>
        <p:spPr>
          <a:xfrm>
            <a:off x="4089400" y="2819400"/>
            <a:ext cx="584200" cy="0"/>
          </a:xfrm>
          <a:prstGeom prst="straightConnector1">
            <a:avLst/>
          </a:prstGeom>
          <a:ln w="25400">
            <a:solidFill>
              <a:srgbClr val="1C5C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3F490C6-0000-CDC3-CE90-97A5A5EC11A0}"/>
              </a:ext>
            </a:extLst>
          </p:cNvPr>
          <p:cNvCxnSpPr/>
          <p:nvPr/>
        </p:nvCxnSpPr>
        <p:spPr>
          <a:xfrm>
            <a:off x="7518400" y="2819400"/>
            <a:ext cx="584200" cy="0"/>
          </a:xfrm>
          <a:prstGeom prst="straightConnector1">
            <a:avLst/>
          </a:prstGeom>
          <a:ln w="25400">
            <a:solidFill>
              <a:srgbClr val="218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626E39-D8FD-C39C-51FB-24AE1D337979}"/>
              </a:ext>
            </a:extLst>
          </p:cNvPr>
          <p:cNvSpPr txBox="1"/>
          <p:nvPr/>
        </p:nvSpPr>
        <p:spPr>
          <a:xfrm>
            <a:off x="1066800" y="42418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6549AF"/>
                </a:solidFill>
                <a:latin typeface="Aptos" panose="020B0004020202020204" pitchFamily="34" charset="0"/>
              </a:rPr>
              <a:t>Core principle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FB35F5-8471-7DFC-C011-7D3DB56FAC64}"/>
              </a:ext>
            </a:extLst>
          </p:cNvPr>
          <p:cNvSpPr txBox="1"/>
          <p:nvPr/>
        </p:nvSpPr>
        <p:spPr>
          <a:xfrm>
            <a:off x="1066800" y="4546600"/>
            <a:ext cx="1003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81F46"/>
                </a:solidFill>
                <a:latin typeface="Aptos" panose="020B0004020202020204" pitchFamily="34" charset="0"/>
              </a:rPr>
              <a:t>AI and agents inherit constraints from governed operations and governed analytics.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B4C459-B93F-9FDF-A5C7-53B082302E1E}"/>
              </a:ext>
            </a:extLst>
          </p:cNvPr>
          <p:cNvSpPr txBox="1"/>
          <p:nvPr/>
        </p:nvSpPr>
        <p:spPr>
          <a:xfrm>
            <a:off x="1066800" y="4927600"/>
            <a:ext cx="1003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81F46"/>
                </a:solidFill>
                <a:latin typeface="Aptos" panose="020B0004020202020204" pitchFamily="34" charset="0"/>
              </a:rPr>
              <a:t>Agents are assigned only to bounded tasks inside a governed domain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818973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313730-24AA-F068-5DC0-3415BF1C5BBB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REFERENCE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2CC05-C469-E4CA-D409-FA8F1BD9528F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The Architecture Separates Domain Governance From AI Execution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683161E-3425-572F-7966-EF96025C8730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216004F-61E7-E6FA-D894-5EC226E5EB10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B4ECE-292C-DD1C-10B2-DA22B45E7836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54BE42-DA0C-F077-2C1E-BF0058E484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98600"/>
            <a:ext cx="10668000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9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196E3B-1059-C77A-9D49-0D2E2B5A449D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OPERATING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A2F0F2-B42A-E8F0-DE56-90E77D450FB2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Each Layer Has a Distinct Governance Job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A2B28B-1F52-C6D2-EA31-9FF43C25013A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9FAAD30-4634-D73F-F5DC-486F6660F5AB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C68DD-C06A-DD49-CC3C-245F1C4F7882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CBF31-CACE-DCFB-EA7D-11A8310DEA3F}"/>
              </a:ext>
            </a:extLst>
          </p:cNvPr>
          <p:cNvSpPr/>
          <p:nvPr/>
        </p:nvSpPr>
        <p:spPr>
          <a:xfrm>
            <a:off x="660400" y="1600200"/>
            <a:ext cx="10871200" cy="482600"/>
          </a:xfrm>
          <a:prstGeom prst="rect">
            <a:avLst/>
          </a:prstGeom>
          <a:solidFill>
            <a:srgbClr val="081F46"/>
          </a:solidFill>
          <a:ln w="12700">
            <a:solidFill>
              <a:srgbClr val="081F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35BCA-E5AE-1D12-1B9E-5EDD93A217EA}"/>
              </a:ext>
            </a:extLst>
          </p:cNvPr>
          <p:cNvSpPr txBox="1"/>
          <p:nvPr/>
        </p:nvSpPr>
        <p:spPr>
          <a:xfrm>
            <a:off x="736600" y="17526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8810C-B9C0-C544-1F45-1B447171F207}"/>
              </a:ext>
            </a:extLst>
          </p:cNvPr>
          <p:cNvSpPr txBox="1"/>
          <p:nvPr/>
        </p:nvSpPr>
        <p:spPr>
          <a:xfrm>
            <a:off x="3022600" y="17526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Governance job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F2AA7-9688-62E0-637C-7438225556C7}"/>
              </a:ext>
            </a:extLst>
          </p:cNvPr>
          <p:cNvSpPr txBox="1"/>
          <p:nvPr/>
        </p:nvSpPr>
        <p:spPr>
          <a:xfrm>
            <a:off x="6654800" y="1752600"/>
            <a:ext cx="4419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Primary 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4352C5-2C07-B868-98A1-4CC7D9C031B2}"/>
              </a:ext>
            </a:extLst>
          </p:cNvPr>
          <p:cNvSpPr/>
          <p:nvPr/>
        </p:nvSpPr>
        <p:spPr>
          <a:xfrm>
            <a:off x="660400" y="2159000"/>
            <a:ext cx="108712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5994C-2CD7-CBEA-7963-F856EB371B55}"/>
              </a:ext>
            </a:extLst>
          </p:cNvPr>
          <p:cNvSpPr txBox="1"/>
          <p:nvPr/>
        </p:nvSpPr>
        <p:spPr>
          <a:xfrm>
            <a:off x="736600" y="23622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81F46"/>
                </a:solidFill>
                <a:latin typeface="Aptos" panose="020B0004020202020204" pitchFamily="34" charset="0"/>
              </a:rPr>
              <a:t>F&amp;A Domain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BB2AA5-767F-A7FA-31A1-CA42F420FF8C}"/>
              </a:ext>
            </a:extLst>
          </p:cNvPr>
          <p:cNvSpPr txBox="1"/>
          <p:nvPr/>
        </p:nvSpPr>
        <p:spPr>
          <a:xfrm>
            <a:off x="3022600" y="23622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Defines the business context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87E113-B9DC-8202-3513-A1D8458A0E18}"/>
              </a:ext>
            </a:extLst>
          </p:cNvPr>
          <p:cNvSpPr txBox="1"/>
          <p:nvPr/>
        </p:nvSpPr>
        <p:spPr>
          <a:xfrm>
            <a:off x="6654800" y="2362200"/>
            <a:ext cx="441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What domain are we governing?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CFADA0-9AF4-D417-B86E-5398BB20961A}"/>
              </a:ext>
            </a:extLst>
          </p:cNvPr>
          <p:cNvSpPr/>
          <p:nvPr/>
        </p:nvSpPr>
        <p:spPr>
          <a:xfrm>
            <a:off x="660400" y="2819400"/>
            <a:ext cx="10871200" cy="660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39D20-7349-FBAB-A997-AE42777EABD6}"/>
              </a:ext>
            </a:extLst>
          </p:cNvPr>
          <p:cNvSpPr txBox="1"/>
          <p:nvPr/>
        </p:nvSpPr>
        <p:spPr>
          <a:xfrm>
            <a:off x="736600" y="30226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81F46"/>
                </a:solidFill>
                <a:latin typeface="Aptos" panose="020B0004020202020204" pitchFamily="34" charset="0"/>
              </a:rPr>
              <a:t>Operations Architecture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30A64F-7F19-E3FD-5340-72A0C13EFB60}"/>
              </a:ext>
            </a:extLst>
          </p:cNvPr>
          <p:cNvSpPr txBox="1"/>
          <p:nvPr/>
        </p:nvSpPr>
        <p:spPr>
          <a:xfrm>
            <a:off x="3022600" y="30226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Defines accountable 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6D32B7-3CDA-3B64-5A40-C3203F721128}"/>
              </a:ext>
            </a:extLst>
          </p:cNvPr>
          <p:cNvSpPr txBox="1"/>
          <p:nvPr/>
        </p:nvSpPr>
        <p:spPr>
          <a:xfrm>
            <a:off x="6654800" y="3022600"/>
            <a:ext cx="441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How is the work performed and controlled?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7720A4-D1CA-4EC4-FB6D-86CD7905382C}"/>
              </a:ext>
            </a:extLst>
          </p:cNvPr>
          <p:cNvSpPr/>
          <p:nvPr/>
        </p:nvSpPr>
        <p:spPr>
          <a:xfrm>
            <a:off x="660400" y="3479800"/>
            <a:ext cx="108712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B93E45-9B33-6330-61CD-B7948DE84859}"/>
              </a:ext>
            </a:extLst>
          </p:cNvPr>
          <p:cNvSpPr txBox="1"/>
          <p:nvPr/>
        </p:nvSpPr>
        <p:spPr>
          <a:xfrm>
            <a:off x="736600" y="36830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81F46"/>
                </a:solidFill>
                <a:latin typeface="Aptos" panose="020B0004020202020204" pitchFamily="34" charset="0"/>
              </a:rPr>
              <a:t>Analytics Architecture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0B6163-45DF-D6BD-77BA-932D012C1EA0}"/>
              </a:ext>
            </a:extLst>
          </p:cNvPr>
          <p:cNvSpPr txBox="1"/>
          <p:nvPr/>
        </p:nvSpPr>
        <p:spPr>
          <a:xfrm>
            <a:off x="3022600" y="36830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Defines trusted information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12A7DE-57F3-0AEC-E8EC-5B1F8A9308D1}"/>
              </a:ext>
            </a:extLst>
          </p:cNvPr>
          <p:cNvSpPr txBox="1"/>
          <p:nvPr/>
        </p:nvSpPr>
        <p:spPr>
          <a:xfrm>
            <a:off x="6654800" y="3683000"/>
            <a:ext cx="441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What data and metrics can be trusted?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FB09B8-2755-F196-5C95-D7C51A156C33}"/>
              </a:ext>
            </a:extLst>
          </p:cNvPr>
          <p:cNvSpPr/>
          <p:nvPr/>
        </p:nvSpPr>
        <p:spPr>
          <a:xfrm>
            <a:off x="660400" y="4140200"/>
            <a:ext cx="10871200" cy="660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E7C8CF-7626-70C7-6A59-5B79F9A6A902}"/>
              </a:ext>
            </a:extLst>
          </p:cNvPr>
          <p:cNvSpPr txBox="1"/>
          <p:nvPr/>
        </p:nvSpPr>
        <p:spPr>
          <a:xfrm>
            <a:off x="736600" y="43434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81F46"/>
                </a:solidFill>
                <a:latin typeface="Aptos" panose="020B0004020202020204" pitchFamily="34" charset="0"/>
              </a:rPr>
              <a:t>AI Augmentation Governance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8085CA-C756-4621-8A9A-EB96C4861659}"/>
              </a:ext>
            </a:extLst>
          </p:cNvPr>
          <p:cNvSpPr txBox="1"/>
          <p:nvPr/>
        </p:nvSpPr>
        <p:spPr>
          <a:xfrm>
            <a:off x="3022600" y="43434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Defines safe AI use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527D7B-6034-678D-9E38-9719C1215E6A}"/>
              </a:ext>
            </a:extLst>
          </p:cNvPr>
          <p:cNvSpPr txBox="1"/>
          <p:nvPr/>
        </p:nvSpPr>
        <p:spPr>
          <a:xfrm>
            <a:off x="6654800" y="4343400"/>
            <a:ext cx="441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Where may AI assist under control?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F9F87D-4781-16A5-C2E8-E202B0CCE051}"/>
              </a:ext>
            </a:extLst>
          </p:cNvPr>
          <p:cNvSpPr/>
          <p:nvPr/>
        </p:nvSpPr>
        <p:spPr>
          <a:xfrm>
            <a:off x="660400" y="4800600"/>
            <a:ext cx="108712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E2FFC2-22DF-C61B-30D6-4DA3E06F1CF6}"/>
              </a:ext>
            </a:extLst>
          </p:cNvPr>
          <p:cNvSpPr txBox="1"/>
          <p:nvPr/>
        </p:nvSpPr>
        <p:spPr>
          <a:xfrm>
            <a:off x="736600" y="50038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81F46"/>
                </a:solidFill>
                <a:latin typeface="Aptos" panose="020B0004020202020204" pitchFamily="34" charset="0"/>
              </a:rPr>
              <a:t>Bounded Agents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410B22-8515-F40F-1DAA-69CFF459F6F3}"/>
              </a:ext>
            </a:extLst>
          </p:cNvPr>
          <p:cNvSpPr txBox="1"/>
          <p:nvPr/>
        </p:nvSpPr>
        <p:spPr>
          <a:xfrm>
            <a:off x="3022600" y="5003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Defines delegated task execution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533DD3-CD66-C336-E7B7-C2A0AD8585CD}"/>
              </a:ext>
            </a:extLst>
          </p:cNvPr>
          <p:cNvSpPr txBox="1"/>
          <p:nvPr/>
        </p:nvSpPr>
        <p:spPr>
          <a:xfrm>
            <a:off x="6654800" y="5003800"/>
            <a:ext cx="441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What tasks may be assigned after readiness is proven?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DEA8E4E-322B-F41B-9EC7-0B5B375A761A}"/>
              </a:ext>
            </a:extLst>
          </p:cNvPr>
          <p:cNvSpPr/>
          <p:nvPr/>
        </p:nvSpPr>
        <p:spPr>
          <a:xfrm>
            <a:off x="1600200" y="5664200"/>
            <a:ext cx="8991600" cy="635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C9BEA8-11B0-CF23-4C41-F2BDD72C9713}"/>
              </a:ext>
            </a:extLst>
          </p:cNvPr>
          <p:cNvSpPr/>
          <p:nvPr/>
        </p:nvSpPr>
        <p:spPr>
          <a:xfrm>
            <a:off x="1600200" y="5664200"/>
            <a:ext cx="63500" cy="635000"/>
          </a:xfrm>
          <a:prstGeom prst="rect">
            <a:avLst/>
          </a:prstGeom>
          <a:solidFill>
            <a:srgbClr val="6549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7BF73A-50BA-667B-C26E-7F4331E8B25E}"/>
              </a:ext>
            </a:extLst>
          </p:cNvPr>
          <p:cNvSpPr txBox="1"/>
          <p:nvPr/>
        </p:nvSpPr>
        <p:spPr>
          <a:xfrm>
            <a:off x="1828800" y="5842000"/>
            <a:ext cx="8610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6549AF"/>
                </a:solidFill>
                <a:latin typeface="Aptos" panose="020B0004020202020204" pitchFamily="34" charset="0"/>
              </a:rPr>
              <a:t>Readiness logic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600128-417C-4990-397A-360998EDB882}"/>
              </a:ext>
            </a:extLst>
          </p:cNvPr>
          <p:cNvSpPr txBox="1"/>
          <p:nvPr/>
        </p:nvSpPr>
        <p:spPr>
          <a:xfrm>
            <a:off x="1828800" y="6223000"/>
            <a:ext cx="8610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Operations and analytics must be sufficiently governed before AI augmentation and bounded agents can be responsibly evaluated.</a:t>
            </a:r>
          </a:p>
        </p:txBody>
      </p:sp>
    </p:spTree>
    <p:extLst>
      <p:ext uri="{BB962C8B-B14F-4D97-AF65-F5344CB8AC3E}">
        <p14:creationId xmlns:p14="http://schemas.microsoft.com/office/powerpoint/2010/main" val="4044011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7FD0FC-364A-574C-268A-C64F3932E052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OPERATIONS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E2064-9F4C-5CE0-A2F4-94796470F8DC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Safe AI Depends on Accountable Process Design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8657C10-3CE6-F4E7-A607-CB192D4CDC57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1B41866-D355-50AD-301B-FDDB6BE93D93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ECCE8-4050-FD3B-E839-CFA418C55992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4445D1-7E58-91A2-6855-96F5E4F4B5E3}"/>
              </a:ext>
            </a:extLst>
          </p:cNvPr>
          <p:cNvSpPr/>
          <p:nvPr/>
        </p:nvSpPr>
        <p:spPr>
          <a:xfrm>
            <a:off x="965200" y="1803400"/>
            <a:ext cx="469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8D2EF-183E-C9EA-35BE-F56297B57A53}"/>
              </a:ext>
            </a:extLst>
          </p:cNvPr>
          <p:cNvSpPr txBox="1"/>
          <p:nvPr/>
        </p:nvSpPr>
        <p:spPr>
          <a:xfrm>
            <a:off x="1143000" y="1955800"/>
            <a:ext cx="434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Process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9A2E6-869F-7CAB-9768-DB1FA02BD368}"/>
              </a:ext>
            </a:extLst>
          </p:cNvPr>
          <p:cNvSpPr txBox="1"/>
          <p:nvPr/>
        </p:nvSpPr>
        <p:spPr>
          <a:xfrm>
            <a:off x="1143000" y="2336800"/>
            <a:ext cx="434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Scope, trigger, endpoint, stages, handoffs, and operating cadence.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464094-40AA-D52D-E6EC-A068AE2FA04F}"/>
              </a:ext>
            </a:extLst>
          </p:cNvPr>
          <p:cNvSpPr/>
          <p:nvPr/>
        </p:nvSpPr>
        <p:spPr>
          <a:xfrm>
            <a:off x="6527800" y="1803400"/>
            <a:ext cx="469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17B9AC-38C6-6AE6-D44A-50E76A6691AF}"/>
              </a:ext>
            </a:extLst>
          </p:cNvPr>
          <p:cNvSpPr txBox="1"/>
          <p:nvPr/>
        </p:nvSpPr>
        <p:spPr>
          <a:xfrm>
            <a:off x="6705600" y="1955800"/>
            <a:ext cx="434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Ownership and decision rights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E6CAFB-1871-834F-72DF-D687A245F937}"/>
              </a:ext>
            </a:extLst>
          </p:cNvPr>
          <p:cNvSpPr txBox="1"/>
          <p:nvPr/>
        </p:nvSpPr>
        <p:spPr>
          <a:xfrm>
            <a:off x="6705600" y="2336800"/>
            <a:ext cx="434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Accountable owner, process roles, approvers, reviewers, and non-delegable authority.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9F99CA-F2F2-A0CD-11E8-63584A88C64C}"/>
              </a:ext>
            </a:extLst>
          </p:cNvPr>
          <p:cNvSpPr/>
          <p:nvPr/>
        </p:nvSpPr>
        <p:spPr>
          <a:xfrm>
            <a:off x="965200" y="3581400"/>
            <a:ext cx="469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0BCC0C-3855-CF15-6A55-AA045ACD241E}"/>
              </a:ext>
            </a:extLst>
          </p:cNvPr>
          <p:cNvSpPr txBox="1"/>
          <p:nvPr/>
        </p:nvSpPr>
        <p:spPr>
          <a:xfrm>
            <a:off x="1143000" y="3733800"/>
            <a:ext cx="434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Control gates and evidence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1952DA-F74D-3ABC-23B0-0F49F86FED03}"/>
              </a:ext>
            </a:extLst>
          </p:cNvPr>
          <p:cNvSpPr txBox="1"/>
          <p:nvPr/>
        </p:nvSpPr>
        <p:spPr>
          <a:xfrm>
            <a:off x="1143000" y="4114800"/>
            <a:ext cx="434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Control points, pass criteria, required proof, retention location, and review cadence.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7107EF1-6855-D689-76AD-A0A795CB30B3}"/>
              </a:ext>
            </a:extLst>
          </p:cNvPr>
          <p:cNvSpPr/>
          <p:nvPr/>
        </p:nvSpPr>
        <p:spPr>
          <a:xfrm>
            <a:off x="6527800" y="3581400"/>
            <a:ext cx="469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184C59-0A7D-EA8E-928A-ACBB53D6A8DF}"/>
              </a:ext>
            </a:extLst>
          </p:cNvPr>
          <p:cNvSpPr txBox="1"/>
          <p:nvPr/>
        </p:nvSpPr>
        <p:spPr>
          <a:xfrm>
            <a:off x="6705600" y="3733800"/>
            <a:ext cx="434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Exceptions and escalation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6016F6-07C3-4B55-4A9E-BCA9CF296100}"/>
              </a:ext>
            </a:extLst>
          </p:cNvPr>
          <p:cNvSpPr txBox="1"/>
          <p:nvPr/>
        </p:nvSpPr>
        <p:spPr>
          <a:xfrm>
            <a:off x="6705600" y="4114800"/>
            <a:ext cx="434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Exception criteria, issue routing, risk acceptance, due dates, and escalation authority.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0F5DB32-1549-9C44-AB23-9FE09746B6BF}"/>
              </a:ext>
            </a:extLst>
          </p:cNvPr>
          <p:cNvSpPr/>
          <p:nvPr/>
        </p:nvSpPr>
        <p:spPr>
          <a:xfrm>
            <a:off x="1473200" y="5384800"/>
            <a:ext cx="9245600" cy="736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63B792-59B1-A68E-B9C5-C8146D3F0EC5}"/>
              </a:ext>
            </a:extLst>
          </p:cNvPr>
          <p:cNvSpPr/>
          <p:nvPr/>
        </p:nvSpPr>
        <p:spPr>
          <a:xfrm>
            <a:off x="1473200" y="5384800"/>
            <a:ext cx="63500" cy="736600"/>
          </a:xfrm>
          <a:prstGeom prst="rect">
            <a:avLst/>
          </a:prstGeom>
          <a:solidFill>
            <a:srgbClr val="2184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A54A6D-0E31-E45C-9042-0B51F53312B7}"/>
              </a:ext>
            </a:extLst>
          </p:cNvPr>
          <p:cNvSpPr txBox="1"/>
          <p:nvPr/>
        </p:nvSpPr>
        <p:spPr>
          <a:xfrm>
            <a:off x="1701800" y="5562600"/>
            <a:ext cx="8864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AP worked example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1D74B3-0D91-CB6A-2060-DAC218761E6E}"/>
              </a:ext>
            </a:extLst>
          </p:cNvPr>
          <p:cNvSpPr txBox="1"/>
          <p:nvPr/>
        </p:nvSpPr>
        <p:spPr>
          <a:xfrm>
            <a:off x="1701800" y="5943600"/>
            <a:ext cx="886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Invoice intake, validation, approval workflow, payment preparation, payment execution, and post-payment review define the AP operating backbone.</a:t>
            </a:r>
          </a:p>
        </p:txBody>
      </p:sp>
    </p:spTree>
    <p:extLst>
      <p:ext uri="{BB962C8B-B14F-4D97-AF65-F5344CB8AC3E}">
        <p14:creationId xmlns:p14="http://schemas.microsoft.com/office/powerpoint/2010/main" val="3879561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98A7B7-C4D8-F350-106E-3D94AE279B78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ANALYTICS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202734-5E6C-98A9-7845-FF98EEAA6ED6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AI Can Only Interpret Analytics That Are Trusted and Governed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7991DEB-9B72-A033-9C50-5E27E44EA6D9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4D34F80-C4AD-76D9-D40D-6857644B660A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81EA1-B505-F7FE-2264-D71C46543098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B747BD-E715-9A6F-0B6F-C09F9F64DBCF}"/>
              </a:ext>
            </a:extLst>
          </p:cNvPr>
          <p:cNvSpPr/>
          <p:nvPr/>
        </p:nvSpPr>
        <p:spPr>
          <a:xfrm>
            <a:off x="965200" y="1803400"/>
            <a:ext cx="469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907B26-ACD9-9C66-D123-2A22500AEAC7}"/>
              </a:ext>
            </a:extLst>
          </p:cNvPr>
          <p:cNvSpPr txBox="1"/>
          <p:nvPr/>
        </p:nvSpPr>
        <p:spPr>
          <a:xfrm>
            <a:off x="1143000" y="1955800"/>
            <a:ext cx="434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Trusted 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131FD8-28A4-AB4A-6835-8D16F796DFE5}"/>
              </a:ext>
            </a:extLst>
          </p:cNvPr>
          <p:cNvSpPr txBox="1"/>
          <p:nvPr/>
        </p:nvSpPr>
        <p:spPr>
          <a:xfrm>
            <a:off x="1143000" y="2336800"/>
            <a:ext cx="434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Authoritative systems, approved datasets, source ownership, and system-of-record expectations.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DEF60A-EF97-07C7-AEF5-3D1D8D1CDB06}"/>
              </a:ext>
            </a:extLst>
          </p:cNvPr>
          <p:cNvSpPr/>
          <p:nvPr/>
        </p:nvSpPr>
        <p:spPr>
          <a:xfrm>
            <a:off x="6527800" y="1803400"/>
            <a:ext cx="469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7B9D25-338D-120B-CBD3-E4449EE19130}"/>
              </a:ext>
            </a:extLst>
          </p:cNvPr>
          <p:cNvSpPr txBox="1"/>
          <p:nvPr/>
        </p:nvSpPr>
        <p:spPr>
          <a:xfrm>
            <a:off x="6705600" y="1955800"/>
            <a:ext cx="434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Native reporting first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00077F-755E-FF3B-61C0-FA703C3A393B}"/>
              </a:ext>
            </a:extLst>
          </p:cNvPr>
          <p:cNvSpPr txBox="1"/>
          <p:nvPr/>
        </p:nvSpPr>
        <p:spPr>
          <a:xfrm>
            <a:off x="6705600" y="2336800"/>
            <a:ext cx="434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Standard reports, inquiries, workflow evidence, audit logs, and seeded analytics assessed before extension.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FD135F-BFB2-D95B-BF60-8DDCDE077923}"/>
              </a:ext>
            </a:extLst>
          </p:cNvPr>
          <p:cNvSpPr/>
          <p:nvPr/>
        </p:nvSpPr>
        <p:spPr>
          <a:xfrm>
            <a:off x="965200" y="3581400"/>
            <a:ext cx="469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022201-73D1-18A1-1527-86C616BFD3A4}"/>
              </a:ext>
            </a:extLst>
          </p:cNvPr>
          <p:cNvSpPr txBox="1"/>
          <p:nvPr/>
        </p:nvSpPr>
        <p:spPr>
          <a:xfrm>
            <a:off x="1143000" y="3733800"/>
            <a:ext cx="434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Approved metrics and lineage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BD918-1576-E91C-4169-96D2E99F3281}"/>
              </a:ext>
            </a:extLst>
          </p:cNvPr>
          <p:cNvSpPr txBox="1"/>
          <p:nvPr/>
        </p:nvSpPr>
        <p:spPr>
          <a:xfrm>
            <a:off x="1143000" y="4114800"/>
            <a:ext cx="434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Definitions, formulas, grain, thresholds, source-to-output lineage, and transformation logic.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385DD8-D7E5-6D09-116E-009E81DADA84}"/>
              </a:ext>
            </a:extLst>
          </p:cNvPr>
          <p:cNvSpPr/>
          <p:nvPr/>
        </p:nvSpPr>
        <p:spPr>
          <a:xfrm>
            <a:off x="6527800" y="3581400"/>
            <a:ext cx="469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7A9E5B-1F8B-187D-7BDF-6314A2EA7183}"/>
              </a:ext>
            </a:extLst>
          </p:cNvPr>
          <p:cNvSpPr txBox="1"/>
          <p:nvPr/>
        </p:nvSpPr>
        <p:spPr>
          <a:xfrm>
            <a:off x="6705600" y="3733800"/>
            <a:ext cx="434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Quality, access, and data use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9C31FC-7837-2370-DC16-9AA7B9682FEC}"/>
              </a:ext>
            </a:extLst>
          </p:cNvPr>
          <p:cNvSpPr txBox="1"/>
          <p:nvPr/>
        </p:nvSpPr>
        <p:spPr>
          <a:xfrm>
            <a:off x="6705600" y="4114800"/>
            <a:ext cx="4343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Quality checks, remediation, least privilege, extract controls, retention, and data-use boundaries.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0D1F583-2F4E-7F48-F82B-C751EDB0050A}"/>
              </a:ext>
            </a:extLst>
          </p:cNvPr>
          <p:cNvSpPr/>
          <p:nvPr/>
        </p:nvSpPr>
        <p:spPr>
          <a:xfrm>
            <a:off x="1473200" y="5384800"/>
            <a:ext cx="9245600" cy="736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5902F8-8099-A552-5ECB-6606F7729094}"/>
              </a:ext>
            </a:extLst>
          </p:cNvPr>
          <p:cNvSpPr/>
          <p:nvPr/>
        </p:nvSpPr>
        <p:spPr>
          <a:xfrm>
            <a:off x="1473200" y="5384800"/>
            <a:ext cx="63500" cy="736600"/>
          </a:xfrm>
          <a:prstGeom prst="rect">
            <a:avLst/>
          </a:prstGeom>
          <a:solidFill>
            <a:srgbClr val="1C5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CF7358-EAD4-FC64-C60A-00C9E0EE33E0}"/>
              </a:ext>
            </a:extLst>
          </p:cNvPr>
          <p:cNvSpPr txBox="1"/>
          <p:nvPr/>
        </p:nvSpPr>
        <p:spPr>
          <a:xfrm>
            <a:off x="1701800" y="5562600"/>
            <a:ext cx="8864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AP worked example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0ACC62-D84A-C460-2406-2BFD762C52FA}"/>
              </a:ext>
            </a:extLst>
          </p:cNvPr>
          <p:cNvSpPr txBox="1"/>
          <p:nvPr/>
        </p:nvSpPr>
        <p:spPr>
          <a:xfrm>
            <a:off x="1701800" y="5943600"/>
            <a:ext cx="886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Oracle-native AP reports, approval evidence, duplicate-risk metrics, payment timing, and AP KPI lineage define what AI may later explain or summarize.</a:t>
            </a:r>
          </a:p>
        </p:txBody>
      </p:sp>
    </p:spTree>
    <p:extLst>
      <p:ext uri="{BB962C8B-B14F-4D97-AF65-F5344CB8AC3E}">
        <p14:creationId xmlns:p14="http://schemas.microsoft.com/office/powerpoint/2010/main" val="3419100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8A4AAB-8A60-B207-E0A2-6EF1E36AB434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AI AUGMENTATION GOVERNANCE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5A22F-60DA-94DC-24C8-1B0DFF02349E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AI Use Should Be Classified Before It Is Enabled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4427381-6BD7-7E32-2E1B-0DFAC13560C0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C03CD06-5EA4-0552-D0D5-C1E65E344844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F1B53-51E2-0F33-8BFA-64F471727A0A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009739-BCCF-28D7-17B8-454437AEB483}"/>
              </a:ext>
            </a:extLst>
          </p:cNvPr>
          <p:cNvSpPr/>
          <p:nvPr/>
        </p:nvSpPr>
        <p:spPr>
          <a:xfrm>
            <a:off x="863600" y="1955800"/>
            <a:ext cx="3302000" cy="1879600"/>
          </a:xfrm>
          <a:prstGeom prst="roundRect">
            <a:avLst/>
          </a:prstGeom>
          <a:solidFill>
            <a:srgbClr val="E0F4F4"/>
          </a:solidFill>
          <a:ln w="12700">
            <a:solidFill>
              <a:srgbClr val="218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29C6D6-B826-84BA-C024-33B03BA87132}"/>
              </a:ext>
            </a:extLst>
          </p:cNvPr>
          <p:cNvSpPr txBox="1"/>
          <p:nvPr/>
        </p:nvSpPr>
        <p:spPr>
          <a:xfrm>
            <a:off x="1041400" y="2108200"/>
            <a:ext cx="294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Permitted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EF3A8-0078-660F-A9F6-562B81D90A27}"/>
              </a:ext>
            </a:extLst>
          </p:cNvPr>
          <p:cNvSpPr txBox="1"/>
          <p:nvPr/>
        </p:nvSpPr>
        <p:spPr>
          <a:xfrm>
            <a:off x="1041400" y="2489200"/>
            <a:ext cx="2946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Low-risk productivity support with approved tools, no sensitive data, and human review.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983A0E-1AAA-0CCD-E15A-482744477CF2}"/>
              </a:ext>
            </a:extLst>
          </p:cNvPr>
          <p:cNvSpPr/>
          <p:nvPr/>
        </p:nvSpPr>
        <p:spPr>
          <a:xfrm>
            <a:off x="4445000" y="1955800"/>
            <a:ext cx="3302000" cy="18796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3C98DB-EABE-E0E0-E22A-50093C01A411}"/>
              </a:ext>
            </a:extLst>
          </p:cNvPr>
          <p:cNvSpPr txBox="1"/>
          <p:nvPr/>
        </p:nvSpPr>
        <p:spPr>
          <a:xfrm>
            <a:off x="4622800" y="2108200"/>
            <a:ext cx="294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Restricted / high-risk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69D897-4CCF-8ED1-B2FE-9B70D64ABCCA}"/>
              </a:ext>
            </a:extLst>
          </p:cNvPr>
          <p:cNvSpPr txBox="1"/>
          <p:nvPr/>
        </p:nvSpPr>
        <p:spPr>
          <a:xfrm>
            <a:off x="4622800" y="2489200"/>
            <a:ext cx="29464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Sensitive data, recurring outputs, management reporting, controls, audit evidence, or finance decisions require intake, approval, evidence, monitoring, and recertification.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14E9C9C-1311-0CF1-B06C-A6D8F76761DD}"/>
              </a:ext>
            </a:extLst>
          </p:cNvPr>
          <p:cNvSpPr/>
          <p:nvPr/>
        </p:nvSpPr>
        <p:spPr>
          <a:xfrm>
            <a:off x="8026400" y="1955800"/>
            <a:ext cx="3302000" cy="1879600"/>
          </a:xfrm>
          <a:prstGeom prst="roundRect">
            <a:avLst/>
          </a:prstGeom>
          <a:solidFill>
            <a:srgbClr val="EFEAFC"/>
          </a:solidFill>
          <a:ln w="12700">
            <a:solidFill>
              <a:srgbClr val="654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F73AA2-B145-C10B-55E5-8435AAFFE8BD}"/>
              </a:ext>
            </a:extLst>
          </p:cNvPr>
          <p:cNvSpPr txBox="1"/>
          <p:nvPr/>
        </p:nvSpPr>
        <p:spPr>
          <a:xfrm>
            <a:off x="8204200" y="2108200"/>
            <a:ext cx="294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6549AF"/>
                </a:solidFill>
                <a:latin typeface="Aptos" panose="020B0004020202020204" pitchFamily="34" charset="0"/>
              </a:rPr>
              <a:t>Prohibited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7A0775-1EDC-EF76-BE21-7FCABD6E6CA3}"/>
              </a:ext>
            </a:extLst>
          </p:cNvPr>
          <p:cNvSpPr txBox="1"/>
          <p:nvPr/>
        </p:nvSpPr>
        <p:spPr>
          <a:xfrm>
            <a:off x="8204200" y="2489200"/>
            <a:ext cx="2946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Control bypass, autonomous approval/payment, unapproved disclosure, credential sharing, and unsupported accounting or tax conclusions.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F18F770-0082-521A-A3D7-7D7B91D0BEC1}"/>
              </a:ext>
            </a:extLst>
          </p:cNvPr>
          <p:cNvSpPr/>
          <p:nvPr/>
        </p:nvSpPr>
        <p:spPr>
          <a:xfrm>
            <a:off x="1676400" y="4546600"/>
            <a:ext cx="8839200" cy="812800"/>
          </a:xfrm>
          <a:prstGeom prst="roundRect">
            <a:avLst/>
          </a:prstGeom>
          <a:solidFill>
            <a:srgbClr val="FAF4ED"/>
          </a:solidFill>
          <a:ln w="12700">
            <a:solidFill>
              <a:srgbClr val="965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41E991-88D4-9C00-A679-E7C6CB9F8D32}"/>
              </a:ext>
            </a:extLst>
          </p:cNvPr>
          <p:cNvSpPr txBox="1"/>
          <p:nvPr/>
        </p:nvSpPr>
        <p:spPr>
          <a:xfrm>
            <a:off x="1955800" y="4749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965B1E"/>
                </a:solidFill>
                <a:latin typeface="Aptos" panose="020B0004020202020204" pitchFamily="34" charset="0"/>
              </a:rPr>
              <a:t>Governance principle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917908-11E5-96BA-8440-43693EF51C64}"/>
              </a:ext>
            </a:extLst>
          </p:cNvPr>
          <p:cNvSpPr txBox="1"/>
          <p:nvPr/>
        </p:nvSpPr>
        <p:spPr>
          <a:xfrm>
            <a:off x="1955800" y="5029200"/>
            <a:ext cx="812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81F46"/>
                </a:solidFill>
                <a:latin typeface="Aptos" panose="020B0004020202020204" pitchFamily="34" charset="0"/>
              </a:rPr>
              <a:t>AI should not compensate for weak process or weak analytics.</a:t>
            </a:r>
          </a:p>
        </p:txBody>
      </p:sp>
    </p:spTree>
    <p:extLst>
      <p:ext uri="{BB962C8B-B14F-4D97-AF65-F5344CB8AC3E}">
        <p14:creationId xmlns:p14="http://schemas.microsoft.com/office/powerpoint/2010/main" val="1391980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C234CA-E5AC-9E38-1F5E-BED56ABBAE11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BOUNDED 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861C7C-B607-5212-9D80-8DC376F1E058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Agents Should Be Approved Only After Readiness Is Proven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A1C5F18-7C1F-AABF-F3E0-A544A3CD0B89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044FD9A-A17C-591F-DEAA-7653E58265FC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069769-0CEC-5087-E5A5-84852F584209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54B78-7AF6-D7B6-0B3A-A1E590FE76D4}"/>
              </a:ext>
            </a:extLst>
          </p:cNvPr>
          <p:cNvSpPr txBox="1"/>
          <p:nvPr/>
        </p:nvSpPr>
        <p:spPr>
          <a:xfrm>
            <a:off x="1092200" y="1701800"/>
            <a:ext cx="457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21848B"/>
                </a:solidFill>
                <a:latin typeface="Aptos" panose="020B0004020202020204" pitchFamily="34" charset="0"/>
              </a:rPr>
              <a:t>Allowed agent work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2C6C35-877E-9761-D03B-34ABFD968792}"/>
              </a:ext>
            </a:extLst>
          </p:cNvPr>
          <p:cNvCxnSpPr/>
          <p:nvPr/>
        </p:nvCxnSpPr>
        <p:spPr>
          <a:xfrm>
            <a:off x="1092200" y="2032000"/>
            <a:ext cx="4368800" cy="0"/>
          </a:xfrm>
          <a:prstGeom prst="straightConnector1">
            <a:avLst/>
          </a:prstGeom>
          <a:ln w="25400">
            <a:solidFill>
              <a:srgbClr val="218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D2824A-C26A-BB62-33E7-3174593E03A9}"/>
              </a:ext>
            </a:extLst>
          </p:cNvPr>
          <p:cNvSpPr txBox="1"/>
          <p:nvPr/>
        </p:nvSpPr>
        <p:spPr>
          <a:xfrm>
            <a:off x="1244600" y="2336800"/>
            <a:ext cx="4191000" cy="16004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Draft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Summarize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Classify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Triage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Monitor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Prepare evidence packets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Generate commentary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Route issues for human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ECC043-9D2A-1924-E37D-4A7C0C21984E}"/>
              </a:ext>
            </a:extLst>
          </p:cNvPr>
          <p:cNvSpPr txBox="1"/>
          <p:nvPr/>
        </p:nvSpPr>
        <p:spPr>
          <a:xfrm>
            <a:off x="6756400" y="1701800"/>
            <a:ext cx="457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6549AF"/>
                </a:solidFill>
                <a:latin typeface="Aptos" panose="020B0004020202020204" pitchFamily="34" charset="0"/>
              </a:rPr>
              <a:t>Blocked agent work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DC7444-7E52-BC28-A9C6-C93835B1414F}"/>
              </a:ext>
            </a:extLst>
          </p:cNvPr>
          <p:cNvCxnSpPr/>
          <p:nvPr/>
        </p:nvCxnSpPr>
        <p:spPr>
          <a:xfrm>
            <a:off x="6756400" y="2032000"/>
            <a:ext cx="4368800" cy="0"/>
          </a:xfrm>
          <a:prstGeom prst="straightConnector1">
            <a:avLst/>
          </a:prstGeom>
          <a:ln w="25400">
            <a:solidFill>
              <a:srgbClr val="6549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7FE3D9-9FE0-EAEC-A228-4B97B202F442}"/>
              </a:ext>
            </a:extLst>
          </p:cNvPr>
          <p:cNvSpPr txBox="1"/>
          <p:nvPr/>
        </p:nvSpPr>
        <p:spPr>
          <a:xfrm>
            <a:off x="6908800" y="2336800"/>
            <a:ext cx="4191000" cy="20005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Approve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Post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Pay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Certify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File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Override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Externalize sensitive data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Delete records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Change supplier or bank records</a:t>
            </a:r>
          </a:p>
          <a:p>
            <a:r>
              <a:rPr lang="en-US" sz="1300">
                <a:solidFill>
                  <a:srgbClr val="081F46"/>
                </a:solidFill>
                <a:latin typeface="Aptos" panose="020B0004020202020204" pitchFamily="34" charset="0"/>
              </a:rPr>
              <a:t>Close controls without human approval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D2FBEF5-479E-6831-7C03-290B54E81327}"/>
              </a:ext>
            </a:extLst>
          </p:cNvPr>
          <p:cNvSpPr/>
          <p:nvPr/>
        </p:nvSpPr>
        <p:spPr>
          <a:xfrm>
            <a:off x="1828800" y="5334000"/>
            <a:ext cx="8534400" cy="736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C18BC4-46EE-2C2C-F343-061C55110E5C}"/>
              </a:ext>
            </a:extLst>
          </p:cNvPr>
          <p:cNvSpPr/>
          <p:nvPr/>
        </p:nvSpPr>
        <p:spPr>
          <a:xfrm>
            <a:off x="1828800" y="5334000"/>
            <a:ext cx="63500" cy="736600"/>
          </a:xfrm>
          <a:prstGeom prst="rect">
            <a:avLst/>
          </a:prstGeom>
          <a:solidFill>
            <a:srgbClr val="1C5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AF9AF-D11A-2AED-972E-47688AD29BB4}"/>
              </a:ext>
            </a:extLst>
          </p:cNvPr>
          <p:cNvSpPr txBox="1"/>
          <p:nvPr/>
        </p:nvSpPr>
        <p:spPr>
          <a:xfrm>
            <a:off x="2057400" y="5511800"/>
            <a:ext cx="815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Readiness gate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880822-6BEB-D166-BD2F-CD06B4939A9D}"/>
              </a:ext>
            </a:extLst>
          </p:cNvPr>
          <p:cNvSpPr txBox="1"/>
          <p:nvPr/>
        </p:nvSpPr>
        <p:spPr>
          <a:xfrm>
            <a:off x="2057400" y="5892800"/>
            <a:ext cx="8153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Agents are not a destination. A domain may stop at policy, intake, and controlled AI use until readiness is proven.</a:t>
            </a:r>
          </a:p>
        </p:txBody>
      </p:sp>
    </p:spTree>
    <p:extLst>
      <p:ext uri="{BB962C8B-B14F-4D97-AF65-F5344CB8AC3E}">
        <p14:creationId xmlns:p14="http://schemas.microsoft.com/office/powerpoint/2010/main" val="449809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E9B508-6DBF-4CBE-F650-19063F375023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SHARED GOVERNANCE CONTROLS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E9289-005D-F73F-B726-7422BEBD053B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Shared Controls Create the Reusable Backbone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E45C57-AE9F-7EDC-62A9-B6134E546C0D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8C037FD-2BCE-2431-270B-C4614F5D7F7A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DD7070-DFC4-14EA-5BE1-D571E2FDAC89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6E4D98-C777-2D80-8194-657ABE828085}"/>
              </a:ext>
            </a:extLst>
          </p:cNvPr>
          <p:cNvSpPr/>
          <p:nvPr/>
        </p:nvSpPr>
        <p:spPr>
          <a:xfrm>
            <a:off x="635000" y="2260600"/>
            <a:ext cx="1193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D7D09-9DEE-DD5E-7082-06465A1912E1}"/>
              </a:ext>
            </a:extLst>
          </p:cNvPr>
          <p:cNvSpPr txBox="1"/>
          <p:nvPr/>
        </p:nvSpPr>
        <p:spPr>
          <a:xfrm>
            <a:off x="711200" y="2514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Ownership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D59B99-6AF1-044D-19F8-A0C4D85EADC5}"/>
              </a:ext>
            </a:extLst>
          </p:cNvPr>
          <p:cNvCxnSpPr/>
          <p:nvPr/>
        </p:nvCxnSpPr>
        <p:spPr>
          <a:xfrm>
            <a:off x="863600" y="3022600"/>
            <a:ext cx="7366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99D9A0-5B01-569A-F579-BBB8BB1EC3D8}"/>
              </a:ext>
            </a:extLst>
          </p:cNvPr>
          <p:cNvSpPr txBox="1"/>
          <p:nvPr/>
        </p:nvSpPr>
        <p:spPr>
          <a:xfrm>
            <a:off x="736600" y="3276600"/>
            <a:ext cx="990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465269"/>
                </a:solidFill>
                <a:latin typeface="Aptos" panose="020B0004020202020204" pitchFamily="34" charset="0"/>
              </a:rPr>
              <a:t>Who is accountable?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F58D8D-7211-0C6A-9F56-DF0405A554EF}"/>
              </a:ext>
            </a:extLst>
          </p:cNvPr>
          <p:cNvSpPr/>
          <p:nvPr/>
        </p:nvSpPr>
        <p:spPr>
          <a:xfrm>
            <a:off x="1879600" y="2260600"/>
            <a:ext cx="1193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6F6C0-DD6C-F654-65A5-6D760ACE63B6}"/>
              </a:ext>
            </a:extLst>
          </p:cNvPr>
          <p:cNvSpPr txBox="1"/>
          <p:nvPr/>
        </p:nvSpPr>
        <p:spPr>
          <a:xfrm>
            <a:off x="1955800" y="2514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Intake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AE717A-F68C-B227-0C08-5B6B04E02C70}"/>
              </a:ext>
            </a:extLst>
          </p:cNvPr>
          <p:cNvCxnSpPr/>
          <p:nvPr/>
        </p:nvCxnSpPr>
        <p:spPr>
          <a:xfrm>
            <a:off x="2108200" y="3022600"/>
            <a:ext cx="7366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7186441-83E4-2E62-EC48-51EEB64F2B40}"/>
              </a:ext>
            </a:extLst>
          </p:cNvPr>
          <p:cNvSpPr txBox="1"/>
          <p:nvPr/>
        </p:nvSpPr>
        <p:spPr>
          <a:xfrm>
            <a:off x="1981200" y="327660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465269"/>
                </a:solidFill>
                <a:latin typeface="Aptos" panose="020B0004020202020204" pitchFamily="34" charset="0"/>
              </a:rPr>
              <a:t>What is being requested?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0519D4-0BF0-1DD8-521B-BAEE082D5602}"/>
              </a:ext>
            </a:extLst>
          </p:cNvPr>
          <p:cNvSpPr/>
          <p:nvPr/>
        </p:nvSpPr>
        <p:spPr>
          <a:xfrm>
            <a:off x="3124200" y="2260600"/>
            <a:ext cx="1193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04A87E-8544-34E8-4C30-33F33E36A7CA}"/>
              </a:ext>
            </a:extLst>
          </p:cNvPr>
          <p:cNvSpPr txBox="1"/>
          <p:nvPr/>
        </p:nvSpPr>
        <p:spPr>
          <a:xfrm>
            <a:off x="3200400" y="2514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Approval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C679BB-346B-C56D-E4BF-DD01CFF7B4EF}"/>
              </a:ext>
            </a:extLst>
          </p:cNvPr>
          <p:cNvCxnSpPr/>
          <p:nvPr/>
        </p:nvCxnSpPr>
        <p:spPr>
          <a:xfrm>
            <a:off x="3352800" y="3022600"/>
            <a:ext cx="7366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32C4C17-F08E-58E2-CDB1-89B819A0E977}"/>
              </a:ext>
            </a:extLst>
          </p:cNvPr>
          <p:cNvSpPr txBox="1"/>
          <p:nvPr/>
        </p:nvSpPr>
        <p:spPr>
          <a:xfrm>
            <a:off x="3225800" y="3276600"/>
            <a:ext cx="990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465269"/>
                </a:solidFill>
                <a:latin typeface="Aptos" panose="020B0004020202020204" pitchFamily="34" charset="0"/>
              </a:rPr>
              <a:t>Who authorizes use?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3DEDA43-A0FA-E285-4F47-350F3EED1E88}"/>
              </a:ext>
            </a:extLst>
          </p:cNvPr>
          <p:cNvSpPr/>
          <p:nvPr/>
        </p:nvSpPr>
        <p:spPr>
          <a:xfrm>
            <a:off x="4368800" y="2260600"/>
            <a:ext cx="1193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EDADC6-130E-F121-3F87-22F5D65F3CAC}"/>
              </a:ext>
            </a:extLst>
          </p:cNvPr>
          <p:cNvSpPr txBox="1"/>
          <p:nvPr/>
        </p:nvSpPr>
        <p:spPr>
          <a:xfrm>
            <a:off x="4445000" y="2514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Evidence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E9FCF9-FDDA-D024-786F-3C0C66438C7F}"/>
              </a:ext>
            </a:extLst>
          </p:cNvPr>
          <p:cNvCxnSpPr/>
          <p:nvPr/>
        </p:nvCxnSpPr>
        <p:spPr>
          <a:xfrm>
            <a:off x="4597400" y="3022600"/>
            <a:ext cx="7366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50FDF49-08FC-E823-192E-1799128DABEA}"/>
              </a:ext>
            </a:extLst>
          </p:cNvPr>
          <p:cNvSpPr txBox="1"/>
          <p:nvPr/>
        </p:nvSpPr>
        <p:spPr>
          <a:xfrm>
            <a:off x="4470400" y="327660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465269"/>
                </a:solidFill>
                <a:latin typeface="Aptos" panose="020B0004020202020204" pitchFamily="34" charset="0"/>
              </a:rPr>
              <a:t>What proof is retained?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3E9E697-0C7B-70D8-E727-2F899EB18660}"/>
              </a:ext>
            </a:extLst>
          </p:cNvPr>
          <p:cNvSpPr/>
          <p:nvPr/>
        </p:nvSpPr>
        <p:spPr>
          <a:xfrm>
            <a:off x="5613400" y="2260600"/>
            <a:ext cx="1193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A3A80B-0A0C-7328-1DA1-C0131F92768D}"/>
              </a:ext>
            </a:extLst>
          </p:cNvPr>
          <p:cNvSpPr txBox="1"/>
          <p:nvPr/>
        </p:nvSpPr>
        <p:spPr>
          <a:xfrm>
            <a:off x="5689600" y="2514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Access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5475FB-C04A-C89D-98A5-7799E3D7BDC9}"/>
              </a:ext>
            </a:extLst>
          </p:cNvPr>
          <p:cNvCxnSpPr/>
          <p:nvPr/>
        </p:nvCxnSpPr>
        <p:spPr>
          <a:xfrm>
            <a:off x="5842000" y="3022600"/>
            <a:ext cx="7366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0E2F64B-0A55-2725-B800-50343711A4F2}"/>
              </a:ext>
            </a:extLst>
          </p:cNvPr>
          <p:cNvSpPr txBox="1"/>
          <p:nvPr/>
        </p:nvSpPr>
        <p:spPr>
          <a:xfrm>
            <a:off x="5715000" y="3276600"/>
            <a:ext cx="990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465269"/>
                </a:solidFill>
                <a:latin typeface="Aptos" panose="020B0004020202020204" pitchFamily="34" charset="0"/>
              </a:rPr>
              <a:t>Who can see or use it?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A1F8B68-4527-1FDC-B409-B35470AF814E}"/>
              </a:ext>
            </a:extLst>
          </p:cNvPr>
          <p:cNvSpPr/>
          <p:nvPr/>
        </p:nvSpPr>
        <p:spPr>
          <a:xfrm>
            <a:off x="6858000" y="2260600"/>
            <a:ext cx="1193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FA5301-7359-2A1B-DE02-3F38699DA241}"/>
              </a:ext>
            </a:extLst>
          </p:cNvPr>
          <p:cNvSpPr txBox="1"/>
          <p:nvPr/>
        </p:nvSpPr>
        <p:spPr>
          <a:xfrm>
            <a:off x="6934200" y="2514600"/>
            <a:ext cx="1041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Data Classification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51EAB69-E2F5-BE53-C32C-B4DCA22DCAC6}"/>
              </a:ext>
            </a:extLst>
          </p:cNvPr>
          <p:cNvCxnSpPr/>
          <p:nvPr/>
        </p:nvCxnSpPr>
        <p:spPr>
          <a:xfrm>
            <a:off x="7086600" y="3022600"/>
            <a:ext cx="7366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854C908-6F7A-484C-2384-11B561790894}"/>
              </a:ext>
            </a:extLst>
          </p:cNvPr>
          <p:cNvSpPr txBox="1"/>
          <p:nvPr/>
        </p:nvSpPr>
        <p:spPr>
          <a:xfrm>
            <a:off x="6959600" y="327660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465269"/>
                </a:solidFill>
                <a:latin typeface="Aptos" panose="020B0004020202020204" pitchFamily="34" charset="0"/>
              </a:rPr>
              <a:t>What handling rules apply?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66FB1B8-0E46-BF7F-A857-665827185BB2}"/>
              </a:ext>
            </a:extLst>
          </p:cNvPr>
          <p:cNvSpPr/>
          <p:nvPr/>
        </p:nvSpPr>
        <p:spPr>
          <a:xfrm>
            <a:off x="8102600" y="2260600"/>
            <a:ext cx="1193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CC078D-C30A-C438-4DE6-287A5E1D4A59}"/>
              </a:ext>
            </a:extLst>
          </p:cNvPr>
          <p:cNvSpPr txBox="1"/>
          <p:nvPr/>
        </p:nvSpPr>
        <p:spPr>
          <a:xfrm>
            <a:off x="8178800" y="2514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Exceptions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C1A631A-F424-E24A-68D4-28561EFF5F18}"/>
              </a:ext>
            </a:extLst>
          </p:cNvPr>
          <p:cNvCxnSpPr/>
          <p:nvPr/>
        </p:nvCxnSpPr>
        <p:spPr>
          <a:xfrm>
            <a:off x="8331200" y="3022600"/>
            <a:ext cx="7366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6759296-F754-A6F7-3706-3E3B6F364879}"/>
              </a:ext>
            </a:extLst>
          </p:cNvPr>
          <p:cNvSpPr txBox="1"/>
          <p:nvPr/>
        </p:nvSpPr>
        <p:spPr>
          <a:xfrm>
            <a:off x="8204200" y="3276600"/>
            <a:ext cx="990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465269"/>
                </a:solidFill>
                <a:latin typeface="Aptos" panose="020B0004020202020204" pitchFamily="34" charset="0"/>
              </a:rPr>
              <a:t>Who accepts risk?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30FAF1C-C812-B1C5-353C-AEFF261841D8}"/>
              </a:ext>
            </a:extLst>
          </p:cNvPr>
          <p:cNvSpPr/>
          <p:nvPr/>
        </p:nvSpPr>
        <p:spPr>
          <a:xfrm>
            <a:off x="9347200" y="2260600"/>
            <a:ext cx="1193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148EC-CB6F-224C-0304-53D571ABC6AA}"/>
              </a:ext>
            </a:extLst>
          </p:cNvPr>
          <p:cNvSpPr txBox="1"/>
          <p:nvPr/>
        </p:nvSpPr>
        <p:spPr>
          <a:xfrm>
            <a:off x="9423400" y="2514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Monitoring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498E475-E69E-192C-8063-82E1E1633911}"/>
              </a:ext>
            </a:extLst>
          </p:cNvPr>
          <p:cNvCxnSpPr/>
          <p:nvPr/>
        </p:nvCxnSpPr>
        <p:spPr>
          <a:xfrm>
            <a:off x="9575800" y="3022600"/>
            <a:ext cx="7366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3FAF912-4789-DBAE-2B10-15966CB07AC4}"/>
              </a:ext>
            </a:extLst>
          </p:cNvPr>
          <p:cNvSpPr txBox="1"/>
          <p:nvPr/>
        </p:nvSpPr>
        <p:spPr>
          <a:xfrm>
            <a:off x="9448800" y="327660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465269"/>
                </a:solidFill>
                <a:latin typeface="Aptos" panose="020B0004020202020204" pitchFamily="34" charset="0"/>
              </a:rPr>
              <a:t>How are issues detected?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2C9D54C-5560-73EE-AD09-66C57271CE81}"/>
              </a:ext>
            </a:extLst>
          </p:cNvPr>
          <p:cNvSpPr/>
          <p:nvPr/>
        </p:nvSpPr>
        <p:spPr>
          <a:xfrm>
            <a:off x="10591800" y="2260600"/>
            <a:ext cx="1193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2A4045-3472-A83A-D421-6F27E0DE6590}"/>
              </a:ext>
            </a:extLst>
          </p:cNvPr>
          <p:cNvSpPr txBox="1"/>
          <p:nvPr/>
        </p:nvSpPr>
        <p:spPr>
          <a:xfrm>
            <a:off x="10668000" y="2514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C5CB9"/>
                </a:solidFill>
                <a:latin typeface="Aptos" panose="020B0004020202020204" pitchFamily="34" charset="0"/>
              </a:rPr>
              <a:t>Lifecycle Review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0551351-41B0-97C6-2AAF-D7EDFE5E958A}"/>
              </a:ext>
            </a:extLst>
          </p:cNvPr>
          <p:cNvCxnSpPr/>
          <p:nvPr/>
        </p:nvCxnSpPr>
        <p:spPr>
          <a:xfrm>
            <a:off x="10820400" y="3022600"/>
            <a:ext cx="7366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2DA0E93-7803-6360-3BFA-6B2786EE9570}"/>
              </a:ext>
            </a:extLst>
          </p:cNvPr>
          <p:cNvSpPr txBox="1"/>
          <p:nvPr/>
        </p:nvSpPr>
        <p:spPr>
          <a:xfrm>
            <a:off x="10693400" y="3276600"/>
            <a:ext cx="990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00">
                <a:solidFill>
                  <a:srgbClr val="465269"/>
                </a:solidFill>
                <a:latin typeface="Aptos" panose="020B0004020202020204" pitchFamily="34" charset="0"/>
              </a:rPr>
              <a:t>When is it refreshed?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F2DCD3-A32A-61C2-715C-5B6A5E160AA7}"/>
              </a:ext>
            </a:extLst>
          </p:cNvPr>
          <p:cNvSpPr txBox="1"/>
          <p:nvPr/>
        </p:nvSpPr>
        <p:spPr>
          <a:xfrm>
            <a:off x="2667000" y="4368800"/>
            <a:ext cx="685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C5CB9"/>
                </a:solidFill>
                <a:latin typeface="Aptos" panose="020B0004020202020204" pitchFamily="34" charset="0"/>
              </a:rPr>
              <a:t>Shared Governance Controls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BB0B8E-B637-292C-8A98-C42794DDFC0F}"/>
              </a:ext>
            </a:extLst>
          </p:cNvPr>
          <p:cNvSpPr txBox="1"/>
          <p:nvPr/>
        </p:nvSpPr>
        <p:spPr>
          <a:xfrm>
            <a:off x="2667000" y="4648200"/>
            <a:ext cx="685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81F46"/>
                </a:solidFill>
                <a:latin typeface="Aptos" panose="020B0004020202020204" pitchFamily="34" charset="0"/>
              </a:rPr>
              <a:t>Common control backbone - applies across all layers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D978C2-348D-828A-74BD-FB375E1CCE6E}"/>
              </a:ext>
            </a:extLst>
          </p:cNvPr>
          <p:cNvCxnSpPr/>
          <p:nvPr/>
        </p:nvCxnSpPr>
        <p:spPr>
          <a:xfrm>
            <a:off x="1244600" y="4876800"/>
            <a:ext cx="9702800" cy="0"/>
          </a:xfrm>
          <a:prstGeom prst="straightConnector1">
            <a:avLst/>
          </a:prstGeom>
          <a:ln w="25400">
            <a:solidFill>
              <a:srgbClr val="081F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320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1D9BE2-9145-568D-A301-4754B4361974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AP WORKED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AC331-5263-4C1F-96BE-D6AF01A1894B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AP Is the Proving Ground, Not the Target Architecture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6EC5E0-DDCD-27A1-65FD-D81842F56222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FF8CB57-4A3D-D768-E440-B35183FBE44F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28AE9-4D6F-0DE4-E40B-9EA7C994B7C7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12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A3EAB6-40F8-5007-C8F2-380964D4B720}"/>
              </a:ext>
            </a:extLst>
          </p:cNvPr>
          <p:cNvSpPr/>
          <p:nvPr/>
        </p:nvSpPr>
        <p:spPr>
          <a:xfrm>
            <a:off x="965200" y="1955800"/>
            <a:ext cx="3175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F1ECC9-E02C-5EA6-F6A0-74F3C739DFA2}"/>
              </a:ext>
            </a:extLst>
          </p:cNvPr>
          <p:cNvSpPr txBox="1"/>
          <p:nvPr/>
        </p:nvSpPr>
        <p:spPr>
          <a:xfrm>
            <a:off x="1143000" y="2108200"/>
            <a:ext cx="2819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Control-heavy and evidence-rich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42A52-3F86-FDA7-1B35-07768AAFCBD1}"/>
              </a:ext>
            </a:extLst>
          </p:cNvPr>
          <p:cNvSpPr txBox="1"/>
          <p:nvPr/>
        </p:nvSpPr>
        <p:spPr>
          <a:xfrm>
            <a:off x="1143000" y="2489200"/>
            <a:ext cx="281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AP has clear stages, approvals, and audit-relevant evidence.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A975DC6-0ABF-9B59-D336-4CD8AFE57966}"/>
              </a:ext>
            </a:extLst>
          </p:cNvPr>
          <p:cNvSpPr/>
          <p:nvPr/>
        </p:nvSpPr>
        <p:spPr>
          <a:xfrm>
            <a:off x="4521200" y="1955800"/>
            <a:ext cx="3175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95955B-BDB1-FEE8-3292-C2489F4D8292}"/>
              </a:ext>
            </a:extLst>
          </p:cNvPr>
          <p:cNvSpPr txBox="1"/>
          <p:nvPr/>
        </p:nvSpPr>
        <p:spPr>
          <a:xfrm>
            <a:off x="4699000" y="2108200"/>
            <a:ext cx="2819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Exception-prone and data-sensitive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B9C9F-005F-6F09-DC87-78B5E6CF1216}"/>
              </a:ext>
            </a:extLst>
          </p:cNvPr>
          <p:cNvSpPr txBox="1"/>
          <p:nvPr/>
        </p:nvSpPr>
        <p:spPr>
          <a:xfrm>
            <a:off x="4699000" y="2489200"/>
            <a:ext cx="2819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AP includes supplier data, payment data, tax data, holds, duplicate risk, and remediation workflows.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1AFE07-C1C5-7E16-243F-B9DF914819D2}"/>
              </a:ext>
            </a:extLst>
          </p:cNvPr>
          <p:cNvSpPr/>
          <p:nvPr/>
        </p:nvSpPr>
        <p:spPr>
          <a:xfrm>
            <a:off x="8077200" y="1955800"/>
            <a:ext cx="3175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4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A7FAE9-FE84-F3C6-C0F4-762B037BA43C}"/>
              </a:ext>
            </a:extLst>
          </p:cNvPr>
          <p:cNvSpPr txBox="1"/>
          <p:nvPr/>
        </p:nvSpPr>
        <p:spPr>
          <a:xfrm>
            <a:off x="8255000" y="2108200"/>
            <a:ext cx="2819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6549AF"/>
                </a:solidFill>
                <a:latin typeface="Aptos" panose="020B0004020202020204" pitchFamily="34" charset="0"/>
              </a:rPr>
              <a:t>Transferable but not AP-specific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3EF20A-DF17-A76A-1505-1CEF3703F4DC}"/>
              </a:ext>
            </a:extLst>
          </p:cNvPr>
          <p:cNvSpPr txBox="1"/>
          <p:nvPr/>
        </p:nvSpPr>
        <p:spPr>
          <a:xfrm>
            <a:off x="8255000" y="2489200"/>
            <a:ext cx="2819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If the architecture works for AP, it can be adapted to domains with different process, analytics, and AI risk profiles.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D3CF10-78C9-F6F9-0C2D-A3E0DCB35CB3}"/>
              </a:ext>
            </a:extLst>
          </p:cNvPr>
          <p:cNvSpPr txBox="1"/>
          <p:nvPr/>
        </p:nvSpPr>
        <p:spPr>
          <a:xfrm>
            <a:off x="1625600" y="4775200"/>
            <a:ext cx="89408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081F46"/>
                </a:solidFill>
                <a:latin typeface="Aptos" panose="020B0004020202020204" pitchFamily="34" charset="0"/>
              </a:rPr>
              <a:t>AP validates the pattern because it exposes the governance questions clearly. It does not limit the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280733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7E1DBE-BEB6-E46E-BB4A-4E44F3E81D85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REUSABLE DOMAIN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1602A-2A08-D6DA-71D2-6B1FA2CB2D54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The Same Pattern Can Be Applied Domain by Domain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0D5F61F-6958-7684-B901-1257DAF1CCC7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A57A348-476B-B787-16B4-F9EFD4384B07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F47CEA-9F0F-703A-1759-D17EF1707288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13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6DB5A2-C99C-0414-5B9B-E36D5BDE0A47}"/>
              </a:ext>
            </a:extLst>
          </p:cNvPr>
          <p:cNvSpPr/>
          <p:nvPr/>
        </p:nvSpPr>
        <p:spPr>
          <a:xfrm>
            <a:off x="990600" y="1676400"/>
            <a:ext cx="431800" cy="431800"/>
          </a:xfrm>
          <a:prstGeom prst="ellipse">
            <a:avLst/>
          </a:prstGeom>
          <a:solidFill>
            <a:srgbClr val="1C5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33465-F859-9528-F9FA-735C03B0AB86}"/>
              </a:ext>
            </a:extLst>
          </p:cNvPr>
          <p:cNvSpPr txBox="1"/>
          <p:nvPr/>
        </p:nvSpPr>
        <p:spPr>
          <a:xfrm>
            <a:off x="990600" y="17780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0B2ACB-FC33-8E53-D0D3-5B28669EC6F3}"/>
              </a:ext>
            </a:extLst>
          </p:cNvPr>
          <p:cNvSpPr txBox="1"/>
          <p:nvPr/>
        </p:nvSpPr>
        <p:spPr>
          <a:xfrm>
            <a:off x="1549400" y="1727200"/>
            <a:ext cx="4013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081F46"/>
                </a:solidFill>
                <a:latin typeface="Aptos" panose="020B0004020202020204" pitchFamily="34" charset="0"/>
              </a:rPr>
              <a:t>Define the domain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FC9D4B-5B5A-EAC5-4BF5-E8F9ABFE06FF}"/>
              </a:ext>
            </a:extLst>
          </p:cNvPr>
          <p:cNvSpPr/>
          <p:nvPr/>
        </p:nvSpPr>
        <p:spPr>
          <a:xfrm>
            <a:off x="990600" y="2184400"/>
            <a:ext cx="431800" cy="431800"/>
          </a:xfrm>
          <a:prstGeom prst="ellipse">
            <a:avLst/>
          </a:prstGeom>
          <a:solidFill>
            <a:srgbClr val="1C5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A02E6-8334-3B2E-7D7C-DC7BF9506812}"/>
              </a:ext>
            </a:extLst>
          </p:cNvPr>
          <p:cNvSpPr txBox="1"/>
          <p:nvPr/>
        </p:nvSpPr>
        <p:spPr>
          <a:xfrm>
            <a:off x="990600" y="22860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9A0E65-AE6B-6589-76D3-9CF409854A85}"/>
              </a:ext>
            </a:extLst>
          </p:cNvPr>
          <p:cNvSpPr txBox="1"/>
          <p:nvPr/>
        </p:nvSpPr>
        <p:spPr>
          <a:xfrm>
            <a:off x="1549400" y="2235200"/>
            <a:ext cx="4013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081F46"/>
                </a:solidFill>
                <a:latin typeface="Aptos" panose="020B0004020202020204" pitchFamily="34" charset="0"/>
              </a:rPr>
              <a:t>Map operations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C45336-C3E9-5A08-FD4B-71941E66D76C}"/>
              </a:ext>
            </a:extLst>
          </p:cNvPr>
          <p:cNvSpPr/>
          <p:nvPr/>
        </p:nvSpPr>
        <p:spPr>
          <a:xfrm>
            <a:off x="990600" y="2692400"/>
            <a:ext cx="431800" cy="431800"/>
          </a:xfrm>
          <a:prstGeom prst="ellipse">
            <a:avLst/>
          </a:prstGeom>
          <a:solidFill>
            <a:srgbClr val="1C5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4B9759-605A-E48A-5D6F-7E75FB7B4656}"/>
              </a:ext>
            </a:extLst>
          </p:cNvPr>
          <p:cNvSpPr txBox="1"/>
          <p:nvPr/>
        </p:nvSpPr>
        <p:spPr>
          <a:xfrm>
            <a:off x="990600" y="27940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A5DE95-BC19-B8E2-63A4-7981932173BF}"/>
              </a:ext>
            </a:extLst>
          </p:cNvPr>
          <p:cNvSpPr txBox="1"/>
          <p:nvPr/>
        </p:nvSpPr>
        <p:spPr>
          <a:xfrm>
            <a:off x="1549400" y="2743200"/>
            <a:ext cx="4013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081F46"/>
                </a:solidFill>
                <a:latin typeface="Aptos" panose="020B0004020202020204" pitchFamily="34" charset="0"/>
              </a:rPr>
              <a:t>Govern analytics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CC61750-6FB0-7A8C-9633-F91875FCAC49}"/>
              </a:ext>
            </a:extLst>
          </p:cNvPr>
          <p:cNvSpPr/>
          <p:nvPr/>
        </p:nvSpPr>
        <p:spPr>
          <a:xfrm>
            <a:off x="990600" y="3200400"/>
            <a:ext cx="431800" cy="431800"/>
          </a:xfrm>
          <a:prstGeom prst="ellipse">
            <a:avLst/>
          </a:prstGeom>
          <a:solidFill>
            <a:srgbClr val="1C5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EA12B6-FC61-E249-4481-9C873FA14491}"/>
              </a:ext>
            </a:extLst>
          </p:cNvPr>
          <p:cNvSpPr txBox="1"/>
          <p:nvPr/>
        </p:nvSpPr>
        <p:spPr>
          <a:xfrm>
            <a:off x="990600" y="33020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406B2E-F23D-ED91-8498-B3228FDD97C6}"/>
              </a:ext>
            </a:extLst>
          </p:cNvPr>
          <p:cNvSpPr txBox="1"/>
          <p:nvPr/>
        </p:nvSpPr>
        <p:spPr>
          <a:xfrm>
            <a:off x="1549400" y="3251200"/>
            <a:ext cx="4013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081F46"/>
                </a:solidFill>
                <a:latin typeface="Aptos" panose="020B0004020202020204" pitchFamily="34" charset="0"/>
              </a:rPr>
              <a:t>Classify AI use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5C860F-A4E2-D672-82AB-68A0FBFDE0EC}"/>
              </a:ext>
            </a:extLst>
          </p:cNvPr>
          <p:cNvSpPr/>
          <p:nvPr/>
        </p:nvSpPr>
        <p:spPr>
          <a:xfrm>
            <a:off x="990600" y="3708400"/>
            <a:ext cx="431800" cy="431800"/>
          </a:xfrm>
          <a:prstGeom prst="ellipse">
            <a:avLst/>
          </a:prstGeom>
          <a:solidFill>
            <a:srgbClr val="1C5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AC8E7B-416E-6669-5B0A-F6E852BB8AA9}"/>
              </a:ext>
            </a:extLst>
          </p:cNvPr>
          <p:cNvSpPr txBox="1"/>
          <p:nvPr/>
        </p:nvSpPr>
        <p:spPr>
          <a:xfrm>
            <a:off x="990600" y="38100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282CFA-2A2B-8DB2-F27E-B7F65C4255AE}"/>
              </a:ext>
            </a:extLst>
          </p:cNvPr>
          <p:cNvSpPr txBox="1"/>
          <p:nvPr/>
        </p:nvSpPr>
        <p:spPr>
          <a:xfrm>
            <a:off x="1549400" y="3759200"/>
            <a:ext cx="4013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081F46"/>
                </a:solidFill>
                <a:latin typeface="Aptos" panose="020B0004020202020204" pitchFamily="34" charset="0"/>
              </a:rPr>
              <a:t>Apply shared controls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8544AD1-E5BF-9688-39E2-1BC989193BC2}"/>
              </a:ext>
            </a:extLst>
          </p:cNvPr>
          <p:cNvSpPr/>
          <p:nvPr/>
        </p:nvSpPr>
        <p:spPr>
          <a:xfrm>
            <a:off x="990600" y="4216400"/>
            <a:ext cx="431800" cy="431800"/>
          </a:xfrm>
          <a:prstGeom prst="ellipse">
            <a:avLst/>
          </a:prstGeom>
          <a:solidFill>
            <a:srgbClr val="1C5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698ED8-F112-B0F4-CF84-77E57FEE515D}"/>
              </a:ext>
            </a:extLst>
          </p:cNvPr>
          <p:cNvSpPr txBox="1"/>
          <p:nvPr/>
        </p:nvSpPr>
        <p:spPr>
          <a:xfrm>
            <a:off x="990600" y="43180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A8074F-AA74-9C75-BE59-5E3DBEFD16AD}"/>
              </a:ext>
            </a:extLst>
          </p:cNvPr>
          <p:cNvSpPr txBox="1"/>
          <p:nvPr/>
        </p:nvSpPr>
        <p:spPr>
          <a:xfrm>
            <a:off x="1549400" y="4267200"/>
            <a:ext cx="4013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081F46"/>
                </a:solidFill>
                <a:latin typeface="Aptos" panose="020B0004020202020204" pitchFamily="34" charset="0"/>
              </a:rPr>
              <a:t>Gate agent readiness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15E01DF-4C62-1E7B-3576-57D49CFB198F}"/>
              </a:ext>
            </a:extLst>
          </p:cNvPr>
          <p:cNvSpPr/>
          <p:nvPr/>
        </p:nvSpPr>
        <p:spPr>
          <a:xfrm>
            <a:off x="990600" y="4724400"/>
            <a:ext cx="431800" cy="431800"/>
          </a:xfrm>
          <a:prstGeom prst="ellipse">
            <a:avLst/>
          </a:prstGeom>
          <a:solidFill>
            <a:srgbClr val="1C5C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0D22C9-52AF-BFE1-CBBD-64BA5A6B63D7}"/>
              </a:ext>
            </a:extLst>
          </p:cNvPr>
          <p:cNvSpPr txBox="1"/>
          <p:nvPr/>
        </p:nvSpPr>
        <p:spPr>
          <a:xfrm>
            <a:off x="990600" y="4826000"/>
            <a:ext cx="431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1C8EDE-285B-C7F3-88DD-45C4D138853F}"/>
              </a:ext>
            </a:extLst>
          </p:cNvPr>
          <p:cNvSpPr txBox="1"/>
          <p:nvPr/>
        </p:nvSpPr>
        <p:spPr>
          <a:xfrm>
            <a:off x="1549400" y="4775200"/>
            <a:ext cx="4013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081F46"/>
                </a:solidFill>
                <a:latin typeface="Aptos" panose="020B0004020202020204" pitchFamily="34" charset="0"/>
              </a:rPr>
              <a:t>Retain evidence and monitor lifecycle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89C5FA4-71DC-BA1B-1A20-0DD81939ED3C}"/>
              </a:ext>
            </a:extLst>
          </p:cNvPr>
          <p:cNvSpPr/>
          <p:nvPr/>
        </p:nvSpPr>
        <p:spPr>
          <a:xfrm>
            <a:off x="6350000" y="1828800"/>
            <a:ext cx="8890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9368D2-6F3C-7CDC-EFDE-E8F332574F5C}"/>
              </a:ext>
            </a:extLst>
          </p:cNvPr>
          <p:cNvSpPr txBox="1"/>
          <p:nvPr/>
        </p:nvSpPr>
        <p:spPr>
          <a:xfrm>
            <a:off x="6350000" y="18923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AP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FFE64D5-E329-5D78-C45A-F7048E1459C9}"/>
              </a:ext>
            </a:extLst>
          </p:cNvPr>
          <p:cNvSpPr/>
          <p:nvPr/>
        </p:nvSpPr>
        <p:spPr>
          <a:xfrm>
            <a:off x="7366000" y="1828800"/>
            <a:ext cx="8890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22019B-9264-FF6D-2E6B-473195F62FD0}"/>
              </a:ext>
            </a:extLst>
          </p:cNvPr>
          <p:cNvSpPr txBox="1"/>
          <p:nvPr/>
        </p:nvSpPr>
        <p:spPr>
          <a:xfrm>
            <a:off x="7366000" y="18923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AR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6C29ACF-55EA-49DF-C42F-CE797F9B7A5F}"/>
              </a:ext>
            </a:extLst>
          </p:cNvPr>
          <p:cNvSpPr/>
          <p:nvPr/>
        </p:nvSpPr>
        <p:spPr>
          <a:xfrm>
            <a:off x="8382000" y="1828800"/>
            <a:ext cx="8890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1DC3BB-DF44-2117-82D6-AD902F62271F}"/>
              </a:ext>
            </a:extLst>
          </p:cNvPr>
          <p:cNvSpPr txBox="1"/>
          <p:nvPr/>
        </p:nvSpPr>
        <p:spPr>
          <a:xfrm>
            <a:off x="8382000" y="18923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GL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3354499-E4DF-E98F-1F24-B4223DC49347}"/>
              </a:ext>
            </a:extLst>
          </p:cNvPr>
          <p:cNvSpPr/>
          <p:nvPr/>
        </p:nvSpPr>
        <p:spPr>
          <a:xfrm>
            <a:off x="9398000" y="1828800"/>
            <a:ext cx="8890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74B6E2-359A-FD60-5FD9-CD16010CAE8A}"/>
              </a:ext>
            </a:extLst>
          </p:cNvPr>
          <p:cNvSpPr txBox="1"/>
          <p:nvPr/>
        </p:nvSpPr>
        <p:spPr>
          <a:xfrm>
            <a:off x="9398000" y="18923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Close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DC68640-7EF4-5E86-06B8-C14F111512AB}"/>
              </a:ext>
            </a:extLst>
          </p:cNvPr>
          <p:cNvSpPr/>
          <p:nvPr/>
        </p:nvSpPr>
        <p:spPr>
          <a:xfrm>
            <a:off x="10414000" y="1828800"/>
            <a:ext cx="8890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76F5FD-BFB8-BFD2-312C-E8C288EB0EDC}"/>
              </a:ext>
            </a:extLst>
          </p:cNvPr>
          <p:cNvSpPr txBox="1"/>
          <p:nvPr/>
        </p:nvSpPr>
        <p:spPr>
          <a:xfrm>
            <a:off x="10414000" y="18923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FP&amp;A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1F1C55E-95E7-9A83-923F-65452405ABC8}"/>
              </a:ext>
            </a:extLst>
          </p:cNvPr>
          <p:cNvSpPr/>
          <p:nvPr/>
        </p:nvSpPr>
        <p:spPr>
          <a:xfrm>
            <a:off x="6350000" y="2311400"/>
            <a:ext cx="8890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67F8E9-292B-63CB-5F13-FD23A27BDEF3}"/>
              </a:ext>
            </a:extLst>
          </p:cNvPr>
          <p:cNvSpPr txBox="1"/>
          <p:nvPr/>
        </p:nvSpPr>
        <p:spPr>
          <a:xfrm>
            <a:off x="6350000" y="23749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Payroll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9899624-C856-D21E-F855-A5FCAF6BB979}"/>
              </a:ext>
            </a:extLst>
          </p:cNvPr>
          <p:cNvSpPr/>
          <p:nvPr/>
        </p:nvSpPr>
        <p:spPr>
          <a:xfrm>
            <a:off x="7366000" y="2311400"/>
            <a:ext cx="8890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BD2D03-38BB-0C91-5578-39CCF4F584FA}"/>
              </a:ext>
            </a:extLst>
          </p:cNvPr>
          <p:cNvSpPr txBox="1"/>
          <p:nvPr/>
        </p:nvSpPr>
        <p:spPr>
          <a:xfrm>
            <a:off x="7366000" y="23749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Tax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8E60309-AE31-204D-CFE8-63AA609F65B9}"/>
              </a:ext>
            </a:extLst>
          </p:cNvPr>
          <p:cNvSpPr/>
          <p:nvPr/>
        </p:nvSpPr>
        <p:spPr>
          <a:xfrm>
            <a:off x="8382000" y="2311400"/>
            <a:ext cx="8890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6B37CB-693F-5F28-4E1C-C16568BCED1D}"/>
              </a:ext>
            </a:extLst>
          </p:cNvPr>
          <p:cNvSpPr txBox="1"/>
          <p:nvPr/>
        </p:nvSpPr>
        <p:spPr>
          <a:xfrm>
            <a:off x="8382000" y="23749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Treasury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39AED53-ECB0-3B55-0B63-71FBD0F3CC1A}"/>
              </a:ext>
            </a:extLst>
          </p:cNvPr>
          <p:cNvSpPr/>
          <p:nvPr/>
        </p:nvSpPr>
        <p:spPr>
          <a:xfrm>
            <a:off x="9398000" y="2311400"/>
            <a:ext cx="16256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2F527F-1E9A-AC0A-6B43-B1373704804C}"/>
              </a:ext>
            </a:extLst>
          </p:cNvPr>
          <p:cNvSpPr txBox="1"/>
          <p:nvPr/>
        </p:nvSpPr>
        <p:spPr>
          <a:xfrm>
            <a:off x="9398000" y="2374900"/>
            <a:ext cx="162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Fixed Assets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C6E40E2-E581-E670-DA0F-95E64C814A8F}"/>
              </a:ext>
            </a:extLst>
          </p:cNvPr>
          <p:cNvSpPr/>
          <p:nvPr/>
        </p:nvSpPr>
        <p:spPr>
          <a:xfrm>
            <a:off x="6350000" y="2794000"/>
            <a:ext cx="16256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6EDEF5-335C-C0B6-5338-7ED31B6B79AF}"/>
              </a:ext>
            </a:extLst>
          </p:cNvPr>
          <p:cNvSpPr txBox="1"/>
          <p:nvPr/>
        </p:nvSpPr>
        <p:spPr>
          <a:xfrm>
            <a:off x="6350000" y="2857500"/>
            <a:ext cx="162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Procurement Finance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80F5E21-F097-F992-4ED1-4AF0ACE7E178}"/>
              </a:ext>
            </a:extLst>
          </p:cNvPr>
          <p:cNvSpPr/>
          <p:nvPr/>
        </p:nvSpPr>
        <p:spPr>
          <a:xfrm>
            <a:off x="8102600" y="2794000"/>
            <a:ext cx="8890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FA9DB2-FB9F-ECDF-79F0-D37069108320}"/>
              </a:ext>
            </a:extLst>
          </p:cNvPr>
          <p:cNvSpPr txBox="1"/>
          <p:nvPr/>
        </p:nvSpPr>
        <p:spPr>
          <a:xfrm>
            <a:off x="8102600" y="28575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Revenue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8A04465-640F-4F55-D790-57C038CB027A}"/>
              </a:ext>
            </a:extLst>
          </p:cNvPr>
          <p:cNvSpPr/>
          <p:nvPr/>
        </p:nvSpPr>
        <p:spPr>
          <a:xfrm>
            <a:off x="9118600" y="2794000"/>
            <a:ext cx="1625600" cy="3048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B1A8C1-0042-F45B-6A7C-04FD7D21A4FB}"/>
              </a:ext>
            </a:extLst>
          </p:cNvPr>
          <p:cNvSpPr txBox="1"/>
          <p:nvPr/>
        </p:nvSpPr>
        <p:spPr>
          <a:xfrm>
            <a:off x="9118600" y="2857500"/>
            <a:ext cx="162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81F46"/>
                </a:solidFill>
                <a:latin typeface="Aptos" panose="020B0004020202020204" pitchFamily="34" charset="0"/>
              </a:rPr>
              <a:t>Audit Support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4A7A1EE-B081-ECA1-9EA8-4D601F15F061}"/>
              </a:ext>
            </a:extLst>
          </p:cNvPr>
          <p:cNvSpPr/>
          <p:nvPr/>
        </p:nvSpPr>
        <p:spPr>
          <a:xfrm>
            <a:off x="6350000" y="4572000"/>
            <a:ext cx="4572000" cy="1016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1BC3A7C-229B-35E8-0062-9BAFB450EB94}"/>
              </a:ext>
            </a:extLst>
          </p:cNvPr>
          <p:cNvSpPr/>
          <p:nvPr/>
        </p:nvSpPr>
        <p:spPr>
          <a:xfrm>
            <a:off x="6350000" y="4572000"/>
            <a:ext cx="63500" cy="1016000"/>
          </a:xfrm>
          <a:prstGeom prst="rect">
            <a:avLst/>
          </a:prstGeom>
          <a:solidFill>
            <a:srgbClr val="6549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BD8E7A-E2FF-B69D-DC94-6E280A5DB153}"/>
              </a:ext>
            </a:extLst>
          </p:cNvPr>
          <p:cNvSpPr txBox="1"/>
          <p:nvPr/>
        </p:nvSpPr>
        <p:spPr>
          <a:xfrm>
            <a:off x="6578600" y="47498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6549AF"/>
                </a:solidFill>
                <a:latin typeface="Aptos" panose="020B0004020202020204" pitchFamily="34" charset="0"/>
              </a:rPr>
              <a:t>Reuse principle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A0C1F4-CA8B-FD9D-0CAF-4B046D703840}"/>
              </a:ext>
            </a:extLst>
          </p:cNvPr>
          <p:cNvSpPr txBox="1"/>
          <p:nvPr/>
        </p:nvSpPr>
        <p:spPr>
          <a:xfrm>
            <a:off x="6578600" y="5130800"/>
            <a:ext cx="419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The artifacts change by domain. The sequence, shared controls, readiness logic, and AI inheritance principle remain stable.</a:t>
            </a:r>
          </a:p>
        </p:txBody>
      </p:sp>
    </p:spTree>
    <p:extLst>
      <p:ext uri="{BB962C8B-B14F-4D97-AF65-F5344CB8AC3E}">
        <p14:creationId xmlns:p14="http://schemas.microsoft.com/office/powerpoint/2010/main" val="325793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EF4A28-BA84-E156-A40C-D52FF39129F4}"/>
              </a:ext>
            </a:extLst>
          </p:cNvPr>
          <p:cNvSpPr txBox="1"/>
          <p:nvPr/>
        </p:nvSpPr>
        <p:spPr>
          <a:xfrm>
            <a:off x="660400" y="3302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1C5CB9"/>
                </a:solidFill>
                <a:latin typeface="Aptos" panose="020B0004020202020204" pitchFamily="34" charset="0"/>
              </a:rPr>
              <a:t>DECISION REQUEST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605DD9-ED62-A2DF-0238-9A644736D809}"/>
              </a:ext>
            </a:extLst>
          </p:cNvPr>
          <p:cNvSpPr txBox="1"/>
          <p:nvPr/>
        </p:nvSpPr>
        <p:spPr>
          <a:xfrm>
            <a:off x="660400" y="558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81F46"/>
                </a:solidFill>
                <a:latin typeface="Aptos" panose="020B0004020202020204" pitchFamily="34" charset="0"/>
              </a:rPr>
              <a:t>Adopt the Reference Architecture and Apply It First to AP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5BAEC5A-FC33-B822-F39A-4C59C69AEF9C}"/>
              </a:ext>
            </a:extLst>
          </p:cNvPr>
          <p:cNvCxnSpPr/>
          <p:nvPr/>
        </p:nvCxnSpPr>
        <p:spPr>
          <a:xfrm>
            <a:off x="660400" y="1244600"/>
            <a:ext cx="10871200" cy="0"/>
          </a:xfrm>
          <a:prstGeom prst="straightConnector1">
            <a:avLst/>
          </a:prstGeom>
          <a:ln w="12700">
            <a:solidFill>
              <a:srgbClr val="D2DB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578166D-2986-67F0-E85E-BCC73D53D253}"/>
              </a:ext>
            </a:extLst>
          </p:cNvPr>
          <p:cNvSpPr txBox="1"/>
          <p:nvPr/>
        </p:nvSpPr>
        <p:spPr>
          <a:xfrm>
            <a:off x="660400" y="6502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Finance &amp; Accounting 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F10FB-D7C5-49F9-B575-2D0E842E49B8}"/>
              </a:ext>
            </a:extLst>
          </p:cNvPr>
          <p:cNvSpPr txBox="1"/>
          <p:nvPr/>
        </p:nvSpPr>
        <p:spPr>
          <a:xfrm>
            <a:off x="10922000" y="6502400"/>
            <a:ext cx="60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9758C"/>
                </a:solidFill>
                <a:latin typeface="Aptos" panose="020B0004020202020204" pitchFamily="34" charset="0"/>
              </a:rPr>
              <a:t>V2 | 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03B159-6F8A-327B-C2BD-9D6107FE8D47}"/>
              </a:ext>
            </a:extLst>
          </p:cNvPr>
          <p:cNvSpPr/>
          <p:nvPr/>
        </p:nvSpPr>
        <p:spPr>
          <a:xfrm>
            <a:off x="838200" y="1651000"/>
            <a:ext cx="10515600" cy="88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E3C4B4-BB06-D589-4614-2D964FA60861}"/>
              </a:ext>
            </a:extLst>
          </p:cNvPr>
          <p:cNvSpPr/>
          <p:nvPr/>
        </p:nvSpPr>
        <p:spPr>
          <a:xfrm>
            <a:off x="838200" y="1651000"/>
            <a:ext cx="63500" cy="889000"/>
          </a:xfrm>
          <a:prstGeom prst="rect">
            <a:avLst/>
          </a:prstGeom>
          <a:solidFill>
            <a:srgbClr val="081F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032B8-24B1-6FCC-DFA4-2EC4BC1CE496}"/>
              </a:ext>
            </a:extLst>
          </p:cNvPr>
          <p:cNvSpPr txBox="1"/>
          <p:nvPr/>
        </p:nvSpPr>
        <p:spPr>
          <a:xfrm>
            <a:off x="1066800" y="1828800"/>
            <a:ext cx="10134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081F46"/>
                </a:solidFill>
                <a:latin typeface="Aptos" panose="020B0004020202020204" pitchFamily="34" charset="0"/>
              </a:rPr>
              <a:t>Decision requested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FDAAD-CAF3-10DB-9ADD-FE687691D34C}"/>
              </a:ext>
            </a:extLst>
          </p:cNvPr>
          <p:cNvSpPr txBox="1"/>
          <p:nvPr/>
        </p:nvSpPr>
        <p:spPr>
          <a:xfrm>
            <a:off x="1066800" y="2209800"/>
            <a:ext cx="10134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Adopt the Finance &amp; Accounting Domain Governance Architecture as the reference model for domain governance, analytics governance, AI augmentation, and bounded agents.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50D833-67E4-FF70-9573-6EFF516B07ED}"/>
              </a:ext>
            </a:extLst>
          </p:cNvPr>
          <p:cNvSpPr/>
          <p:nvPr/>
        </p:nvSpPr>
        <p:spPr>
          <a:xfrm>
            <a:off x="838200" y="2844800"/>
            <a:ext cx="10515600" cy="609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D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8E9328-DECB-BC3E-1601-DF5CA4B2A12C}"/>
              </a:ext>
            </a:extLst>
          </p:cNvPr>
          <p:cNvSpPr/>
          <p:nvPr/>
        </p:nvSpPr>
        <p:spPr>
          <a:xfrm>
            <a:off x="838200" y="2844800"/>
            <a:ext cx="63500" cy="609600"/>
          </a:xfrm>
          <a:prstGeom prst="rect">
            <a:avLst/>
          </a:prstGeom>
          <a:solidFill>
            <a:srgbClr val="2184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EC645F-8B9C-147F-44EB-739604A0C4AE}"/>
              </a:ext>
            </a:extLst>
          </p:cNvPr>
          <p:cNvSpPr txBox="1"/>
          <p:nvPr/>
        </p:nvSpPr>
        <p:spPr>
          <a:xfrm>
            <a:off x="1066800" y="3022600"/>
            <a:ext cx="10134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Proposed first application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29925D-CA8E-DE58-92EC-785AAC3334E5}"/>
              </a:ext>
            </a:extLst>
          </p:cNvPr>
          <p:cNvSpPr txBox="1"/>
          <p:nvPr/>
        </p:nvSpPr>
        <p:spPr>
          <a:xfrm>
            <a:off x="1066800" y="3403600"/>
            <a:ext cx="10134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65269"/>
                </a:solidFill>
                <a:latin typeface="Aptos" panose="020B0004020202020204" pitchFamily="34" charset="0"/>
              </a:rPr>
              <a:t>Use AP Invoice-to-Pay as the first worked example.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F10C50-6B1C-855D-9840-CB1222CAE038}"/>
              </a:ext>
            </a:extLst>
          </p:cNvPr>
          <p:cNvSpPr/>
          <p:nvPr/>
        </p:nvSpPr>
        <p:spPr>
          <a:xfrm>
            <a:off x="1041400" y="3987800"/>
            <a:ext cx="469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4B30A6-C7C3-B1D4-4C82-0F2A82634934}"/>
              </a:ext>
            </a:extLst>
          </p:cNvPr>
          <p:cNvSpPr txBox="1"/>
          <p:nvPr/>
        </p:nvSpPr>
        <p:spPr>
          <a:xfrm>
            <a:off x="1219200" y="4140200"/>
            <a:ext cx="434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C5CB9"/>
                </a:solidFill>
                <a:latin typeface="Aptos" panose="020B0004020202020204" pitchFamily="34" charset="0"/>
              </a:rPr>
              <a:t>Next 30 days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096E7B-A18C-C5BF-F977-EB7A7ED6EDC3}"/>
              </a:ext>
            </a:extLst>
          </p:cNvPr>
          <p:cNvSpPr txBox="1"/>
          <p:nvPr/>
        </p:nvSpPr>
        <p:spPr>
          <a:xfrm>
            <a:off x="1219200" y="4521200"/>
            <a:ext cx="43434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Finalize AP worked example</a:t>
            </a:r>
          </a:p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Confirm domain owner and control owners</a:t>
            </a:r>
          </a:p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Validate shared governance controls</a:t>
            </a:r>
          </a:p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Define AI intake and classification criteria</a:t>
            </a:r>
          </a:p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Identify controlled copy and evidence locations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FC2AB9-A9D0-DB6B-0390-7BFC28CF6641}"/>
              </a:ext>
            </a:extLst>
          </p:cNvPr>
          <p:cNvSpPr/>
          <p:nvPr/>
        </p:nvSpPr>
        <p:spPr>
          <a:xfrm>
            <a:off x="6451600" y="3987800"/>
            <a:ext cx="469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0C7C28-8F28-E9AB-4ED1-5F0842E20676}"/>
              </a:ext>
            </a:extLst>
          </p:cNvPr>
          <p:cNvSpPr txBox="1"/>
          <p:nvPr/>
        </p:nvSpPr>
        <p:spPr>
          <a:xfrm>
            <a:off x="6629400" y="4140200"/>
            <a:ext cx="4343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1848B"/>
                </a:solidFill>
                <a:latin typeface="Aptos" panose="020B0004020202020204" pitchFamily="34" charset="0"/>
              </a:rPr>
              <a:t>Next 60-90 days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A2A10A-C428-0C90-D001-74946B1CD124}"/>
              </a:ext>
            </a:extLst>
          </p:cNvPr>
          <p:cNvSpPr txBox="1"/>
          <p:nvPr/>
        </p:nvSpPr>
        <p:spPr>
          <a:xfrm>
            <a:off x="6629400" y="4521200"/>
            <a:ext cx="43434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Pilot the model</a:t>
            </a:r>
          </a:p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Collect feedback</a:t>
            </a:r>
          </a:p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Refine templates</a:t>
            </a:r>
          </a:p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Select next F&amp;A domain</a:t>
            </a:r>
          </a:p>
          <a:p>
            <a:r>
              <a:rPr lang="en-US" sz="1000">
                <a:solidFill>
                  <a:srgbClr val="465269"/>
                </a:solidFill>
                <a:latin typeface="Aptos" panose="020B0004020202020204" pitchFamily="34" charset="0"/>
              </a:rPr>
              <a:t>Prepare rollout guidance</a:t>
            </a:r>
          </a:p>
        </p:txBody>
      </p:sp>
    </p:spTree>
    <p:extLst>
      <p:ext uri="{BB962C8B-B14F-4D97-AF65-F5344CB8AC3E}">
        <p14:creationId xmlns:p14="http://schemas.microsoft.com/office/powerpoint/2010/main" val="3125999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1397</Words>
  <Application>Microsoft Office PowerPoint</Application>
  <PresentationFormat>Custom</PresentationFormat>
  <Paragraphs>237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John</dc:creator>
  <cp:lastModifiedBy>Brian John</cp:lastModifiedBy>
  <cp:revision>1</cp:revision>
  <dcterms:created xsi:type="dcterms:W3CDTF">2026-05-05T04:15:50Z</dcterms:created>
  <dcterms:modified xsi:type="dcterms:W3CDTF">2026-05-05T04:15:50Z</dcterms:modified>
</cp:coreProperties>
</file>