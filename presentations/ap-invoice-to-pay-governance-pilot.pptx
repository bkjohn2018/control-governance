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276" r:id="rId3"/>
    <p:sldId id="262" r:id="rId4"/>
    <p:sldId id="275" r:id="rId5"/>
    <p:sldId id="273" r:id="rId6"/>
    <p:sldId id="264" r:id="rId7"/>
    <p:sldId id="266" r:id="rId8"/>
    <p:sldId id="268" r:id="rId9"/>
    <p:sldId id="270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5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979FB-9768-4825-8E7C-E1B380DDC6E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FCCD2-C1A5-4503-82DE-64A3624F7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70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2FCCD2-C1A5-4503-82DE-64A3624F79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34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4551-3060-EEE1-9D68-3CABC8885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F8FC2-6C9B-F84D-6A88-9EBA33BAE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CEF71-7D78-1257-3D39-A2C5D7CE3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97BC2-4515-6E7D-D10A-2580DD3B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25F60-187A-1A94-F47A-621813E3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44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EB4A-F821-3481-0C7A-3E2FA9B1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5BE5-EFB7-53DD-3846-D5F0DFA99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A9ADB-F499-FE02-426D-5448FBCE6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467B-7EC2-22A5-0CC6-CED7A711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CDEBA-3CB4-A846-E655-F5E99495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1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02FC9-C56B-17DB-58DC-D5179E1F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7B2FB-1577-7CD3-7F27-0F60391B3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AB832-8B62-8B98-1208-C1883678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ACA01-6923-4A06-E71D-E2337F4B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DA783-5C38-B345-1785-D5F03BAB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07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66F61-A1A0-F67E-BBDF-423E1E2A3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A3602-4E68-D392-6848-EDB84E618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11B22-A9AD-5174-4104-10AB9BC6B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E6832-BB19-111F-7C0B-4A8FC795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BEC5F-CE66-1256-AA87-088B1DA5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B7536-817A-FDCA-F674-ED105086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6D44-FD03-3B4C-FD97-4CF05B876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72A5-37A2-6B43-9F2C-2B4DEC2F8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197B-72F2-A219-007B-2CBDD5EE6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3FF03A-80B2-69C3-A4B3-03B13F17F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3D7FB-67CA-6AD0-2574-3CE0DD5793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201260-8738-70A0-EB7C-24D0247E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6C74A-EC89-0D54-8295-C5FD0BCE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D8EC-AFD6-4893-2527-3C10D519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5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D098-70DE-70B9-B42F-14236D89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37EE7-92D7-6EE8-8160-58391315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11300-9C82-A830-838E-BCA0B139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6148D-FF97-0AE5-9035-009718406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8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784B1-12E0-6DBE-773A-7A498964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B12D0-E39C-0878-EC5A-38AB26AE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C49AC-631B-159E-7E87-E2829CB5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4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4B15-2EFB-46E5-3BF5-BCF75461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3E275-7E4B-E8C2-E4B7-F9BACDAEF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DA9C4-D26C-3C84-971C-F4383B70C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FCB98-23ED-DE4D-2E4A-7B8A2A2AE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AA408-618B-E763-A01A-A2FB08A1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00105-4242-94CC-5E7A-94C90444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83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F66D1-942C-7671-C881-FAE9FDE9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2B51B5-250C-EAE7-90C2-A76E0F9BC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182AB-8F5D-C1CC-A31F-B1EFDE1A6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A2928-AD54-D848-19B1-ED4E889F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50B77-4CE1-1845-F35F-00B05305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D2E9C-44D5-2EE6-8967-A97B8540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7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6B08-C595-80D7-FE89-2303219A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711A1-B9E1-B256-AB1C-48A4F6B99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FAD29-B144-D526-8FFF-E1167156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5CF59-442A-6598-0737-2E4DEB78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DB1C1-A5B0-F4D4-1A71-534CE673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7B5AC-1F18-D271-F8B9-865E041A82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1DB07-7A24-A9B2-AEE5-269CF7DD1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C41FD-264F-E20B-62E3-DF9A62FF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D2E13-58EB-2650-68D0-82BE0B7D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82B38-354A-CEC0-2440-66A79C9E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77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B514D6-6282-D8D9-EDDC-3DEBFDE2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112A0-67C7-FCA8-A82C-D8CC3FF3E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BAD17-EC63-1583-338C-DCAED5C38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3545A-BE14-4BF2-A2A3-A1B9BCB85C9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968FC-24CA-3F96-DD94-2135CC12A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7CB26-D774-AB9E-A8B7-7C8649090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DE903-1C97-48E4-9A74-612C6456A3A0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 Bar"/>
          <p:cNvSpPr/>
          <p:nvPr userDrawn="1"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5187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BFECA-D7AD-E46B-4BFD-6983FD0E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AP Invoice-to-Pay Governance Pilot</a:t>
            </a:r>
          </a:p>
          <a:p>
            <a:pPr algn="ctr">
              <a:buNone/>
            </a:pPr>
            <a:r>
              <a:rPr lang="en-US" sz="2000" dirty="0">
                <a:solidFill>
                  <a:schemeClr val="accent2"/>
                </a:solidFill>
              </a:rPr>
              <a:t>Finance &amp; Accounting Domain Governance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24371-F9F0-508A-47BE-B2DA899654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1800" i="1" dirty="0">
                <a:solidFill>
                  <a:schemeClr val="dk1"/>
                </a:solidFill>
              </a:rPr>
              <a:t>Decision Requested: Approve a 90-day pilot</a:t>
            </a:r>
          </a:p>
          <a:p>
            <a:pPr algn="ctr">
              <a:buNone/>
            </a:pPr>
            <a:endParaRPr lang="en-US" sz="1400"/>
          </a:p>
          <a:p>
            <a:pPr algn="ctr">
              <a:buNone/>
            </a:pPr>
            <a:r>
              <a:rPr lang="en-US" sz="1400" dirty="0">
                <a:solidFill>
                  <a:schemeClr val="accent2"/>
                </a:solidFill>
              </a:rPr>
              <a:t>Steering Committee Review</a:t>
            </a:r>
          </a:p>
        </p:txBody>
      </p:sp>
    </p:spTree>
    <p:extLst>
      <p:ext uri="{BB962C8B-B14F-4D97-AF65-F5344CB8AC3E}">
        <p14:creationId xmlns:p14="http://schemas.microsoft.com/office/powerpoint/2010/main" val="2384424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C8DA-0AED-AD4A-9D1F-E1A73A5D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accent1"/>
                </a:solidFill>
              </a:rPr>
              <a:t>Decision Requested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24F62-45C7-B9F1-5F73-F9FDFA7E3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dk1"/>
                </a:solidFill>
              </a:rPr>
              <a:t>Approve Accounts Payable Invoice-to-Pay as a 90-day pilot to validate a reusable governance model for finance operations, analytics, AI augmentation, and future bounded agents.</a:t>
            </a:r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Control baseline: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AP I2P Governance Package — operations control baseline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Analytics Intake and Extension Policy — Oracle-first reporting governance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AP Finance AI Governance Bundle — AI safe use and agent readiness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This pilot is not asking to automate AP with AI. It validates the governance architecture required before scaling analytics, AI, or agents into finance processes.</a:t>
            </a:r>
          </a:p>
        </p:txBody>
      </p:sp>
    </p:spTree>
    <p:extLst>
      <p:ext uri="{BB962C8B-B14F-4D97-AF65-F5344CB8AC3E}">
        <p14:creationId xmlns:p14="http://schemas.microsoft.com/office/powerpoint/2010/main" val="283839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45F8-0D10-FCFD-4DD1-438F0C08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accent1"/>
                </a:solidFill>
              </a:rPr>
              <a:t>Why AP First</a:t>
            </a:r>
          </a:p>
        </p:txBody>
      </p:sp>
      <p:graphicFrame>
        <p:nvGraphicFramePr>
          <p:cNvPr id="50" name="Why A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236552"/>
              </p:ext>
            </p:extLst>
          </p:nvPr>
        </p:nvGraphicFramePr>
        <p:xfrm>
          <a:off x="762000" y="1778000"/>
          <a:ext cx="10668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AP Characteristic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Governance Relevance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Control-heavy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Requires approval, payment, duplicate prevention, and exception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Evidence-rich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Produces audit logs, approval records, payment packets, KPI reports, and issue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Exception-prone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Invoice holds, validation failures, duplicate risks, and unresolved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Data-sensitive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Supplier, payment, bank, tax, and potentially PII-related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Oracle-dependent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Disciplined use of native reporting, workflow history, and system-of-record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705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89931-ED42-5628-4092-7B2F8B19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accent1"/>
                </a:solidFill>
              </a:rPr>
              <a:t>Expected Pilot Value</a:t>
            </a:r>
          </a:p>
        </p:txBody>
      </p:sp>
      <p:graphicFrame>
        <p:nvGraphicFramePr>
          <p:cNvPr id="50" name="Value Table"/>
          <p:cNvGraphicFramePr>
            <a:graphicFrameLocks noGrp="1"/>
          </p:cNvGraphicFramePr>
          <p:nvPr/>
        </p:nvGraphicFramePr>
        <p:xfrm>
          <a:off x="762000" y="1778000"/>
          <a:ext cx="10668000" cy="417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Value Area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Expected Improvement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Control consistency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Clear owners, gates, evidence, and escalation paths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Reporting 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Metrics tied to approved definitions, lineage, and Oracle-native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Reduced sprawl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Fewer unmanaged extracts, spreadsheets, and duplicate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Safer AI adoption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AI use cases routed through risk tiering, review, and evidence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Audit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Better traceability from process → report → evidence →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Reusable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</a:rPr>
                        <a:t>A tested model that can scale to another Finance &amp; Accounting 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75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04DCAB-4761-4472-A985-B15B396FC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889000"/>
            <a:ext cx="10147300" cy="571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5039A2-F850-46C1-9354-2B6EE42A5095}"/>
              </a:ext>
            </a:extLst>
          </p:cNvPr>
          <p:cNvSpPr txBox="1"/>
          <p:nvPr/>
        </p:nvSpPr>
        <p:spPr>
          <a:xfrm>
            <a:off x="381000" y="228600"/>
            <a:ext cx="11430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F4E79"/>
                </a:solidFill>
              </a:rPr>
              <a:t>Governance Architecture — AP as the First Worked Example</a:t>
            </a:r>
          </a:p>
        </p:txBody>
      </p:sp>
    </p:spTree>
    <p:extLst>
      <p:ext uri="{BB962C8B-B14F-4D97-AF65-F5344CB8AC3E}">
        <p14:creationId xmlns:p14="http://schemas.microsoft.com/office/powerpoint/2010/main" val="1167926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AC96C-602A-FE40-B158-C5B54243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accent1"/>
                </a:solidFill>
              </a:rPr>
              <a:t>Governance Model</a:t>
            </a:r>
          </a:p>
        </p:txBody>
      </p:sp>
      <p:sp>
        <p:nvSpPr>
          <p:cNvPr id="200" name="Subhdr"/>
          <p:cNvSpPr txBox="1"/>
          <p:nvPr/>
        </p:nvSpPr>
        <p:spPr>
          <a:xfrm>
            <a:off x="762000" y="1752600"/>
            <a:ext cx="10668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i="1" dirty="0">
                <a:solidFill>
                  <a:schemeClr val="accent2"/>
                </a:solidFill>
              </a:rPr>
              <a:t>Three connected governance layers — AI inherits constraints from governed operations and analytics.</a:t>
            </a:r>
          </a:p>
        </p:txBody>
      </p:sp>
      <p:sp>
        <p:nvSpPr>
          <p:cNvPr id="300" name="Card0BG"/>
          <p:cNvSpPr/>
          <p:nvPr/>
        </p:nvSpPr>
        <p:spPr>
          <a:xfrm>
            <a:off x="762000" y="2286000"/>
            <a:ext cx="3429000" cy="3683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1" name="Card0Badge"/>
          <p:cNvSpPr/>
          <p:nvPr/>
        </p:nvSpPr>
        <p:spPr>
          <a:xfrm>
            <a:off x="990600" y="2514600"/>
            <a:ext cx="558800" cy="55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02" name="Card0Title"/>
          <p:cNvSpPr txBox="1"/>
          <p:nvPr/>
        </p:nvSpPr>
        <p:spPr>
          <a:xfrm>
            <a:off x="990600" y="3276600"/>
            <a:ext cx="2971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b="1" dirty="0">
                <a:solidFill>
                  <a:schemeClr val="accent1"/>
                </a:solidFill>
              </a:rPr>
              <a:t>Operations Governance</a:t>
            </a:r>
          </a:p>
        </p:txBody>
      </p:sp>
      <p:sp>
        <p:nvSpPr>
          <p:cNvPr id="303" name="Card0Body"/>
          <p:cNvSpPr txBox="1"/>
          <p:nvPr/>
        </p:nvSpPr>
        <p:spPr>
          <a:xfrm>
            <a:off x="990600" y="4165600"/>
            <a:ext cx="29718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dirty="0">
                <a:solidFill>
                  <a:schemeClr val="dk1"/>
                </a:solidFill>
              </a:rPr>
              <a:t>Controlled AP process from invoice intake through payment posting. Control points, RACI ownership, SOP steps, escalation paths, evidence artifacts, and KPI thresholds.</a:t>
            </a:r>
          </a:p>
        </p:txBody>
      </p:sp>
      <p:sp>
        <p:nvSpPr>
          <p:cNvPr id="304" name="Card1BG"/>
          <p:cNvSpPr/>
          <p:nvPr/>
        </p:nvSpPr>
        <p:spPr>
          <a:xfrm>
            <a:off x="4381500" y="2286000"/>
            <a:ext cx="3429000" cy="3683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Card1Badge"/>
          <p:cNvSpPr/>
          <p:nvPr/>
        </p:nvSpPr>
        <p:spPr>
          <a:xfrm>
            <a:off x="4610100" y="2514600"/>
            <a:ext cx="558800" cy="55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06" name="Card1Title"/>
          <p:cNvSpPr txBox="1"/>
          <p:nvPr/>
        </p:nvSpPr>
        <p:spPr>
          <a:xfrm>
            <a:off x="4610100" y="3276600"/>
            <a:ext cx="2971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b="1" dirty="0">
                <a:solidFill>
                  <a:schemeClr val="accent1"/>
                </a:solidFill>
              </a:rPr>
              <a:t>Analytics Intake &amp; Extension</a:t>
            </a:r>
          </a:p>
        </p:txBody>
      </p:sp>
      <p:sp>
        <p:nvSpPr>
          <p:cNvPr id="307" name="Card1Body"/>
          <p:cNvSpPr txBox="1"/>
          <p:nvPr/>
        </p:nvSpPr>
        <p:spPr>
          <a:xfrm>
            <a:off x="4610100" y="4165600"/>
            <a:ext cx="29718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dirty="0">
                <a:solidFill>
                  <a:schemeClr val="dk1"/>
                </a:solidFill>
              </a:rPr>
              <a:t>Oracle-first assessment before custom reports, dashboards, extracts, or recurring spreadsheets. Approved extensions require owner, lineage, quality checks, access control, retention, and change control.</a:t>
            </a:r>
          </a:p>
        </p:txBody>
      </p:sp>
      <p:sp>
        <p:nvSpPr>
          <p:cNvPr id="308" name="Card2BG"/>
          <p:cNvSpPr/>
          <p:nvPr/>
        </p:nvSpPr>
        <p:spPr>
          <a:xfrm>
            <a:off x="8001000" y="2286000"/>
            <a:ext cx="3429000" cy="3683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9" name="Card2Badge"/>
          <p:cNvSpPr/>
          <p:nvPr/>
        </p:nvSpPr>
        <p:spPr>
          <a:xfrm>
            <a:off x="8229600" y="2514600"/>
            <a:ext cx="558800" cy="55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10" name="Card2Title"/>
          <p:cNvSpPr txBox="1"/>
          <p:nvPr/>
        </p:nvSpPr>
        <p:spPr>
          <a:xfrm>
            <a:off x="8229600" y="3276600"/>
            <a:ext cx="2971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b="1" dirty="0">
                <a:solidFill>
                  <a:schemeClr val="accent1"/>
                </a:solidFill>
              </a:rPr>
              <a:t>AI Governance &amp; Agent Readiness</a:t>
            </a:r>
          </a:p>
        </p:txBody>
      </p:sp>
      <p:sp>
        <p:nvSpPr>
          <p:cNvPr id="311" name="Card2Body"/>
          <p:cNvSpPr txBox="1"/>
          <p:nvPr/>
        </p:nvSpPr>
        <p:spPr>
          <a:xfrm>
            <a:off x="8229600" y="4165600"/>
            <a:ext cx="29718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dirty="0">
                <a:solidFill>
                  <a:schemeClr val="dk1"/>
                </a:solidFill>
              </a:rPr>
              <a:t>Safe-use categories, AI intake, risk tiers, data handling, human accountability, evidence retention, risk/control mapping, incident handling, and agent readiness gates.</a:t>
            </a:r>
          </a:p>
        </p:txBody>
      </p:sp>
    </p:spTree>
    <p:extLst>
      <p:ext uri="{BB962C8B-B14F-4D97-AF65-F5344CB8AC3E}">
        <p14:creationId xmlns:p14="http://schemas.microsoft.com/office/powerpoint/2010/main" val="2828965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59F8-0EE6-020A-C296-C589962CF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accent1"/>
                </a:solidFill>
              </a:rPr>
              <a:t>Pilot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95A71-2152-929E-0F64-FEA030BF94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 Scope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AP Invoice-to-Pay governance baseline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AP control gates and evidence requirements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AP KPI definitions and metric lineage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Oracle-first analytics intake and extension review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AP AI safe-use intake, risk tiering, and control mapping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Agent readiness assessment template — AP as first worked example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Monthly governance review and issue tracking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E0821-1F6C-DD18-5DE3-5BA7A6672E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B85450"/>
                </a:solidFill>
              </a:rPr>
              <a:t>Out of Scope (Unless Separately Approved)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Autonomous invoice approval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Payment release by AI or agent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Supplier master or supplier bank changes by AI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Control override or exception closure without human review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Unapproved public AI tools with supplier, bank, payment, tax, payroll, PII, audit, or confidential finance data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AI output as sole audit or control evidence</a:t>
            </a:r>
          </a:p>
        </p:txBody>
      </p:sp>
    </p:spTree>
    <p:extLst>
      <p:ext uri="{BB962C8B-B14F-4D97-AF65-F5344CB8AC3E}">
        <p14:creationId xmlns:p14="http://schemas.microsoft.com/office/powerpoint/2010/main" val="1700366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207A-AA21-A88D-D900-3B7ADE44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accent1"/>
                </a:solidFill>
              </a:rPr>
              <a:t>90-Day Pilot Timeline</a:t>
            </a:r>
          </a:p>
        </p:txBody>
      </p:sp>
      <p:cxnSp>
        <p:nvCxnSpPr>
          <p:cNvPr id="400" name="TimelineLine"/>
          <p:cNvCxnSpPr/>
          <p:nvPr/>
        </p:nvCxnSpPr>
        <p:spPr>
          <a:xfrm>
            <a:off x="381000" y="2311400"/>
            <a:ext cx="11430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</p:cxnSp>
      <p:sp>
        <p:nvSpPr>
          <p:cNvPr id="401" name="Marker0"/>
          <p:cNvSpPr/>
          <p:nvPr/>
        </p:nvSpPr>
        <p:spPr>
          <a:xfrm>
            <a:off x="1162050" y="2171700"/>
            <a:ext cx="279400" cy="2794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2" name="Card0"/>
          <p:cNvSpPr/>
          <p:nvPr/>
        </p:nvSpPr>
        <p:spPr>
          <a:xfrm>
            <a:off x="381000" y="2616200"/>
            <a:ext cx="1841500" cy="20955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3" name="CardTxt0"/>
          <p:cNvSpPr txBox="1"/>
          <p:nvPr/>
        </p:nvSpPr>
        <p:spPr>
          <a:xfrm>
            <a:off x="508000" y="2743200"/>
            <a:ext cx="1587500" cy="184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 0</a:t>
            </a:r>
          </a:p>
          <a:p>
            <a:pPr algn="ctr">
              <a:buNone/>
            </a:pPr>
            <a:r>
              <a:rPr lang="en-US" sz="1500" b="1" dirty="0">
                <a:solidFill>
                  <a:schemeClr val="dk1"/>
                </a:solidFill>
              </a:rPr>
              <a:t>Kickoff</a:t>
            </a:r>
          </a:p>
          <a:p>
            <a:pPr algn="l">
              <a:buNone/>
            </a:pPr>
            <a:r>
              <a:rPr lang="en-US" sz="1100" dirty="0">
                <a:solidFill>
                  <a:schemeClr val="dk1"/>
                </a:solidFill>
              </a:rPr>
              <a:t>Confirm sponsor, AP process owner, scope, and review cadence</a:t>
            </a:r>
          </a:p>
          <a:p>
            <a:pPr algn="l">
              <a:buNone/>
            </a:pPr>
            <a:r>
              <a:rPr lang="en-US" sz="1000" b="1" i="1" dirty="0">
                <a:solidFill>
                  <a:schemeClr val="accent2"/>
                </a:solidFill>
              </a:rPr>
              <a:t>Exit: </a:t>
            </a:r>
            <a:r>
              <a:rPr lang="en-US" sz="1000" i="1" dirty="0">
                <a:solidFill>
                  <a:schemeClr val="accent2"/>
                </a:solidFill>
              </a:rPr>
              <a:t>Pilot approved, owners named</a:t>
            </a:r>
          </a:p>
        </p:txBody>
      </p:sp>
      <p:sp>
        <p:nvSpPr>
          <p:cNvPr id="404" name="Marker1"/>
          <p:cNvSpPr/>
          <p:nvPr/>
        </p:nvSpPr>
        <p:spPr>
          <a:xfrm>
            <a:off x="3079750" y="2171700"/>
            <a:ext cx="279400" cy="2794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5" name="Card1"/>
          <p:cNvSpPr/>
          <p:nvPr/>
        </p:nvSpPr>
        <p:spPr>
          <a:xfrm>
            <a:off x="2298700" y="2616200"/>
            <a:ext cx="1841500" cy="20955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6" name="CardTxt1"/>
          <p:cNvSpPr txBox="1"/>
          <p:nvPr/>
        </p:nvSpPr>
        <p:spPr>
          <a:xfrm>
            <a:off x="2425700" y="2743200"/>
            <a:ext cx="1587500" cy="184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Weeks 1–2</a:t>
            </a:r>
          </a:p>
          <a:p>
            <a:pPr algn="ctr">
              <a:buNone/>
            </a:pPr>
            <a:r>
              <a:rPr lang="en-US" sz="1500" b="1" dirty="0">
                <a:solidFill>
                  <a:schemeClr val="dk1"/>
                </a:solidFill>
              </a:rPr>
              <a:t>Control Setup</a:t>
            </a:r>
          </a:p>
          <a:p>
            <a:pPr algn="l">
              <a:buNone/>
            </a:pPr>
            <a:r>
              <a:rPr lang="en-US" sz="1100" dirty="0">
                <a:solidFill>
                  <a:schemeClr val="dk1"/>
                </a:solidFill>
              </a:rPr>
              <a:t>Confirm roles, evidence locations, access expectations, KPI baseline</a:t>
            </a:r>
          </a:p>
          <a:p>
            <a:pPr algn="l">
              <a:buNone/>
            </a:pPr>
            <a:r>
              <a:rPr lang="en-US" sz="1000" b="1" i="1" dirty="0">
                <a:solidFill>
                  <a:schemeClr val="accent2"/>
                </a:solidFill>
              </a:rPr>
              <a:t>Exit: </a:t>
            </a:r>
            <a:r>
              <a:rPr lang="en-US" sz="1000" i="1" dirty="0">
                <a:solidFill>
                  <a:schemeClr val="accent2"/>
                </a:solidFill>
              </a:rPr>
              <a:t>Evidence &amp; access documented</a:t>
            </a:r>
          </a:p>
        </p:txBody>
      </p:sp>
      <p:sp>
        <p:nvSpPr>
          <p:cNvPr id="407" name="Marker2"/>
          <p:cNvSpPr/>
          <p:nvPr/>
        </p:nvSpPr>
        <p:spPr>
          <a:xfrm>
            <a:off x="4997450" y="2171700"/>
            <a:ext cx="279400" cy="2794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8" name="Card2"/>
          <p:cNvSpPr/>
          <p:nvPr/>
        </p:nvSpPr>
        <p:spPr>
          <a:xfrm>
            <a:off x="4216400" y="2616200"/>
            <a:ext cx="1841500" cy="20955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9" name="CardTxt2"/>
          <p:cNvSpPr txBox="1"/>
          <p:nvPr/>
        </p:nvSpPr>
        <p:spPr>
          <a:xfrm>
            <a:off x="4343400" y="2743200"/>
            <a:ext cx="1587500" cy="184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Month 1</a:t>
            </a:r>
          </a:p>
          <a:p>
            <a:pPr algn="ctr">
              <a:buNone/>
            </a:pPr>
            <a:r>
              <a:rPr lang="en-US" sz="1500" b="1" dirty="0">
                <a:solidFill>
                  <a:schemeClr val="dk1"/>
                </a:solidFill>
              </a:rPr>
              <a:t>Analytics Intake</a:t>
            </a:r>
          </a:p>
          <a:p>
            <a:pPr algn="l">
              <a:buNone/>
            </a:pPr>
            <a:r>
              <a:rPr lang="en-US" sz="1100" dirty="0">
                <a:solidFill>
                  <a:schemeClr val="dk1"/>
                </a:solidFill>
              </a:rPr>
              <a:t>Apply Oracle-first assessment to selected AP reporting/analytics requests</a:t>
            </a:r>
          </a:p>
          <a:p>
            <a:pPr algn="l">
              <a:buNone/>
            </a:pPr>
            <a:r>
              <a:rPr lang="en-US" sz="1000" b="1" i="1" dirty="0">
                <a:solidFill>
                  <a:schemeClr val="accent2"/>
                </a:solidFill>
              </a:rPr>
              <a:t>Exit: </a:t>
            </a:r>
            <a:r>
              <a:rPr lang="en-US" sz="1000" i="1" dirty="0">
                <a:solidFill>
                  <a:schemeClr val="accent2"/>
                </a:solidFill>
              </a:rPr>
              <a:t>Intake decisions documented</a:t>
            </a:r>
          </a:p>
        </p:txBody>
      </p:sp>
      <p:sp>
        <p:nvSpPr>
          <p:cNvPr id="410" name="Marker3"/>
          <p:cNvSpPr/>
          <p:nvPr/>
        </p:nvSpPr>
        <p:spPr>
          <a:xfrm>
            <a:off x="6915150" y="2171700"/>
            <a:ext cx="279400" cy="2794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1" name="Card3"/>
          <p:cNvSpPr/>
          <p:nvPr/>
        </p:nvSpPr>
        <p:spPr>
          <a:xfrm>
            <a:off x="6134100" y="2616200"/>
            <a:ext cx="1841500" cy="20955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2" name="CardTxt3"/>
          <p:cNvSpPr txBox="1"/>
          <p:nvPr/>
        </p:nvSpPr>
        <p:spPr>
          <a:xfrm>
            <a:off x="6261100" y="2743200"/>
            <a:ext cx="1587500" cy="184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Month 1–2</a:t>
            </a:r>
          </a:p>
          <a:p>
            <a:pPr algn="ctr">
              <a:buNone/>
            </a:pPr>
            <a:r>
              <a:rPr lang="en-US" sz="1500" b="1" dirty="0">
                <a:solidFill>
                  <a:schemeClr val="dk1"/>
                </a:solidFill>
              </a:rPr>
              <a:t>AI Use-Case Intake</a:t>
            </a:r>
          </a:p>
          <a:p>
            <a:pPr algn="l">
              <a:buNone/>
            </a:pPr>
            <a:r>
              <a:rPr lang="en-US" sz="1100" dirty="0">
                <a:solidFill>
                  <a:schemeClr val="dk1"/>
                </a:solidFill>
              </a:rPr>
              <a:t>Classify initial AP AI use cases, complete risk/control mapping</a:t>
            </a:r>
          </a:p>
          <a:p>
            <a:pPr algn="l">
              <a:buNone/>
            </a:pPr>
            <a:r>
              <a:rPr lang="en-US" sz="1000" b="1" i="1" dirty="0">
                <a:solidFill>
                  <a:schemeClr val="accent2"/>
                </a:solidFill>
              </a:rPr>
              <a:t>Exit: </a:t>
            </a:r>
            <a:r>
              <a:rPr lang="en-US" sz="1000" i="1" dirty="0">
                <a:solidFill>
                  <a:schemeClr val="accent2"/>
                </a:solidFill>
              </a:rPr>
              <a:t>Use cases routed &amp; approved/rejected</a:t>
            </a:r>
          </a:p>
        </p:txBody>
      </p:sp>
      <p:sp>
        <p:nvSpPr>
          <p:cNvPr id="413" name="Marker4"/>
          <p:cNvSpPr/>
          <p:nvPr/>
        </p:nvSpPr>
        <p:spPr>
          <a:xfrm>
            <a:off x="8832850" y="2171700"/>
            <a:ext cx="279400" cy="2794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4" name="Card4"/>
          <p:cNvSpPr/>
          <p:nvPr/>
        </p:nvSpPr>
        <p:spPr>
          <a:xfrm>
            <a:off x="8051800" y="2616200"/>
            <a:ext cx="1841500" cy="20955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5" name="CardTxt4"/>
          <p:cNvSpPr txBox="1"/>
          <p:nvPr/>
        </p:nvSpPr>
        <p:spPr>
          <a:xfrm>
            <a:off x="8178800" y="2743200"/>
            <a:ext cx="1587500" cy="184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Month 2</a:t>
            </a:r>
          </a:p>
          <a:p>
            <a:pPr algn="ctr">
              <a:buNone/>
            </a:pPr>
            <a:r>
              <a:rPr lang="en-US" sz="1500" b="1" dirty="0">
                <a:solidFill>
                  <a:schemeClr val="dk1"/>
                </a:solidFill>
              </a:rPr>
              <a:t>Agent Readiness</a:t>
            </a:r>
          </a:p>
          <a:p>
            <a:pPr algn="l">
              <a:buNone/>
            </a:pPr>
            <a:r>
              <a:rPr lang="en-US" sz="1100" dirty="0">
                <a:solidFill>
                  <a:schemeClr val="dk1"/>
                </a:solidFill>
              </a:rPr>
              <a:t>Test readiness template on a hypothetical AP exception or evidence-prep agent</a:t>
            </a:r>
          </a:p>
          <a:p>
            <a:pPr algn="l">
              <a:buNone/>
            </a:pPr>
            <a:r>
              <a:rPr lang="en-US" sz="1000" b="1" i="1" dirty="0">
                <a:solidFill>
                  <a:schemeClr val="accent2"/>
                </a:solidFill>
              </a:rPr>
              <a:t>Exit: </a:t>
            </a:r>
            <a:r>
              <a:rPr lang="en-US" sz="1000" i="1" dirty="0">
                <a:solidFill>
                  <a:schemeClr val="accent2"/>
                </a:solidFill>
              </a:rPr>
              <a:t>Readiness decision documented</a:t>
            </a:r>
          </a:p>
        </p:txBody>
      </p:sp>
      <p:sp>
        <p:nvSpPr>
          <p:cNvPr id="416" name="Marker5"/>
          <p:cNvSpPr/>
          <p:nvPr/>
        </p:nvSpPr>
        <p:spPr>
          <a:xfrm>
            <a:off x="10750550" y="2171700"/>
            <a:ext cx="279400" cy="2794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7" name="Card5"/>
          <p:cNvSpPr/>
          <p:nvPr/>
        </p:nvSpPr>
        <p:spPr>
          <a:xfrm>
            <a:off x="9969500" y="2616200"/>
            <a:ext cx="1841500" cy="20955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8" name="CardTxt5"/>
          <p:cNvSpPr txBox="1"/>
          <p:nvPr/>
        </p:nvSpPr>
        <p:spPr>
          <a:xfrm>
            <a:off x="10096500" y="2743200"/>
            <a:ext cx="1587500" cy="184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Month 3</a:t>
            </a:r>
          </a:p>
          <a:p>
            <a:pPr algn="ctr">
              <a:buNone/>
            </a:pPr>
            <a:r>
              <a:rPr lang="en-US" sz="1500" b="1" dirty="0">
                <a:solidFill>
                  <a:schemeClr val="dk1"/>
                </a:solidFill>
              </a:rPr>
              <a:t>Review &amp; Scale Decision</a:t>
            </a:r>
          </a:p>
          <a:p>
            <a:pPr algn="l">
              <a:buNone/>
            </a:pPr>
            <a:r>
              <a:rPr lang="en-US" sz="1100" dirty="0">
                <a:solidFill>
                  <a:schemeClr val="dk1"/>
                </a:solidFill>
              </a:rPr>
              <a:t>Review KPIs, evidence, issues, adoption, readiness</a:t>
            </a:r>
          </a:p>
          <a:p>
            <a:pPr algn="l">
              <a:buNone/>
            </a:pPr>
            <a:r>
              <a:rPr lang="en-US" sz="1000" b="1" i="1" dirty="0">
                <a:solidFill>
                  <a:schemeClr val="accent2"/>
                </a:solidFill>
              </a:rPr>
              <a:t>Exit: </a:t>
            </a:r>
            <a:r>
              <a:rPr lang="en-US" sz="1000" i="1" dirty="0">
                <a:solidFill>
                  <a:schemeClr val="accent2"/>
                </a:solidFill>
              </a:rPr>
              <a:t>Go / Conditional Go / No-Go</a:t>
            </a:r>
          </a:p>
        </p:txBody>
      </p:sp>
    </p:spTree>
    <p:extLst>
      <p:ext uri="{BB962C8B-B14F-4D97-AF65-F5344CB8AC3E}">
        <p14:creationId xmlns:p14="http://schemas.microsoft.com/office/powerpoint/2010/main" val="1257418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411F-4D93-63E3-7F8B-39AA51869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accent1"/>
                </a:solidFill>
              </a:rPr>
              <a:t>Success Measures &amp; Key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E092D-0357-6F01-6DF5-6B722A94E8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Success Measures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Control clarity — </a:t>
            </a:r>
            <a:r>
              <a:rPr lang="en-US" sz="1400" dirty="0">
                <a:solidFill>
                  <a:schemeClr val="dk1"/>
                </a:solidFill>
              </a:rPr>
              <a:t>Named owners, performers, reviewers, escalation paths for each AP control gate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Evidence completeness — </a:t>
            </a:r>
            <a:r>
              <a:rPr lang="en-US" sz="1400" dirty="0">
                <a:solidFill>
                  <a:schemeClr val="dk1"/>
                </a:solidFill>
              </a:rPr>
              <a:t>Required evidence retained for sampled control activities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KPI trust — </a:t>
            </a:r>
            <a:r>
              <a:rPr lang="en-US" sz="1400" dirty="0">
                <a:solidFill>
                  <a:schemeClr val="dk1"/>
                </a:solidFill>
              </a:rPr>
              <a:t>Metrics have documented definitions, source logic, thresholds, lineage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Analytics discipline — </a:t>
            </a:r>
            <a:r>
              <a:rPr lang="en-US" sz="1400" dirty="0">
                <a:solidFill>
                  <a:schemeClr val="dk1"/>
                </a:solidFill>
              </a:rPr>
              <a:t>Native Oracle assessment completed before custom extensions approved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AI safety — </a:t>
            </a:r>
            <a:r>
              <a:rPr lang="en-US" sz="1400" dirty="0">
                <a:solidFill>
                  <a:schemeClr val="dk1"/>
                </a:solidFill>
              </a:rPr>
              <a:t>Use cases classified, reviewed, routed through safe-use requirements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Scalability — </a:t>
            </a:r>
            <a:r>
              <a:rPr lang="en-US" sz="1400" dirty="0">
                <a:solidFill>
                  <a:schemeClr val="dk1"/>
                </a:solidFill>
              </a:rPr>
              <a:t>Lessons learned reusable for the next Finance &amp; Accounting domain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2A61A-0419-83F7-44F5-7B5E5DC79C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B85450"/>
                </a:solidFill>
              </a:rPr>
              <a:t>Key Risks &amp; Mitigations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Governance slows throughput — </a:t>
            </a:r>
            <a:r>
              <a:rPr lang="en-US" sz="1400" dirty="0">
                <a:solidFill>
                  <a:schemeClr val="dk1"/>
                </a:solidFill>
              </a:rPr>
              <a:t>Monitor on-time payment and exception aging; tune procedure without weakening controls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KPI logic not trusted — </a:t>
            </a:r>
            <a:r>
              <a:rPr lang="en-US" sz="1400" dirty="0">
                <a:solidFill>
                  <a:schemeClr val="dk1"/>
                </a:solidFill>
              </a:rPr>
              <a:t>Document definitions, grain, source fields, lineage, quality checks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Users bypass intake — </a:t>
            </a:r>
            <a:r>
              <a:rPr lang="en-US" sz="1400" dirty="0">
                <a:solidFill>
                  <a:schemeClr val="dk1"/>
                </a:solidFill>
              </a:rPr>
              <a:t>Communicate Oracle-first policy; require review for recurring or control-relevant outputs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Sensitive data in unsafe AI tools — </a:t>
            </a:r>
            <a:r>
              <a:rPr lang="en-US" sz="1400" dirty="0">
                <a:solidFill>
                  <a:schemeClr val="dk1"/>
                </a:solidFill>
              </a:rPr>
              <a:t>Restrict to approved tools; require security/privacy review for sensitive data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AI output treated as authoritative — </a:t>
            </a:r>
            <a:r>
              <a:rPr lang="en-US" sz="1400" dirty="0">
                <a:solidFill>
                  <a:schemeClr val="dk1"/>
                </a:solidFill>
              </a:rPr>
              <a:t>Require human review and source evidence before reliance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dk1"/>
                </a:solidFill>
              </a:rPr>
              <a:t>Agentic workflows exceed scope — </a:t>
            </a:r>
            <a:r>
              <a:rPr lang="en-US" sz="1400" dirty="0">
                <a:solidFill>
                  <a:schemeClr val="dk1"/>
                </a:solidFill>
              </a:rPr>
              <a:t>Readiness assessment, blocked actions, logging, approval gates, recertification</a:t>
            </a:r>
          </a:p>
        </p:txBody>
      </p:sp>
    </p:spTree>
    <p:extLst>
      <p:ext uri="{BB962C8B-B14F-4D97-AF65-F5344CB8AC3E}">
        <p14:creationId xmlns:p14="http://schemas.microsoft.com/office/powerpoint/2010/main" val="3125014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025CA-69CC-3F3D-E65B-0839D12D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accent1"/>
                </a:solidFill>
              </a:rPr>
              <a:t>Decision 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5DBBF-E182-6C75-7F23-5041CA36B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dk1"/>
                </a:solidFill>
              </a:rPr>
              <a:t>Approve a 90-day AP Invoice-to-Pay governance pilot, with:</a:t>
            </a:r>
          </a:p>
          <a:p>
            <a:pPr marL="0" indent="0">
              <a:buNone/>
            </a:pPr>
            <a:endParaRPr lang="en-US" sz="600"/>
          </a:p>
          <a:p>
            <a:pPr marL="285750" indent="-285750">
              <a:buFont typeface="Arial"/>
              <a:buChar char="•"/>
            </a:pPr>
            <a:r>
              <a:rPr lang="en-US" sz="1500" dirty="0"/>
              <a:t>AP I2P as the first worked example for the Finance &amp; Accounting Domain Governance Architecture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/>
              <a:t>AP I2P Governance Package as the operations control baseline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/>
              <a:t>Analytics Intake &amp; Extension Policy governing Oracle-first reporting and extension decisions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/>
              <a:t>AP Finance AI Governance Bundle governing AI safe use, intake, risk/control mapping, agent readiness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/>
              <a:t>Monthly governance reviews assessing evidence, KPI trust, intake discipline, AI routing, and risks</a:t>
            </a:r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At day 90: Go / Conditional Go / No-Go recommendation, with scaling path to the next Finance &amp; Accounting domain.</a:t>
            </a:r>
          </a:p>
        </p:txBody>
      </p:sp>
    </p:spTree>
    <p:extLst>
      <p:ext uri="{BB962C8B-B14F-4D97-AF65-F5344CB8AC3E}">
        <p14:creationId xmlns:p14="http://schemas.microsoft.com/office/powerpoint/2010/main" val="2594287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440519559]">
  <a:themeElements>
    <a:clrScheme name="Office">
      <a:dk1>
        <a:srgbClr val="1A2332"/>
      </a:dk1>
      <a:lt1>
        <a:srgbClr val="FFFFFF"/>
      </a:lt1>
      <a:dk2>
        <a:srgbClr val="2C3E50"/>
      </a:dk2>
      <a:lt2>
        <a:srgbClr val="F4F6F8"/>
      </a:lt2>
      <a:accent1>
        <a:srgbClr val="1F4E79"/>
      </a:accent1>
      <a:accent2>
        <a:srgbClr val="5B7A99"/>
      </a:accent2>
      <a:accent3>
        <a:srgbClr val="8B9DAE"/>
      </a:accent3>
      <a:accent4>
        <a:srgbClr val="C9A961"/>
      </a:accent4>
      <a:accent5>
        <a:srgbClr val="6B8E7F"/>
      </a:accent5>
      <a:accent6>
        <a:srgbClr val="B85450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57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60CAEB7-2D8F-43CB-A464-E733E11A416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3d85ac4-be8c-4875-a4df-09f7968a0cc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955</Words>
  <Application>Microsoft Office PowerPoint</Application>
  <PresentationFormat>Widescreen</PresentationFormat>
  <Paragraphs>127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 [1778440519559]</vt:lpstr>
      <vt:lpstr>AP Invoice-to-Pay Governance Pilot Finance &amp; Accounting Domain Governance Architecture</vt:lpstr>
      <vt:lpstr>Decision Requested</vt:lpstr>
      <vt:lpstr>Why AP First</vt:lpstr>
      <vt:lpstr>Expected Pilot Value</vt:lpstr>
      <vt:lpstr>PowerPoint Presentation</vt:lpstr>
      <vt:lpstr>Governance Model</vt:lpstr>
      <vt:lpstr>Pilot Scope</vt:lpstr>
      <vt:lpstr>90-Day Pilot Timeline</vt:lpstr>
      <vt:lpstr>Success Measures &amp; Key Risks</vt:lpstr>
      <vt:lpstr>Decision 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John</dc:creator>
  <cp:lastModifiedBy>Brian John</cp:lastModifiedBy>
  <cp:revision>4</cp:revision>
  <dcterms:created xsi:type="dcterms:W3CDTF">2026-05-10T19:15:19Z</dcterms:created>
  <dcterms:modified xsi:type="dcterms:W3CDTF">2026-05-10T20:02:41Z</dcterms:modified>
</cp:coreProperties>
</file>